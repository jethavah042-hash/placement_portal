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80"/>
  </p:notesMasterIdLst>
  <p:handoutMasterIdLst>
    <p:handoutMasterId r:id="rId81"/>
  </p:handoutMasterIdLst>
  <p:sldIdLst>
    <p:sldId id="257" r:id="rId5"/>
    <p:sldId id="268" r:id="rId6"/>
    <p:sldId id="272" r:id="rId7"/>
    <p:sldId id="274" r:id="rId8"/>
    <p:sldId id="275" r:id="rId9"/>
    <p:sldId id="276" r:id="rId10"/>
    <p:sldId id="338" r:id="rId11"/>
    <p:sldId id="278" r:id="rId12"/>
    <p:sldId id="279" r:id="rId13"/>
    <p:sldId id="339" r:id="rId14"/>
    <p:sldId id="280" r:id="rId15"/>
    <p:sldId id="281" r:id="rId16"/>
    <p:sldId id="282" r:id="rId17"/>
    <p:sldId id="283" r:id="rId18"/>
    <p:sldId id="284" r:id="rId19"/>
    <p:sldId id="285" r:id="rId20"/>
    <p:sldId id="286" r:id="rId21"/>
    <p:sldId id="340" r:id="rId22"/>
    <p:sldId id="341" r:id="rId23"/>
    <p:sldId id="288" r:id="rId24"/>
    <p:sldId id="289" r:id="rId25"/>
    <p:sldId id="291"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42" r:id="rId43"/>
    <p:sldId id="343" r:id="rId44"/>
    <p:sldId id="344" r:id="rId45"/>
    <p:sldId id="345" r:id="rId46"/>
    <p:sldId id="346" r:id="rId47"/>
    <p:sldId id="347" r:id="rId48"/>
    <p:sldId id="348" r:id="rId49"/>
    <p:sldId id="310" r:id="rId50"/>
    <p:sldId id="311" r:id="rId51"/>
    <p:sldId id="312" r:id="rId52"/>
    <p:sldId id="313" r:id="rId53"/>
    <p:sldId id="314" r:id="rId54"/>
    <p:sldId id="315" r:id="rId55"/>
    <p:sldId id="316" r:id="rId56"/>
    <p:sldId id="327" r:id="rId57"/>
    <p:sldId id="317" r:id="rId58"/>
    <p:sldId id="318" r:id="rId59"/>
    <p:sldId id="319" r:id="rId60"/>
    <p:sldId id="320" r:id="rId61"/>
    <p:sldId id="321" r:id="rId62"/>
    <p:sldId id="322" r:id="rId63"/>
    <p:sldId id="323" r:id="rId64"/>
    <p:sldId id="324" r:id="rId65"/>
    <p:sldId id="325" r:id="rId66"/>
    <p:sldId id="326" r:id="rId67"/>
    <p:sldId id="349" r:id="rId68"/>
    <p:sldId id="350" r:id="rId69"/>
    <p:sldId id="328" r:id="rId70"/>
    <p:sldId id="329" r:id="rId71"/>
    <p:sldId id="332" r:id="rId72"/>
    <p:sldId id="331" r:id="rId73"/>
    <p:sldId id="333" r:id="rId74"/>
    <p:sldId id="334" r:id="rId75"/>
    <p:sldId id="335" r:id="rId76"/>
    <p:sldId id="336" r:id="rId77"/>
    <p:sldId id="337" r:id="rId78"/>
    <p:sldId id="273" r:id="rId7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p:cViewPr varScale="1">
        <p:scale>
          <a:sx n="115" d="100"/>
          <a:sy n="115" d="100"/>
        </p:scale>
        <p:origin x="120" y="52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9/8/2026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9/8/2026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0556" y="609601"/>
            <a:ext cx="8673963" cy="3200400"/>
          </a:xfrm>
        </p:spPr>
        <p:txBody>
          <a:bodyPr anchor="b">
            <a:normAutofit/>
          </a:bodyPr>
          <a:lstStyle>
            <a:lvl1pPr algn="ctr">
              <a:defRPr sz="4799">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0556" y="3886200"/>
            <a:ext cx="8673963" cy="1905000"/>
          </a:xfrm>
        </p:spPr>
        <p:txBody>
          <a:bodyPr anchor="t">
            <a:normAutofit/>
          </a:bodyPr>
          <a:lstStyle>
            <a:lvl1pPr marL="0" indent="0" algn="ctr">
              <a:buNone/>
              <a:defRPr sz="2099">
                <a:gradFill flip="none" rotWithShape="1">
                  <a:gsLst>
                    <a:gs pos="0">
                      <a:schemeClr val="tx1"/>
                    </a:gs>
                    <a:gs pos="100000">
                      <a:schemeClr val="tx1">
                        <a:lumMod val="75000"/>
                      </a:schemeClr>
                    </a:gs>
                  </a:gsLst>
                  <a:lin ang="5400000" scaled="0"/>
                  <a:tileRect/>
                </a:gra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124892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169569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0557" y="3308581"/>
            <a:ext cx="8684538" cy="1468800"/>
          </a:xfrm>
        </p:spPr>
        <p:txBody>
          <a:bodyPr anchor="b"/>
          <a:lstStyle>
            <a:lvl1pPr algn="r">
              <a:defRPr sz="3999" b="0" cap="all"/>
            </a:lvl1pPr>
          </a:lstStyle>
          <a:p>
            <a:r>
              <a:rPr lang="en-US"/>
              <a:t>Click to edit Master title style</a:t>
            </a:r>
            <a:endParaRPr lang="en-US" dirty="0"/>
          </a:p>
        </p:txBody>
      </p:sp>
      <p:sp>
        <p:nvSpPr>
          <p:cNvPr id="3" name="Text Placeholder 2"/>
          <p:cNvSpPr>
            <a:spLocks noGrp="1"/>
          </p:cNvSpPr>
          <p:nvPr>
            <p:ph type="body" idx="1"/>
          </p:nvPr>
        </p:nvSpPr>
        <p:spPr>
          <a:xfrm>
            <a:off x="1750555" y="4777381"/>
            <a:ext cx="8684539" cy="860400"/>
          </a:xfrm>
        </p:spPr>
        <p:txBody>
          <a:bodyPr anchor="t">
            <a:normAutofit/>
          </a:bodyPr>
          <a:lstStyle>
            <a:lvl1pPr marL="0" indent="0" algn="r">
              <a:buNone/>
              <a:defRPr sz="1999">
                <a:gradFill flip="none" rotWithShape="1">
                  <a:gsLst>
                    <a:gs pos="0">
                      <a:schemeClr val="tx1"/>
                    </a:gs>
                    <a:gs pos="100000">
                      <a:schemeClr val="tx1">
                        <a:lumMod val="75000"/>
                      </a:schemeClr>
                    </a:gs>
                  </a:gsLst>
                  <a:lin ang="5400000" scaled="0"/>
                  <a:tileRect/>
                </a:gra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546477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115" y="2667000"/>
            <a:ext cx="4875530" cy="3124201"/>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69005" y="2667000"/>
            <a:ext cx="4875530" cy="3124200"/>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DFD029-FB74-4578-B929-F66AA97659CA}"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4226444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8908" y="2658533"/>
            <a:ext cx="4587736"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115" y="3243263"/>
            <a:ext cx="4875530" cy="2547937"/>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1455" y="2667000"/>
            <a:ext cx="4603081"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9006" y="3243263"/>
            <a:ext cx="4875531" cy="2547937"/>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DFD029-FB74-4578-B929-F66AA97659CA}"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189249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DFD029-FB74-4578-B929-F66AA97659CA}"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1705955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2643540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114" y="1600200"/>
            <a:ext cx="3548197" cy="1371600"/>
          </a:xfrm>
        </p:spPr>
        <p:txBody>
          <a:bodyPr anchor="b">
            <a:normAutofit/>
          </a:bodyPr>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5102483" y="609601"/>
            <a:ext cx="5942053" cy="5181600"/>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114" y="2971800"/>
            <a:ext cx="3548197" cy="1828800"/>
          </a:xfrm>
        </p:spPr>
        <p:txBody>
          <a:bodyPr>
            <a:normAutofit/>
          </a:bodyPr>
          <a:lstStyle>
            <a:lvl1pPr marL="0" indent="0">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49291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114" y="1600200"/>
            <a:ext cx="5332612" cy="1371600"/>
          </a:xfrm>
        </p:spPr>
        <p:txBody>
          <a:bodyPr anchor="b">
            <a:normAutofit/>
          </a:bodyPr>
          <a:lstStyle>
            <a:lvl1pPr algn="l">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1797" y="-18288"/>
            <a:ext cx="3275746"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114" y="2971800"/>
            <a:ext cx="5332612" cy="1828800"/>
          </a:xfrm>
        </p:spPr>
        <p:txBody>
          <a:bodyP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7545" y="5883276"/>
            <a:ext cx="914162" cy="365125"/>
          </a:xfrm>
        </p:spPr>
        <p:txBody>
          <a:bodyPr/>
          <a:lstStyle/>
          <a:p>
            <a:fld id="{F0DFD029-FB74-4578-B929-F66AA97659CA}" type="datetimeFigureOut">
              <a:rPr lang="en-US" smtClean="0"/>
              <a:t>9/8/2026</a:t>
            </a:fld>
            <a:endParaRPr lang="en-US"/>
          </a:p>
        </p:txBody>
      </p:sp>
      <p:sp>
        <p:nvSpPr>
          <p:cNvPr id="6" name="Footer Placeholder 5"/>
          <p:cNvSpPr>
            <a:spLocks noGrp="1"/>
          </p:cNvSpPr>
          <p:nvPr>
            <p:ph type="ftr" sz="quarter" idx="11"/>
          </p:nvPr>
        </p:nvSpPr>
        <p:spPr>
          <a:xfrm>
            <a:off x="1141115" y="5883276"/>
            <a:ext cx="5104070" cy="365125"/>
          </a:xfrm>
        </p:spPr>
        <p:txBody>
          <a:bodyPr/>
          <a:lstStyle/>
          <a:p>
            <a:endParaRPr lang="en-IN"/>
          </a:p>
        </p:txBody>
      </p:sp>
      <p:sp>
        <p:nvSpPr>
          <p:cNvPr id="7" name="Slide Number Placeholder 6"/>
          <p:cNvSpPr>
            <a:spLocks noGrp="1"/>
          </p:cNvSpPr>
          <p:nvPr>
            <p:ph type="sldNum" sz="quarter" idx="12"/>
          </p:nvPr>
        </p:nvSpPr>
        <p:spPr>
          <a:xfrm>
            <a:off x="10739815" y="5883276"/>
            <a:ext cx="322483" cy="365125"/>
          </a:xfrm>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410654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116" y="4732865"/>
            <a:ext cx="9903420"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096" y="932112"/>
            <a:ext cx="8223802"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116" y="5299603"/>
            <a:ext cx="9903420" cy="493712"/>
          </a:xfrm>
        </p:spPr>
        <p:txBody>
          <a:bodyPr>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14DD1E-5D91-48A3-AD6D-45FBA980D106}" type="slidenum">
              <a:rPr lang="en-IN" smtClean="0"/>
              <a:pPr/>
              <a:t>‹#›</a:t>
            </a:fld>
            <a:endParaRPr lang="en-IN"/>
          </a:p>
        </p:txBody>
      </p:sp>
    </p:spTree>
    <p:extLst>
      <p:ext uri="{BB962C8B-B14F-4D97-AF65-F5344CB8AC3E}">
        <p14:creationId xmlns:p14="http://schemas.microsoft.com/office/powerpoint/2010/main" val="1647311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115" y="609602"/>
            <a:ext cx="9903419" cy="3124199"/>
          </a:xfrm>
        </p:spPr>
        <p:txBody>
          <a:bodyPr anchor="ctr">
            <a:normAutofit/>
          </a:bodyPr>
          <a:lstStyle>
            <a:lvl1pPr algn="l">
              <a:defRPr sz="3199" b="0" cap="all"/>
            </a:lvl1pPr>
          </a:lstStyle>
          <a:p>
            <a:r>
              <a:rPr lang="en-US"/>
              <a:t>Click to edit Master title style</a:t>
            </a:r>
            <a:endParaRPr lang="en-US" dirty="0"/>
          </a:p>
        </p:txBody>
      </p:sp>
      <p:sp>
        <p:nvSpPr>
          <p:cNvPr id="3" name="Text Placeholder 2"/>
          <p:cNvSpPr>
            <a:spLocks noGrp="1"/>
          </p:cNvSpPr>
          <p:nvPr>
            <p:ph type="body" idx="1"/>
          </p:nvPr>
        </p:nvSpPr>
        <p:spPr>
          <a:xfrm>
            <a:off x="1141114" y="4343400"/>
            <a:ext cx="9903420" cy="1447800"/>
          </a:xfrm>
        </p:spPr>
        <p:txBody>
          <a:bodyPr anchor="ctr">
            <a:normAutofit/>
          </a:bodyPr>
          <a:lstStyle>
            <a:lvl1pPr marL="0" indent="0" algn="l">
              <a:buNone/>
              <a:defRPr sz="1999">
                <a:gradFill flip="none" rotWithShape="1">
                  <a:gsLst>
                    <a:gs pos="0">
                      <a:schemeClr val="tx1"/>
                    </a:gs>
                    <a:gs pos="100000">
                      <a:schemeClr val="tx1">
                        <a:lumMod val="75000"/>
                      </a:schemeClr>
                    </a:gs>
                  </a:gsLst>
                  <a:lin ang="5400000" scaled="0"/>
                  <a:tileRect/>
                </a:gra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pPr/>
              <a:t>‹#›</a:t>
            </a:fld>
            <a:endParaRPr lang="en-IN"/>
          </a:p>
        </p:txBody>
      </p:sp>
    </p:spTree>
    <p:extLst>
      <p:ext uri="{BB962C8B-B14F-4D97-AF65-F5344CB8AC3E}">
        <p14:creationId xmlns:p14="http://schemas.microsoft.com/office/powerpoint/2010/main" val="1918227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394" y="786824"/>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accent1"/>
                </a:solidFill>
              </a:rPr>
              <a:t>“</a:t>
            </a:r>
          </a:p>
        </p:txBody>
      </p:sp>
      <p:sp>
        <p:nvSpPr>
          <p:cNvPr id="15" name="TextBox 14"/>
          <p:cNvSpPr txBox="1"/>
          <p:nvPr/>
        </p:nvSpPr>
        <p:spPr>
          <a:xfrm>
            <a:off x="10435094" y="2743200"/>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accent1"/>
                </a:solidFill>
              </a:rPr>
              <a:t>”</a:t>
            </a:r>
          </a:p>
        </p:txBody>
      </p:sp>
      <p:sp>
        <p:nvSpPr>
          <p:cNvPr id="2" name="Title 1"/>
          <p:cNvSpPr>
            <a:spLocks noGrp="1"/>
          </p:cNvSpPr>
          <p:nvPr>
            <p:ph type="title"/>
          </p:nvPr>
        </p:nvSpPr>
        <p:spPr>
          <a:xfrm>
            <a:off x="1445836" y="609602"/>
            <a:ext cx="9293977" cy="2743199"/>
          </a:xfrm>
        </p:spPr>
        <p:txBody>
          <a:bodyPr anchor="ctr">
            <a:normAutofit/>
          </a:bodyPr>
          <a:lstStyle>
            <a:lvl1pPr algn="l">
              <a:defRPr sz="3199"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376" y="3352800"/>
            <a:ext cx="8836900" cy="381000"/>
          </a:xfrm>
        </p:spPr>
        <p:txBody>
          <a:bodyPr anchor="ctr"/>
          <a:lstStyle>
            <a:lvl1pPr marL="0" indent="0">
              <a:buFontTx/>
              <a:buNone/>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1141114" y="4343400"/>
            <a:ext cx="9903420" cy="1447800"/>
          </a:xfrm>
        </p:spPr>
        <p:txBody>
          <a:bodyPr vert="horz" lIns="91440" tIns="45720" rIns="91440" bIns="45720" rtlCol="0" anchor="ctr">
            <a:normAutofit/>
          </a:bodyPr>
          <a:lstStyle>
            <a:lvl1pPr>
              <a:buNone/>
              <a:defRPr lang="en-US" sz="1999">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pPr/>
              <a:t>‹#›</a:t>
            </a:fld>
            <a:endParaRPr lang="en-IN"/>
          </a:p>
        </p:txBody>
      </p:sp>
    </p:spTree>
    <p:extLst>
      <p:ext uri="{BB962C8B-B14F-4D97-AF65-F5344CB8AC3E}">
        <p14:creationId xmlns:p14="http://schemas.microsoft.com/office/powerpoint/2010/main" val="1361836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115" y="3308581"/>
            <a:ext cx="9903420" cy="1468800"/>
          </a:xfrm>
        </p:spPr>
        <p:txBody>
          <a:bodyPr anchor="b">
            <a:normAutofit/>
          </a:bodyPr>
          <a:lstStyle>
            <a:lvl1pPr algn="l">
              <a:defRPr sz="3199" b="0" cap="all"/>
            </a:lvl1pPr>
          </a:lstStyle>
          <a:p>
            <a:r>
              <a:rPr lang="en-US"/>
              <a:t>Click to edit Master title style</a:t>
            </a:r>
            <a:endParaRPr lang="en-US" dirty="0"/>
          </a:p>
        </p:txBody>
      </p:sp>
      <p:sp>
        <p:nvSpPr>
          <p:cNvPr id="3" name="Text Placeholder 2"/>
          <p:cNvSpPr>
            <a:spLocks noGrp="1"/>
          </p:cNvSpPr>
          <p:nvPr>
            <p:ph type="body" idx="1"/>
          </p:nvPr>
        </p:nvSpPr>
        <p:spPr>
          <a:xfrm>
            <a:off x="1141113" y="4777381"/>
            <a:ext cx="9903421" cy="860400"/>
          </a:xfrm>
        </p:spPr>
        <p:txBody>
          <a:bodyPr vert="horz" lIns="91440" tIns="45720" rIns="91440" bIns="45720" rtlCol="0" anchor="t">
            <a:normAutofit/>
          </a:bodyPr>
          <a:lstStyle>
            <a:lvl1pPr>
              <a:defRPr lang="en-US" sz="1999">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pPr/>
              <a:t>‹#›</a:t>
            </a:fld>
            <a:endParaRPr lang="en-IN"/>
          </a:p>
        </p:txBody>
      </p:sp>
    </p:spTree>
    <p:extLst>
      <p:ext uri="{BB962C8B-B14F-4D97-AF65-F5344CB8AC3E}">
        <p14:creationId xmlns:p14="http://schemas.microsoft.com/office/powerpoint/2010/main" val="175270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394" y="786824"/>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accent1"/>
                </a:solidFill>
              </a:rPr>
              <a:t>“</a:t>
            </a:r>
          </a:p>
        </p:txBody>
      </p:sp>
      <p:sp>
        <p:nvSpPr>
          <p:cNvPr id="15" name="TextBox 14"/>
          <p:cNvSpPr txBox="1"/>
          <p:nvPr/>
        </p:nvSpPr>
        <p:spPr>
          <a:xfrm>
            <a:off x="10435094" y="2743200"/>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accent1"/>
                </a:solidFill>
              </a:rPr>
              <a:t>”</a:t>
            </a:r>
          </a:p>
        </p:txBody>
      </p:sp>
      <p:sp>
        <p:nvSpPr>
          <p:cNvPr id="2" name="Title 1"/>
          <p:cNvSpPr>
            <a:spLocks noGrp="1"/>
          </p:cNvSpPr>
          <p:nvPr>
            <p:ph type="title"/>
          </p:nvPr>
        </p:nvSpPr>
        <p:spPr>
          <a:xfrm>
            <a:off x="1445836" y="609602"/>
            <a:ext cx="9293977" cy="2743199"/>
          </a:xfrm>
        </p:spPr>
        <p:txBody>
          <a:bodyPr anchor="ctr">
            <a:normAutofit/>
          </a:bodyPr>
          <a:lstStyle>
            <a:lvl1pPr algn="l">
              <a:defRPr sz="3199"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115" y="3886200"/>
            <a:ext cx="9903420" cy="889000"/>
          </a:xfrm>
        </p:spPr>
        <p:txBody>
          <a:bodyPr vert="horz" lIns="91440" tIns="45720" rIns="91440" bIns="45720" rtlCol="0" anchor="b">
            <a:normAutofit/>
          </a:bodyPr>
          <a:lstStyle>
            <a:lvl1pPr>
              <a:buNone/>
              <a:defRPr lang="en-US" sz="2399"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114" y="4775200"/>
            <a:ext cx="9903420" cy="1016000"/>
          </a:xfrm>
        </p:spPr>
        <p:txBody>
          <a:bodyPr anchor="t">
            <a:normAutofit/>
          </a:bodyPr>
          <a:lstStyle>
            <a:lvl1pPr marL="0" indent="0" algn="l">
              <a:buNone/>
              <a:defRPr sz="1799">
                <a:gradFill flip="none" rotWithShape="1">
                  <a:gsLst>
                    <a:gs pos="0">
                      <a:schemeClr val="tx1"/>
                    </a:gs>
                    <a:gs pos="100000">
                      <a:schemeClr val="tx1">
                        <a:lumMod val="75000"/>
                      </a:schemeClr>
                    </a:gs>
                  </a:gsLst>
                  <a:lin ang="5400000" scaled="0"/>
                  <a:tileRect/>
                </a:gra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pPr/>
              <a:t>‹#›</a:t>
            </a:fld>
            <a:endParaRPr lang="en-IN"/>
          </a:p>
        </p:txBody>
      </p:sp>
    </p:spTree>
    <p:extLst>
      <p:ext uri="{BB962C8B-B14F-4D97-AF65-F5344CB8AC3E}">
        <p14:creationId xmlns:p14="http://schemas.microsoft.com/office/powerpoint/2010/main" val="107681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115" y="609602"/>
            <a:ext cx="990341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115" y="3505200"/>
            <a:ext cx="9903420" cy="838200"/>
          </a:xfrm>
        </p:spPr>
        <p:txBody>
          <a:bodyPr vert="horz" lIns="91440" tIns="45720" rIns="91440" bIns="45720" rtlCol="0" anchor="b">
            <a:normAutofit/>
          </a:bodyPr>
          <a:lstStyle>
            <a:lvl1pPr>
              <a:buNone/>
              <a:defRPr lang="en-US" sz="2799"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114" y="4343400"/>
            <a:ext cx="9903420" cy="1447800"/>
          </a:xfrm>
        </p:spPr>
        <p:txBody>
          <a:bodyPr anchor="t">
            <a:normAutofit/>
          </a:bodyPr>
          <a:lstStyle>
            <a:lvl1pPr marL="0" indent="0" algn="l">
              <a:buNone/>
              <a:defRPr sz="1799">
                <a:gradFill flip="none" rotWithShape="1">
                  <a:gsLst>
                    <a:gs pos="0">
                      <a:schemeClr val="tx1"/>
                    </a:gs>
                    <a:gs pos="100000">
                      <a:schemeClr val="tx1">
                        <a:lumMod val="75000"/>
                      </a:schemeClr>
                    </a:gs>
                  </a:gsLst>
                  <a:lin ang="5400000" scaled="0"/>
                  <a:tileRect/>
                </a:gra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pPr/>
              <a:t>‹#›</a:t>
            </a:fld>
            <a:endParaRPr lang="en-IN"/>
          </a:p>
        </p:txBody>
      </p:sp>
    </p:spTree>
    <p:extLst>
      <p:ext uri="{BB962C8B-B14F-4D97-AF65-F5344CB8AC3E}">
        <p14:creationId xmlns:p14="http://schemas.microsoft.com/office/powerpoint/2010/main" val="1795132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116" y="609600"/>
            <a:ext cx="990341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176044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4597" y="609600"/>
            <a:ext cx="220993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115" y="609600"/>
            <a:ext cx="7541835"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FD029-FB74-4578-B929-F66AA97659CA}"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4DD1E-5D91-48A3-AD6D-45FBA980D106}" type="slidenum">
              <a:rPr lang="en-IN" smtClean="0"/>
              <a:t>‹#›</a:t>
            </a:fld>
            <a:endParaRPr lang="en-IN"/>
          </a:p>
        </p:txBody>
      </p:sp>
    </p:spTree>
    <p:extLst>
      <p:ext uri="{BB962C8B-B14F-4D97-AF65-F5344CB8AC3E}">
        <p14:creationId xmlns:p14="http://schemas.microsoft.com/office/powerpoint/2010/main" val="3701848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116" y="609600"/>
            <a:ext cx="990341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116" y="2667000"/>
            <a:ext cx="990341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5311" y="5883276"/>
            <a:ext cx="1599783"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F0DFD029-FB74-4578-B929-F66AA97659CA}" type="datetimeFigureOut">
              <a:rPr lang="en-US" smtClean="0"/>
              <a:pPr/>
              <a:t>9/8/2026</a:t>
            </a:fld>
            <a:endParaRPr lang="en-US"/>
          </a:p>
        </p:txBody>
      </p:sp>
      <p:sp>
        <p:nvSpPr>
          <p:cNvPr id="5" name="Footer Placeholder 4"/>
          <p:cNvSpPr>
            <a:spLocks noGrp="1"/>
          </p:cNvSpPr>
          <p:nvPr>
            <p:ph type="ftr" sz="quarter" idx="3"/>
          </p:nvPr>
        </p:nvSpPr>
        <p:spPr>
          <a:xfrm>
            <a:off x="1141115" y="5883276"/>
            <a:ext cx="7541835"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1275" y="5883276"/>
            <a:ext cx="551023"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014DD1E-5D91-48A3-AD6D-45FBA980D106}" type="slidenum">
              <a:rPr lang="en-IN" smtClean="0"/>
              <a:pPr/>
              <a:t>‹#›</a:t>
            </a:fld>
            <a:endParaRPr lang="en-IN"/>
          </a:p>
        </p:txBody>
      </p:sp>
    </p:spTree>
    <p:extLst>
      <p:ext uri="{BB962C8B-B14F-4D97-AF65-F5344CB8AC3E}">
        <p14:creationId xmlns:p14="http://schemas.microsoft.com/office/powerpoint/2010/main" val="408789090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063" rtl="0" eaLnBrk="1" latinLnBrk="0" hangingPunct="1">
        <a:spcBef>
          <a:spcPct val="0"/>
        </a:spcBef>
        <a:buNone/>
        <a:defRPr sz="3199"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tx1"/>
        </a:buClr>
        <a:buSzPct val="100000"/>
        <a:buFont typeface="Arial"/>
        <a:buChar char="•"/>
        <a:defRPr sz="1999"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727" indent="-285664" algn="l" defTabSz="457063" rtl="0" eaLnBrk="1" latinLnBrk="0" hangingPunct="1">
        <a:spcBef>
          <a:spcPct val="20000"/>
        </a:spcBef>
        <a:spcAft>
          <a:spcPts val="600"/>
        </a:spcAft>
        <a:buClr>
          <a:schemeClr val="tx1"/>
        </a:buClr>
        <a:buSzPct val="100000"/>
        <a:buFont typeface="Arial"/>
        <a:buChar char="•"/>
        <a:defRPr sz="1799"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199790" indent="-285664" algn="l" defTabSz="457063"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2587" indent="-171399" algn="l" defTabSz="457063"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1999650" indent="-171399" algn="l" defTabSz="457063"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3846" indent="-228531" algn="l" defTabSz="457063"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0908" indent="-228531" algn="l" defTabSz="457063"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7971" indent="-228531" algn="l" defTabSz="457063"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5034" indent="-228531" algn="l" defTabSz="457063"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xml"/><Relationship Id="rId5" Type="http://schemas.openxmlformats.org/officeDocument/2006/relationships/image" Target="../media/image49.png"/><Relationship Id="rId4" Type="http://schemas.openxmlformats.org/officeDocument/2006/relationships/image" Target="../media/image48.png"/></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hyperlink" Target="https://jwt.io/" TargetMode="External"/><Relationship Id="rId13" Type="http://schemas.openxmlformats.org/officeDocument/2006/relationships/hyperlink" Target="https://docs.github.com/" TargetMode="External"/><Relationship Id="rId3" Type="http://schemas.openxmlformats.org/officeDocument/2006/relationships/hyperlink" Target="https://vite.dev/" TargetMode="External"/><Relationship Id="rId7" Type="http://schemas.openxmlformats.org/officeDocument/2006/relationships/hyperlink" Target="https://mongoosejs.com/docs/" TargetMode="External"/><Relationship Id="rId12" Type="http://schemas.openxmlformats.org/officeDocument/2006/relationships/hyperlink" Target="https://developer.mozilla.org/" TargetMode="External"/><Relationship Id="rId2" Type="http://schemas.openxmlformats.org/officeDocument/2006/relationships/hyperlink" Target="https://react.dev/" TargetMode="External"/><Relationship Id="rId1" Type="http://schemas.openxmlformats.org/officeDocument/2006/relationships/slideLayout" Target="../slideLayouts/slideLayout2.xml"/><Relationship Id="rId6" Type="http://schemas.openxmlformats.org/officeDocument/2006/relationships/hyperlink" Target="https://www.mongodb.com/docs/" TargetMode="External"/><Relationship Id="rId11" Type="http://schemas.openxmlformats.org/officeDocument/2006/relationships/hyperlink" Target="https://mermaid.js.org/" TargetMode="External"/><Relationship Id="rId5" Type="http://schemas.openxmlformats.org/officeDocument/2006/relationships/hyperlink" Target="https://expressjs.com/" TargetMode="External"/><Relationship Id="rId10" Type="http://schemas.openxmlformats.org/officeDocument/2006/relationships/hyperlink" Target="https://tailwindcss.com/docs" TargetMode="External"/><Relationship Id="rId4" Type="http://schemas.openxmlformats.org/officeDocument/2006/relationships/hyperlink" Target="https://nodejs.org/docs/" TargetMode="External"/><Relationship Id="rId9" Type="http://schemas.openxmlformats.org/officeDocument/2006/relationships/hyperlink" Target="https://axios-http.com/docs/intro" TargetMode="External"/><Relationship Id="rId14" Type="http://schemas.openxmlformats.org/officeDocument/2006/relationships/hyperlink" Target="https://platform.openai.com/docs/"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176" y="188640"/>
            <a:ext cx="8735325" cy="1476648"/>
          </a:xfrm>
        </p:spPr>
        <p:txBody>
          <a:bodyPr>
            <a:normAutofit fontScale="90000"/>
          </a:bodyPr>
          <a:lstStyle/>
          <a:p>
            <a:pPr algn="ctr"/>
            <a:r>
              <a:rPr lang="en-IN" b="1" dirty="0"/>
              <a:t>Placement preparation portal </a:t>
            </a:r>
            <a:endParaRPr lang="en-IN" dirty="0"/>
          </a:p>
        </p:txBody>
      </p:sp>
      <p:sp>
        <p:nvSpPr>
          <p:cNvPr id="5" name="Subtitle 4"/>
          <p:cNvSpPr>
            <a:spLocks noGrp="1"/>
          </p:cNvSpPr>
          <p:nvPr>
            <p:ph type="subTitle" idx="1"/>
          </p:nvPr>
        </p:nvSpPr>
        <p:spPr>
          <a:xfrm>
            <a:off x="1625176" y="1988841"/>
            <a:ext cx="8735325" cy="4284958"/>
          </a:xfrm>
        </p:spPr>
        <p:txBody>
          <a:bodyPr>
            <a:normAutofit fontScale="85000" lnSpcReduction="20000"/>
          </a:bodyPr>
          <a:lstStyle/>
          <a:p>
            <a:endParaRPr lang="en-US" b="1" dirty="0">
              <a:solidFill>
                <a:schemeClr val="tx1"/>
              </a:solidFill>
            </a:endParaRPr>
          </a:p>
          <a:p>
            <a:r>
              <a:rPr lang="en-US" b="1" dirty="0">
                <a:solidFill>
                  <a:schemeClr val="tx1"/>
                </a:solidFill>
              </a:rPr>
              <a:t>Group Members:</a:t>
            </a:r>
          </a:p>
          <a:p>
            <a:r>
              <a:rPr lang="en-US" dirty="0">
                <a:solidFill>
                  <a:schemeClr val="tx1"/>
                </a:solidFill>
              </a:rPr>
              <a:t>Hardik Jethava  	92500584003</a:t>
            </a:r>
            <a:endParaRPr lang="en-IN" dirty="0">
              <a:solidFill>
                <a:schemeClr val="tx1"/>
              </a:solidFill>
            </a:endParaRPr>
          </a:p>
          <a:p>
            <a:r>
              <a:rPr lang="en-US" dirty="0">
                <a:solidFill>
                  <a:schemeClr val="tx1"/>
                </a:solidFill>
              </a:rPr>
              <a:t>Hardik Vala		92500584013</a:t>
            </a:r>
            <a:endParaRPr lang="en-IN" dirty="0">
              <a:solidFill>
                <a:schemeClr val="tx1"/>
              </a:solidFill>
            </a:endParaRPr>
          </a:p>
          <a:p>
            <a:endParaRPr lang="en-US" b="1" dirty="0">
              <a:solidFill>
                <a:schemeClr val="tx1"/>
              </a:solidFill>
            </a:endParaRPr>
          </a:p>
          <a:p>
            <a:r>
              <a:rPr lang="en-US" b="1" dirty="0">
                <a:solidFill>
                  <a:schemeClr val="tx1"/>
                </a:solidFill>
              </a:rPr>
              <a:t>internal Guide : </a:t>
            </a:r>
          </a:p>
          <a:p>
            <a:r>
              <a:rPr lang="en-US" dirty="0">
                <a:solidFill>
                  <a:schemeClr val="tx1"/>
                </a:solidFill>
              </a:rPr>
              <a:t>dr. </a:t>
            </a:r>
            <a:r>
              <a:rPr lang="en-US" dirty="0" err="1">
                <a:solidFill>
                  <a:schemeClr val="tx1"/>
                </a:solidFill>
              </a:rPr>
              <a:t>Divyakant</a:t>
            </a:r>
            <a:r>
              <a:rPr lang="en-US" dirty="0">
                <a:solidFill>
                  <a:schemeClr val="tx1"/>
                </a:solidFill>
              </a:rPr>
              <a:t> Meva</a:t>
            </a:r>
          </a:p>
          <a:p>
            <a:endParaRPr lang="en-US" b="1" dirty="0">
              <a:solidFill>
                <a:schemeClr val="tx1"/>
              </a:solidFill>
            </a:endParaRPr>
          </a:p>
          <a:p>
            <a:r>
              <a:rPr lang="en-US" b="1" dirty="0" err="1">
                <a:solidFill>
                  <a:schemeClr val="tx1"/>
                </a:solidFill>
              </a:rPr>
              <a:t>Mca</a:t>
            </a:r>
            <a:r>
              <a:rPr lang="en-US" b="1" dirty="0">
                <a:solidFill>
                  <a:schemeClr val="tx1"/>
                </a:solidFill>
              </a:rPr>
              <a:t> 3a </a:t>
            </a:r>
          </a:p>
          <a:p>
            <a:r>
              <a:rPr lang="en-US" b="1" dirty="0">
                <a:solidFill>
                  <a:schemeClr val="tx1"/>
                </a:solidFill>
              </a:rPr>
              <a:t>Group no : 24</a:t>
            </a:r>
          </a:p>
          <a:p>
            <a:endParaRPr lang="en-IN" dirty="0"/>
          </a:p>
          <a:p>
            <a:r>
              <a:rPr lang="en-US" dirty="0"/>
              <a:t> </a:t>
            </a:r>
            <a:endParaRPr lang="en-IN" dirty="0"/>
          </a:p>
          <a:p>
            <a:endParaRPr lang="en-IN" dirty="0">
              <a:solidFill>
                <a:schemeClr val="tx1"/>
              </a:solidFill>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18883" y="404664"/>
            <a:ext cx="10360501" cy="792088"/>
          </a:xfrm>
        </p:spPr>
        <p:txBody>
          <a:bodyPr/>
          <a:lstStyle/>
          <a:p>
            <a:pPr lvl="0" algn="ctr"/>
            <a:r>
              <a:rPr lang="en-US" b="1" dirty="0"/>
              <a:t>1. Introduction to Project Definition </a:t>
            </a:r>
            <a:endParaRPr lang="en-IN" dirty="0"/>
          </a:p>
        </p:txBody>
      </p:sp>
      <p:sp>
        <p:nvSpPr>
          <p:cNvPr id="14" name="Content Placeholder 13"/>
          <p:cNvSpPr>
            <a:spLocks noGrp="1"/>
          </p:cNvSpPr>
          <p:nvPr>
            <p:ph idx="1"/>
          </p:nvPr>
        </p:nvSpPr>
        <p:spPr>
          <a:xfrm>
            <a:off x="981845" y="1556793"/>
            <a:ext cx="9721080" cy="4680520"/>
          </a:xfrm>
        </p:spPr>
        <p:txBody>
          <a:bodyPr>
            <a:normAutofit fontScale="25000" lnSpcReduction="20000"/>
          </a:bodyPr>
          <a:lstStyle/>
          <a:p>
            <a:pPr algn="just"/>
            <a:r>
              <a:rPr lang="en-IN" sz="8000" dirty="0"/>
              <a:t>A </a:t>
            </a:r>
            <a:r>
              <a:rPr lang="en-IN" sz="8000" b="1" dirty="0"/>
              <a:t>project</a:t>
            </a:r>
            <a:r>
              <a:rPr lang="en-IN" sz="8000" dirty="0"/>
              <a:t> is a planned and organized effort undertaken to develop a specific product, system, or solution for solving a particular problem. In software development, a project involves identifying a problem, </a:t>
            </a:r>
            <a:r>
              <a:rPr lang="en-IN" sz="8000" dirty="0" err="1"/>
              <a:t>analyzing</a:t>
            </a:r>
            <a:r>
              <a:rPr lang="en-IN" sz="8000" dirty="0"/>
              <a:t> user requirements, designing the system, developing the application, testing its functionality, and implementing the final solution.</a:t>
            </a:r>
          </a:p>
          <a:p>
            <a:pPr algn="just"/>
            <a:r>
              <a:rPr lang="en-IN" sz="8000" dirty="0"/>
              <a:t>The proposed project, </a:t>
            </a:r>
            <a:r>
              <a:rPr lang="en-IN" sz="8000" b="1" dirty="0"/>
              <a:t>“Placement Preparation Portal,”</a:t>
            </a:r>
            <a:r>
              <a:rPr lang="en-IN" sz="8000" dirty="0"/>
              <a:t> is a web-based application developed to provide students with a centralized platform for complete placement preparation. Students often use multiple websites and applications for aptitude preparation, reasoning, English, programming, coding practice, mock tests, interview preparation, resume analysis, and company-specific preparation. This makes the preparation process unorganized and makes it difficult for students to track their overall progress.</a:t>
            </a:r>
          </a:p>
          <a:p>
            <a:pPr algn="just"/>
            <a:r>
              <a:rPr lang="en-IN" sz="8000" dirty="0"/>
              <a:t>The Placement Preparation Portal solves this problem by integrating various placement preparation activities into a single platform. The system allows students to study topic-wise notes, practice MCQs and coding problems, attempt quizzes and mock tests, prepare for different companies, upload and </a:t>
            </a:r>
            <a:r>
              <a:rPr lang="en-IN" sz="8000" dirty="0" err="1"/>
              <a:t>analyze</a:t>
            </a:r>
            <a:r>
              <a:rPr lang="en-IN" sz="8000" dirty="0"/>
              <a:t> their resumes, and track their preparation progress.</a:t>
            </a:r>
          </a:p>
          <a:p>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C5C2B-BD11-A0DE-819E-89590E4930EE}"/>
              </a:ext>
            </a:extLst>
          </p:cNvPr>
          <p:cNvSpPr>
            <a:spLocks noGrp="1"/>
          </p:cNvSpPr>
          <p:nvPr>
            <p:ph idx="1"/>
          </p:nvPr>
        </p:nvSpPr>
        <p:spPr>
          <a:xfrm>
            <a:off x="1141116" y="1196752"/>
            <a:ext cx="9903418" cy="4594449"/>
          </a:xfrm>
        </p:spPr>
        <p:txBody>
          <a:bodyPr>
            <a:normAutofit/>
          </a:bodyPr>
          <a:lstStyle/>
          <a:p>
            <a:pPr algn="just"/>
            <a:r>
              <a:rPr lang="en-IN" sz="2000" dirty="0"/>
              <a:t>The system consists of two main users: </a:t>
            </a:r>
            <a:r>
              <a:rPr lang="en-IN" sz="2000" b="1" dirty="0"/>
              <a:t>Student and Admin</a:t>
            </a:r>
            <a:r>
              <a:rPr lang="en-IN" sz="2000" dirty="0"/>
              <a:t>. Students use the platform for learning, practicing, testing, and </a:t>
            </a:r>
            <a:r>
              <a:rPr lang="en-IN" sz="2000" dirty="0" err="1"/>
              <a:t>analyzing</a:t>
            </a:r>
            <a:r>
              <a:rPr lang="en-IN" sz="2000" dirty="0"/>
              <a:t> their performance. The Admin manages students and dynamically controls notes, questions, coding problems, companies, mock tests, and other preparation content.</a:t>
            </a:r>
          </a:p>
          <a:p>
            <a:pPr algn="just"/>
            <a:r>
              <a:rPr lang="en-IN" sz="2000" dirty="0"/>
              <a:t>The project is developed using the </a:t>
            </a:r>
            <a:r>
              <a:rPr lang="en-IN" sz="2000" b="1" dirty="0"/>
              <a:t>MERN Stack</a:t>
            </a:r>
            <a:r>
              <a:rPr lang="en-IN" sz="2000" dirty="0"/>
              <a:t>, which includes </a:t>
            </a:r>
            <a:r>
              <a:rPr lang="en-IN" sz="2000" b="1" dirty="0"/>
              <a:t>React.js</a:t>
            </a:r>
            <a:r>
              <a:rPr lang="en-IN" sz="2000" dirty="0"/>
              <a:t> for the frontend, </a:t>
            </a:r>
            <a:r>
              <a:rPr lang="en-IN" sz="2000" b="1" dirty="0"/>
              <a:t>Node.js and Express.js</a:t>
            </a:r>
            <a:r>
              <a:rPr lang="en-IN" sz="2000" dirty="0"/>
              <a:t> for the backend, and </a:t>
            </a:r>
            <a:r>
              <a:rPr lang="en-IN" sz="2000" b="1" dirty="0"/>
              <a:t>MongoDB</a:t>
            </a:r>
            <a:r>
              <a:rPr lang="en-IN" sz="2000" dirty="0"/>
              <a:t> for database management. The system uses </a:t>
            </a:r>
            <a:r>
              <a:rPr lang="en-IN" sz="2000" b="1" dirty="0"/>
              <a:t>JWT authentication</a:t>
            </a:r>
            <a:r>
              <a:rPr lang="en-IN" sz="2000" dirty="0"/>
              <a:t> for secure user access and provides role-based access for Students and Administrators.</a:t>
            </a:r>
          </a:p>
        </p:txBody>
      </p:sp>
    </p:spTree>
    <p:extLst>
      <p:ext uri="{BB962C8B-B14F-4D97-AF65-F5344CB8AC3E}">
        <p14:creationId xmlns:p14="http://schemas.microsoft.com/office/powerpoint/2010/main" val="320060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8AF1-E3AC-F071-B13D-AA0CA4F5CBA3}"/>
              </a:ext>
            </a:extLst>
          </p:cNvPr>
          <p:cNvSpPr>
            <a:spLocks noGrp="1"/>
          </p:cNvSpPr>
          <p:nvPr>
            <p:ph type="title"/>
          </p:nvPr>
        </p:nvSpPr>
        <p:spPr>
          <a:xfrm>
            <a:off x="1218883" y="274637"/>
            <a:ext cx="10360501" cy="1066131"/>
          </a:xfrm>
        </p:spPr>
        <p:txBody>
          <a:bodyPr/>
          <a:lstStyle/>
          <a:p>
            <a:pPr algn="ctr"/>
            <a:r>
              <a:rPr lang="en-US" b="1" dirty="0"/>
              <a:t>2. PREAMBLE</a:t>
            </a:r>
            <a:endParaRPr lang="en-IN" dirty="0"/>
          </a:p>
        </p:txBody>
      </p:sp>
      <p:sp>
        <p:nvSpPr>
          <p:cNvPr id="3" name="Content Placeholder 2">
            <a:extLst>
              <a:ext uri="{FF2B5EF4-FFF2-40B4-BE49-F238E27FC236}">
                <a16:creationId xmlns:a16="http://schemas.microsoft.com/office/drawing/2014/main" id="{CB1F25E2-4FC8-67E6-B689-CF1830524157}"/>
              </a:ext>
            </a:extLst>
          </p:cNvPr>
          <p:cNvSpPr>
            <a:spLocks noGrp="1"/>
          </p:cNvSpPr>
          <p:nvPr>
            <p:ph idx="1"/>
          </p:nvPr>
        </p:nvSpPr>
        <p:spPr>
          <a:xfrm>
            <a:off x="1141116" y="1268759"/>
            <a:ext cx="9903418" cy="5314603"/>
          </a:xfrm>
        </p:spPr>
        <p:txBody>
          <a:bodyPr>
            <a:normAutofit fontScale="55000" lnSpcReduction="20000"/>
          </a:bodyPr>
          <a:lstStyle/>
          <a:p>
            <a:r>
              <a:rPr lang="en-US" sz="3600" dirty="0"/>
              <a:t> </a:t>
            </a:r>
            <a:r>
              <a:rPr lang="en-IN" sz="3600" dirty="0"/>
              <a:t>The </a:t>
            </a:r>
            <a:r>
              <a:rPr lang="en-IN" sz="3600" b="1" dirty="0"/>
              <a:t>AI-Powered Placement Preparation Portal</a:t>
            </a:r>
            <a:r>
              <a:rPr lang="en-IN" sz="3600" dirty="0"/>
              <a:t> is a web-based application developed to provide students with a centralized and structured platform for complete placement preparation. The project is designed to address the difficulties faced by students who need to use multiple websites and applications for aptitude, reasoning, English, programming, coding practice, mock tests, interview preparation, resume analysis, and company-specific preparation.</a:t>
            </a:r>
          </a:p>
          <a:p>
            <a:r>
              <a:rPr lang="en-IN" sz="3600" dirty="0"/>
              <a:t>The system brings all these preparation activities together into a single platform where students can learn, practice, take assessments, </a:t>
            </a:r>
            <a:r>
              <a:rPr lang="en-IN" sz="3600" dirty="0" err="1"/>
              <a:t>analyze</a:t>
            </a:r>
            <a:r>
              <a:rPr lang="en-IN" sz="3600" dirty="0"/>
              <a:t> their performance, and improve their skills. The portal follows the complete preparation cycle:</a:t>
            </a:r>
          </a:p>
          <a:p>
            <a:r>
              <a:rPr lang="en-IN" sz="3600" b="1" dirty="0"/>
              <a:t>Learn → Practice → Test → </a:t>
            </a:r>
            <a:r>
              <a:rPr lang="en-IN" sz="3600" b="1" dirty="0" err="1"/>
              <a:t>Analyze</a:t>
            </a:r>
            <a:r>
              <a:rPr lang="en-IN" sz="3600" b="1" dirty="0"/>
              <a:t> → Improve</a:t>
            </a:r>
          </a:p>
          <a:p>
            <a:r>
              <a:rPr lang="en-IN" sz="3600" dirty="0"/>
              <a:t>The application consists of two main user roles: </a:t>
            </a:r>
            <a:r>
              <a:rPr lang="en-IN" sz="3600" b="1" dirty="0"/>
              <a:t>Student</a:t>
            </a:r>
            <a:r>
              <a:rPr lang="en-IN" sz="3600" dirty="0"/>
              <a:t> and </a:t>
            </a:r>
            <a:r>
              <a:rPr lang="en-IN" sz="3600" b="1" dirty="0"/>
              <a:t>Admin</a:t>
            </a:r>
            <a:r>
              <a:rPr lang="en-IN" sz="3600" dirty="0"/>
              <a:t>. Students can access learning materials, solve practice questions and coding problems, attempt quizzes and mock tests, prepare for different companies, upload their resumes for analysis, and monitor their overall preparation progress. The Admin is responsible for managing students and dynamically controlling the content available on the platform, including notes, questions, coding problems, companies, mock tests, and reports.</a:t>
            </a:r>
          </a:p>
          <a:p>
            <a:pPr marL="0" indent="0">
              <a:buNone/>
            </a:pPr>
            <a:endParaRPr lang="en-IN" dirty="0"/>
          </a:p>
        </p:txBody>
      </p:sp>
    </p:spTree>
    <p:extLst>
      <p:ext uri="{BB962C8B-B14F-4D97-AF65-F5344CB8AC3E}">
        <p14:creationId xmlns:p14="http://schemas.microsoft.com/office/powerpoint/2010/main" val="140017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DE2515-5903-634F-F54F-9B5C827F6962}"/>
              </a:ext>
            </a:extLst>
          </p:cNvPr>
          <p:cNvSpPr>
            <a:spLocks noGrp="1"/>
          </p:cNvSpPr>
          <p:nvPr>
            <p:ph idx="1"/>
          </p:nvPr>
        </p:nvSpPr>
        <p:spPr>
          <a:xfrm>
            <a:off x="1218883" y="332656"/>
            <a:ext cx="10360501" cy="6336704"/>
          </a:xfrm>
        </p:spPr>
        <p:txBody>
          <a:bodyPr>
            <a:normAutofit/>
          </a:bodyPr>
          <a:lstStyle/>
          <a:p>
            <a:r>
              <a:rPr lang="en-IN" sz="2000" dirty="0"/>
              <a:t>The project is developed using the </a:t>
            </a:r>
            <a:r>
              <a:rPr lang="en-IN" sz="2000" b="1" dirty="0"/>
              <a:t>MERN Stack</a:t>
            </a:r>
            <a:r>
              <a:rPr lang="en-IN" sz="2000" dirty="0"/>
              <a:t>, which includes </a:t>
            </a:r>
            <a:r>
              <a:rPr lang="en-IN" sz="2000" b="1" dirty="0"/>
              <a:t>React.js and Vite</a:t>
            </a:r>
            <a:r>
              <a:rPr lang="en-IN" sz="2000" dirty="0"/>
              <a:t> for the frontend, </a:t>
            </a:r>
            <a:r>
              <a:rPr lang="en-IN" sz="2000" b="1" dirty="0"/>
              <a:t>Node.js and Express.js</a:t>
            </a:r>
            <a:r>
              <a:rPr lang="en-IN" sz="2000" dirty="0"/>
              <a:t> for the backend, and </a:t>
            </a:r>
            <a:r>
              <a:rPr lang="en-IN" sz="2000" b="1" dirty="0"/>
              <a:t>MongoDB with Mongoose</a:t>
            </a:r>
            <a:r>
              <a:rPr lang="en-IN" sz="2000" dirty="0"/>
              <a:t> for database management. </a:t>
            </a:r>
            <a:r>
              <a:rPr lang="en-IN" sz="2000" b="1" dirty="0"/>
              <a:t>JWT</a:t>
            </a:r>
            <a:r>
              <a:rPr lang="en-IN" sz="2000" dirty="0"/>
              <a:t> and </a:t>
            </a:r>
            <a:r>
              <a:rPr lang="en-IN" sz="2000" b="1" dirty="0" err="1"/>
              <a:t>bcryptjs</a:t>
            </a:r>
            <a:r>
              <a:rPr lang="en-IN" sz="2000" dirty="0"/>
              <a:t> are used to provide secure authentication and password protection, while REST APIs are used for communication between the frontend and backend.</a:t>
            </a:r>
          </a:p>
          <a:p>
            <a:r>
              <a:rPr lang="en-IN" sz="2000" dirty="0"/>
              <a:t>The proposed system also includes AI-oriented features such as </a:t>
            </a:r>
            <a:r>
              <a:rPr lang="en-IN" sz="2000" b="1" dirty="0"/>
              <a:t>Resume Review, Resume Suggestions, HR and Technical Interview Question Generation, Skill Gap Analysis, Learning Roadmaps, Career Suggestions, and Interview Feedback</a:t>
            </a:r>
            <a:r>
              <a:rPr lang="en-IN" sz="2000" dirty="0"/>
              <a:t>. These features are designed to provide more personalized guidance and help students identify areas that require improvement.</a:t>
            </a:r>
          </a:p>
          <a:p>
            <a:r>
              <a:rPr lang="en-IN" sz="2000" dirty="0"/>
              <a:t>Overall, the </a:t>
            </a:r>
            <a:r>
              <a:rPr lang="en-IN" sz="2000" b="1" dirty="0"/>
              <a:t>AI-Powered Placement Preparation Portal</a:t>
            </a:r>
            <a:r>
              <a:rPr lang="en-IN" sz="2000" dirty="0"/>
              <a:t> provides an integrated solution for placement preparation by combining learning resources, practice activities, assessment systems, performance analytics, resume analysis, company preparation, and administrative content management. The system aims to improve students' technical knowledge, aptitude skills, communication abilities, problem-solving skills, and overall placement readiness.</a:t>
            </a:r>
          </a:p>
        </p:txBody>
      </p:sp>
    </p:spTree>
    <p:extLst>
      <p:ext uri="{BB962C8B-B14F-4D97-AF65-F5344CB8AC3E}">
        <p14:creationId xmlns:p14="http://schemas.microsoft.com/office/powerpoint/2010/main" val="397037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73AAE-D8B5-96B8-B399-9D3474ED1E40}"/>
              </a:ext>
            </a:extLst>
          </p:cNvPr>
          <p:cNvSpPr>
            <a:spLocks noGrp="1"/>
          </p:cNvSpPr>
          <p:nvPr>
            <p:ph idx="1"/>
          </p:nvPr>
        </p:nvSpPr>
        <p:spPr>
          <a:xfrm>
            <a:off x="1218883" y="548680"/>
            <a:ext cx="10360501" cy="6120680"/>
          </a:xfrm>
        </p:spPr>
        <p:txBody>
          <a:bodyPr>
            <a:normAutofit fontScale="62500" lnSpcReduction="20000"/>
          </a:bodyPr>
          <a:lstStyle/>
          <a:p>
            <a:pPr>
              <a:buFont typeface="Wingdings" panose="05000000000000000000" pitchFamily="2" charset="2"/>
              <a:buChar char="v"/>
            </a:pPr>
            <a:r>
              <a:rPr lang="en-IN" sz="5100" b="1" dirty="0"/>
              <a:t>Problem Statement :</a:t>
            </a:r>
          </a:p>
          <a:p>
            <a:r>
              <a:rPr lang="en-IN" sz="3600" dirty="0"/>
              <a:t>The main problems addressed by the </a:t>
            </a:r>
            <a:r>
              <a:rPr lang="en-IN" sz="3600" b="1" dirty="0"/>
              <a:t>AI-Powered Placement Preparation Portal</a:t>
            </a:r>
            <a:r>
              <a:rPr lang="en-IN" sz="3600" dirty="0"/>
              <a:t> are:</a:t>
            </a:r>
          </a:p>
          <a:p>
            <a:pPr lvl="0"/>
            <a:r>
              <a:rPr lang="en-IN" sz="3600" b="1" dirty="0"/>
              <a:t>Scattered Preparation Resources</a:t>
            </a:r>
            <a:br>
              <a:rPr lang="en-IN" sz="3600" dirty="0"/>
            </a:br>
            <a:r>
              <a:rPr lang="en-IN" sz="2900" dirty="0"/>
              <a:t>Students need to visit multiple websites for aptitude, coding, reasoning, English, and interview preparation. </a:t>
            </a:r>
          </a:p>
          <a:p>
            <a:pPr lvl="0"/>
            <a:r>
              <a:rPr lang="en-IN" sz="3600" b="1" dirty="0"/>
              <a:t>Lack of Centralized Platform</a:t>
            </a:r>
            <a:br>
              <a:rPr lang="en-IN" sz="3600" dirty="0"/>
            </a:br>
            <a:r>
              <a:rPr lang="en-IN" sz="2900" dirty="0"/>
              <a:t>There is no single platform that combines all placement preparation activities. </a:t>
            </a:r>
          </a:p>
          <a:p>
            <a:pPr lvl="0"/>
            <a:r>
              <a:rPr lang="en-IN" sz="3600" b="1" dirty="0"/>
              <a:t>Difficulty in Progress Tracking</a:t>
            </a:r>
            <a:br>
              <a:rPr lang="en-IN" sz="3600" dirty="0"/>
            </a:br>
            <a:r>
              <a:rPr lang="en-IN" sz="2900" dirty="0"/>
              <a:t>Students find it difficult to track their completed topics, practice activities, and overall preparation progress. </a:t>
            </a:r>
          </a:p>
          <a:p>
            <a:pPr lvl="0"/>
            <a:r>
              <a:rPr lang="en-IN" sz="3600" b="1" dirty="0"/>
              <a:t>Lack of Structured Preparation</a:t>
            </a:r>
            <a:br>
              <a:rPr lang="en-IN" sz="3600" dirty="0"/>
            </a:br>
            <a:r>
              <a:rPr lang="en-IN" sz="2900" dirty="0"/>
              <a:t>Students may not know which topics to study and practice in a proper sequence</a:t>
            </a:r>
            <a:r>
              <a:rPr lang="en-IN" sz="3600" dirty="0"/>
              <a:t>. </a:t>
            </a:r>
          </a:p>
          <a:p>
            <a:pPr lvl="0"/>
            <a:r>
              <a:rPr lang="en-IN" sz="3600" b="1" dirty="0"/>
              <a:t>Difficulty in Identifying Weak Areas</a:t>
            </a:r>
            <a:br>
              <a:rPr lang="en-IN" sz="3600" dirty="0"/>
            </a:br>
            <a:r>
              <a:rPr lang="en-IN" sz="2600" dirty="0"/>
              <a:t>Without proper result analysis, students cannot easily identify their strengths and weaknesses. </a:t>
            </a:r>
          </a:p>
          <a:p>
            <a:pPr lvl="0"/>
            <a:r>
              <a:rPr lang="en-IN" sz="3600" b="1" dirty="0"/>
              <a:t>Separate Platforms for Different Skills</a:t>
            </a:r>
            <a:br>
              <a:rPr lang="en-IN" sz="3600" dirty="0"/>
            </a:br>
            <a:r>
              <a:rPr lang="en-IN" sz="2600" dirty="0"/>
              <a:t>Aptitude, reasoning, English, programming, coding, and mock tests are usually available on different platforms. </a:t>
            </a:r>
          </a:p>
          <a:p>
            <a:endParaRPr lang="en-IN" dirty="0"/>
          </a:p>
        </p:txBody>
      </p:sp>
    </p:spTree>
    <p:extLst>
      <p:ext uri="{BB962C8B-B14F-4D97-AF65-F5344CB8AC3E}">
        <p14:creationId xmlns:p14="http://schemas.microsoft.com/office/powerpoint/2010/main" val="154363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EAA8E-8B57-9A3A-7B0E-823CF7A3CB3D}"/>
              </a:ext>
            </a:extLst>
          </p:cNvPr>
          <p:cNvSpPr>
            <a:spLocks noGrp="1"/>
          </p:cNvSpPr>
          <p:nvPr>
            <p:ph type="title"/>
          </p:nvPr>
        </p:nvSpPr>
        <p:spPr>
          <a:xfrm>
            <a:off x="1141116" y="609600"/>
            <a:ext cx="6177432" cy="457199"/>
          </a:xfrm>
        </p:spPr>
        <p:txBody>
          <a:bodyPr>
            <a:normAutofit/>
          </a:bodyPr>
          <a:lstStyle/>
          <a:p>
            <a:r>
              <a:rPr lang="en-IN" sz="800" dirty="0"/>
              <a:t>.</a:t>
            </a:r>
          </a:p>
        </p:txBody>
      </p:sp>
      <p:sp>
        <p:nvSpPr>
          <p:cNvPr id="3" name="Content Placeholder 2">
            <a:extLst>
              <a:ext uri="{FF2B5EF4-FFF2-40B4-BE49-F238E27FC236}">
                <a16:creationId xmlns:a16="http://schemas.microsoft.com/office/drawing/2014/main" id="{2D9754D8-87F4-87AF-C157-A0047881D322}"/>
              </a:ext>
            </a:extLst>
          </p:cNvPr>
          <p:cNvSpPr>
            <a:spLocks noGrp="1"/>
          </p:cNvSpPr>
          <p:nvPr>
            <p:ph idx="1"/>
          </p:nvPr>
        </p:nvSpPr>
        <p:spPr>
          <a:xfrm>
            <a:off x="1141116" y="1066800"/>
            <a:ext cx="9903418" cy="4724402"/>
          </a:xfrm>
        </p:spPr>
        <p:txBody>
          <a:bodyPr>
            <a:normAutofit/>
          </a:bodyPr>
          <a:lstStyle/>
          <a:p>
            <a:pPr lvl="0"/>
            <a:r>
              <a:rPr lang="en-IN" sz="2000" b="1" dirty="0"/>
              <a:t>Limited Mock Test Analysis</a:t>
            </a:r>
            <a:br>
              <a:rPr lang="en-IN" sz="2000" dirty="0"/>
            </a:br>
            <a:r>
              <a:rPr lang="en-IN" sz="1600" dirty="0"/>
              <a:t>Students need proper test results, scores, accuracy, and performance analysis after completing tests. </a:t>
            </a:r>
          </a:p>
          <a:p>
            <a:pPr lvl="0"/>
            <a:r>
              <a:rPr lang="en-IN" sz="2000" b="1" dirty="0"/>
              <a:t>Lack of Company-Specific Preparation</a:t>
            </a:r>
            <a:br>
              <a:rPr lang="en-IN" sz="2000" dirty="0"/>
            </a:br>
            <a:r>
              <a:rPr lang="en-IN" sz="1600" dirty="0"/>
              <a:t>Students may find it difficult to get organized preparation material for specific companies. </a:t>
            </a:r>
          </a:p>
          <a:p>
            <a:pPr lvl="0"/>
            <a:r>
              <a:rPr lang="en-IN" sz="2000" b="1" dirty="0"/>
              <a:t>Resume Preparation Challenges</a:t>
            </a:r>
            <a:br>
              <a:rPr lang="en-IN" sz="2000" dirty="0"/>
            </a:br>
            <a:r>
              <a:rPr lang="en-IN" sz="1600" dirty="0"/>
              <a:t>Students need guidance to </a:t>
            </a:r>
            <a:r>
              <a:rPr lang="en-IN" sz="1600" dirty="0" err="1"/>
              <a:t>analyze</a:t>
            </a:r>
            <a:r>
              <a:rPr lang="en-IN" sz="1600" dirty="0"/>
              <a:t> and improve their resumes before applying for placements. </a:t>
            </a:r>
          </a:p>
          <a:p>
            <a:pPr lvl="0"/>
            <a:r>
              <a:rPr lang="en-IN" sz="2000" b="1" dirty="0"/>
              <a:t>Content Management Difficulty</a:t>
            </a:r>
            <a:br>
              <a:rPr lang="en-IN" sz="2000" dirty="0"/>
            </a:br>
            <a:r>
              <a:rPr lang="en-IN" sz="1600" dirty="0"/>
              <a:t>Administrators need an efficient system to dynamically manage notes, questions, coding problems, tests, and other content.</a:t>
            </a:r>
          </a:p>
          <a:p>
            <a:pPr marL="0" indent="0">
              <a:buNone/>
            </a:pPr>
            <a:endParaRPr lang="en-IN" sz="2000" dirty="0"/>
          </a:p>
          <a:p>
            <a:endParaRPr lang="en-IN" dirty="0"/>
          </a:p>
        </p:txBody>
      </p:sp>
    </p:spTree>
    <p:extLst>
      <p:ext uri="{BB962C8B-B14F-4D97-AF65-F5344CB8AC3E}">
        <p14:creationId xmlns:p14="http://schemas.microsoft.com/office/powerpoint/2010/main" val="1421779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7E30D4-3B67-FC3B-66AC-25AA17C7FDB9}"/>
              </a:ext>
            </a:extLst>
          </p:cNvPr>
          <p:cNvSpPr>
            <a:spLocks noGrp="1"/>
          </p:cNvSpPr>
          <p:nvPr>
            <p:ph idx="1"/>
          </p:nvPr>
        </p:nvSpPr>
        <p:spPr>
          <a:xfrm>
            <a:off x="1218883" y="404664"/>
            <a:ext cx="10360501" cy="6120680"/>
          </a:xfrm>
        </p:spPr>
        <p:txBody>
          <a:bodyPr>
            <a:normAutofit fontScale="70000" lnSpcReduction="20000"/>
          </a:bodyPr>
          <a:lstStyle/>
          <a:p>
            <a:pPr>
              <a:buFont typeface="Wingdings" panose="05000000000000000000" pitchFamily="2" charset="2"/>
              <a:buChar char="v"/>
            </a:pPr>
            <a:r>
              <a:rPr lang="en-IN" sz="3400" b="1" dirty="0"/>
              <a:t>Objectives of the System : </a:t>
            </a:r>
          </a:p>
          <a:p>
            <a:r>
              <a:rPr lang="en-IN" sz="2600" dirty="0">
                <a:effectLst>
                  <a:glow rad="38100">
                    <a:schemeClr val="bg1">
                      <a:lumMod val="50000"/>
                      <a:lumOff val="50000"/>
                      <a:alpha val="20000"/>
                    </a:schemeClr>
                  </a:glow>
                </a:effectLst>
              </a:rPr>
              <a:t>Centralized Placement Preparation</a:t>
            </a:r>
          </a:p>
          <a:p>
            <a:r>
              <a:rPr lang="en-IN" sz="2600" dirty="0">
                <a:effectLst>
                  <a:glow rad="38100">
                    <a:schemeClr val="bg1">
                      <a:lumMod val="50000"/>
                      <a:lumOff val="50000"/>
                      <a:alpha val="20000"/>
                    </a:schemeClr>
                  </a:glow>
                </a:effectLst>
              </a:rPr>
              <a:t>Provide Study Materials</a:t>
            </a:r>
          </a:p>
          <a:p>
            <a:r>
              <a:rPr lang="en-IN" sz="2600" dirty="0">
                <a:effectLst>
                  <a:glow rad="38100">
                    <a:schemeClr val="bg1">
                      <a:lumMod val="50000"/>
                      <a:lumOff val="50000"/>
                      <a:alpha val="20000"/>
                    </a:schemeClr>
                  </a:glow>
                </a:effectLst>
              </a:rPr>
              <a:t>Aptitude Preparation</a:t>
            </a:r>
          </a:p>
          <a:p>
            <a:r>
              <a:rPr lang="en-IN" sz="2600" dirty="0">
                <a:effectLst>
                  <a:glow rad="38100">
                    <a:schemeClr val="bg1">
                      <a:lumMod val="50000"/>
                      <a:lumOff val="50000"/>
                      <a:alpha val="20000"/>
                    </a:schemeClr>
                  </a:glow>
                </a:effectLst>
              </a:rPr>
              <a:t>Reasoning Preparation</a:t>
            </a:r>
          </a:p>
          <a:p>
            <a:r>
              <a:rPr lang="en-IN" sz="2600" dirty="0">
                <a:effectLst>
                  <a:glow rad="38100">
                    <a:schemeClr val="bg1">
                      <a:lumMod val="50000"/>
                      <a:lumOff val="50000"/>
                      <a:alpha val="20000"/>
                    </a:schemeClr>
                  </a:glow>
                </a:effectLst>
              </a:rPr>
              <a:t>English Preparation</a:t>
            </a:r>
          </a:p>
          <a:p>
            <a:r>
              <a:rPr lang="en-IN" sz="2600" dirty="0">
                <a:effectLst>
                  <a:glow rad="38100">
                    <a:schemeClr val="bg1">
                      <a:lumMod val="50000"/>
                      <a:lumOff val="50000"/>
                      <a:alpha val="20000"/>
                    </a:schemeClr>
                  </a:glow>
                </a:effectLst>
              </a:rPr>
              <a:t>Programming Language Learning</a:t>
            </a:r>
          </a:p>
          <a:p>
            <a:r>
              <a:rPr lang="en-IN" sz="2600" dirty="0">
                <a:effectLst>
                  <a:glow rad="38100">
                    <a:schemeClr val="bg1">
                      <a:lumMod val="50000"/>
                      <a:lumOff val="50000"/>
                      <a:alpha val="20000"/>
                    </a:schemeClr>
                  </a:glow>
                </a:effectLst>
              </a:rPr>
              <a:t>Coding Practice</a:t>
            </a:r>
          </a:p>
          <a:p>
            <a:r>
              <a:rPr lang="en-IN" sz="2600" dirty="0">
                <a:effectLst>
                  <a:glow rad="38100">
                    <a:schemeClr val="bg1">
                      <a:lumMod val="50000"/>
                      <a:lumOff val="50000"/>
                      <a:alpha val="20000"/>
                    </a:schemeClr>
                  </a:glow>
                </a:effectLst>
              </a:rPr>
              <a:t>Mock Test System</a:t>
            </a:r>
          </a:p>
          <a:p>
            <a:r>
              <a:rPr lang="en-IN" sz="2600" dirty="0">
                <a:effectLst>
                  <a:glow rad="38100">
                    <a:schemeClr val="bg1">
                      <a:lumMod val="50000"/>
                      <a:lumOff val="50000"/>
                      <a:alpha val="20000"/>
                    </a:schemeClr>
                  </a:glow>
                </a:effectLst>
              </a:rPr>
              <a:t>Company-Specific Preparation</a:t>
            </a:r>
          </a:p>
          <a:p>
            <a:r>
              <a:rPr lang="en-IN" sz="2600" dirty="0">
                <a:effectLst>
                  <a:glow rad="38100">
                    <a:schemeClr val="bg1">
                      <a:lumMod val="50000"/>
                      <a:lumOff val="50000"/>
                      <a:alpha val="20000"/>
                    </a:schemeClr>
                  </a:glow>
                </a:effectLst>
              </a:rPr>
              <a:t>Resume Scanner</a:t>
            </a:r>
          </a:p>
          <a:p>
            <a:r>
              <a:rPr lang="en-IN" sz="2600" dirty="0">
                <a:effectLst>
                  <a:glow rad="38100">
                    <a:schemeClr val="bg1">
                      <a:lumMod val="50000"/>
                      <a:lumOff val="50000"/>
                      <a:alpha val="20000"/>
                    </a:schemeClr>
                  </a:glow>
                </a:effectLst>
              </a:rPr>
              <a:t>AI-Assisted Preparation</a:t>
            </a:r>
          </a:p>
          <a:p>
            <a:r>
              <a:rPr lang="en-IN" sz="2600" dirty="0">
                <a:effectLst>
                  <a:glow rad="38100">
                    <a:schemeClr val="bg1">
                      <a:lumMod val="50000"/>
                      <a:lumOff val="50000"/>
                      <a:alpha val="20000"/>
                    </a:schemeClr>
                  </a:glow>
                </a:effectLst>
              </a:rPr>
              <a:t>Progress Tracking</a:t>
            </a:r>
          </a:p>
          <a:p>
            <a:r>
              <a:rPr lang="en-IN" sz="2600" dirty="0">
                <a:effectLst>
                  <a:glow rad="38100">
                    <a:schemeClr val="bg1">
                      <a:lumMod val="50000"/>
                      <a:lumOff val="50000"/>
                      <a:alpha val="20000"/>
                    </a:schemeClr>
                  </a:glow>
                </a:effectLst>
              </a:rPr>
              <a:t>Performance Analysis</a:t>
            </a:r>
          </a:p>
          <a:p>
            <a:r>
              <a:rPr lang="en-IN" sz="2600" dirty="0">
                <a:effectLst>
                  <a:glow rad="38100">
                    <a:schemeClr val="bg1">
                      <a:lumMod val="50000"/>
                      <a:lumOff val="50000"/>
                      <a:alpha val="20000"/>
                    </a:schemeClr>
                  </a:glow>
                </a:effectLst>
              </a:rPr>
              <a:t>Dynamic Content Management</a:t>
            </a:r>
          </a:p>
          <a:p>
            <a:r>
              <a:rPr lang="en-IN" sz="2600" dirty="0">
                <a:effectLst>
                  <a:glow rad="38100">
                    <a:schemeClr val="bg1">
                      <a:lumMod val="50000"/>
                      <a:lumOff val="50000"/>
                      <a:alpha val="20000"/>
                    </a:schemeClr>
                  </a:glow>
                </a:effectLst>
              </a:rPr>
              <a:t>Secure User Management</a:t>
            </a:r>
          </a:p>
          <a:p>
            <a:r>
              <a:rPr lang="en-IN" sz="2600" dirty="0">
                <a:effectLst>
                  <a:glow rad="38100">
                    <a:schemeClr val="bg1">
                      <a:lumMod val="50000"/>
                      <a:lumOff val="50000"/>
                      <a:alpha val="20000"/>
                    </a:schemeClr>
                  </a:glow>
                </a:effectLst>
              </a:rPr>
              <a:t>Improve Placement Readiness</a:t>
            </a:r>
          </a:p>
          <a:p>
            <a:pPr marL="0" indent="0">
              <a:buNone/>
            </a:pPr>
            <a:endParaRPr lang="en-IN" sz="2500" dirty="0"/>
          </a:p>
        </p:txBody>
      </p:sp>
    </p:spTree>
    <p:extLst>
      <p:ext uri="{BB962C8B-B14F-4D97-AF65-F5344CB8AC3E}">
        <p14:creationId xmlns:p14="http://schemas.microsoft.com/office/powerpoint/2010/main" val="2483080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449A60-DA1E-8F71-3181-EB6D82946A59}"/>
              </a:ext>
            </a:extLst>
          </p:cNvPr>
          <p:cNvSpPr>
            <a:spLocks noGrp="1"/>
          </p:cNvSpPr>
          <p:nvPr>
            <p:ph idx="1"/>
          </p:nvPr>
        </p:nvSpPr>
        <p:spPr>
          <a:xfrm>
            <a:off x="1218883" y="188640"/>
            <a:ext cx="10360501" cy="6552728"/>
          </a:xfrm>
        </p:spPr>
        <p:txBody>
          <a:bodyPr>
            <a:normAutofit fontScale="77500" lnSpcReduction="20000"/>
          </a:bodyPr>
          <a:lstStyle/>
          <a:p>
            <a:pPr>
              <a:buFont typeface="Wingdings" panose="05000000000000000000" pitchFamily="2" charset="2"/>
              <a:buChar char="v"/>
            </a:pPr>
            <a:r>
              <a:rPr lang="en-IN" sz="2500" b="1" dirty="0"/>
              <a:t> 2.4 Scope of the System :</a:t>
            </a:r>
            <a:endParaRPr lang="en-IN" sz="2500" dirty="0"/>
          </a:p>
          <a:p>
            <a:r>
              <a:rPr lang="en-IN" sz="2400" b="1" dirty="0"/>
              <a:t>A. In-Scope Modules &amp; Features</a:t>
            </a:r>
          </a:p>
          <a:p>
            <a:endParaRPr lang="en-IN" sz="2400" b="1" dirty="0"/>
          </a:p>
          <a:p>
            <a:pPr lvl="0"/>
            <a:r>
              <a:rPr lang="en-IN" sz="2100" b="1" dirty="0"/>
              <a:t>User Authentication</a:t>
            </a:r>
            <a:br>
              <a:rPr lang="en-IN" sz="2100" dirty="0"/>
            </a:br>
            <a:r>
              <a:rPr lang="en-IN" sz="2100" dirty="0"/>
              <a:t>Students and administrators can securely register, log in, log out, and manage their profiles using role-based authentication. </a:t>
            </a:r>
          </a:p>
          <a:p>
            <a:pPr lvl="0"/>
            <a:r>
              <a:rPr lang="en-IN" sz="2100" b="1" dirty="0"/>
              <a:t>Student Dashboard</a:t>
            </a:r>
            <a:br>
              <a:rPr lang="en-IN" sz="2100" dirty="0"/>
            </a:br>
            <a:r>
              <a:rPr lang="en-IN" sz="2100" dirty="0"/>
              <a:t>Students can view their placement readiness score, daily progress, study streak, completed topics, recent activities, and upcoming tests. </a:t>
            </a:r>
          </a:p>
          <a:p>
            <a:pPr lvl="0"/>
            <a:r>
              <a:rPr lang="en-IN" sz="2100" b="1" dirty="0"/>
              <a:t>Aptitude Preparation</a:t>
            </a:r>
            <a:br>
              <a:rPr lang="en-IN" sz="2100" dirty="0"/>
            </a:br>
            <a:r>
              <a:rPr lang="en-IN" sz="2100" dirty="0"/>
              <a:t>The system provides aptitude notes, examples, MCQs, quizzes, mock tests, timers, results, and performance analysis. </a:t>
            </a:r>
          </a:p>
          <a:p>
            <a:pPr lvl="0"/>
            <a:r>
              <a:rPr lang="en-IN" sz="2100" b="1" dirty="0"/>
              <a:t>Reasoning Preparation</a:t>
            </a:r>
            <a:br>
              <a:rPr lang="en-IN" sz="2100" dirty="0"/>
            </a:br>
            <a:r>
              <a:rPr lang="en-IN" sz="2100" dirty="0"/>
              <a:t>Students can study reasoning topics, practice questions, attempt quizzes, and track their performance. </a:t>
            </a:r>
          </a:p>
          <a:p>
            <a:pPr lvl="0"/>
            <a:r>
              <a:rPr lang="en-IN" sz="2100" b="1" dirty="0"/>
              <a:t>English Preparation</a:t>
            </a:r>
            <a:br>
              <a:rPr lang="en-IN" sz="2100" dirty="0"/>
            </a:br>
            <a:r>
              <a:rPr lang="en-IN" sz="2100" dirty="0"/>
              <a:t>The portal provides English topics such as grammar, vocabulary, reading comprehension, sentence correction, and practice tests. </a:t>
            </a:r>
          </a:p>
          <a:p>
            <a:pPr lvl="0"/>
            <a:r>
              <a:rPr lang="en-IN" sz="2100" b="1" dirty="0"/>
              <a:t>Programming Language Learning</a:t>
            </a:r>
            <a:br>
              <a:rPr lang="en-IN" sz="2100" dirty="0"/>
            </a:br>
            <a:r>
              <a:rPr lang="en-IN" sz="2100" dirty="0"/>
              <a:t>Students can learn programming languages through notes, syntax, examples, programs, MCQs, and interview questions. </a:t>
            </a:r>
          </a:p>
          <a:p>
            <a:pPr lvl="0"/>
            <a:r>
              <a:rPr lang="en-IN" sz="2100" b="1" dirty="0"/>
              <a:t>Coding Practice</a:t>
            </a:r>
            <a:br>
              <a:rPr lang="en-IN" sz="2100" dirty="0"/>
            </a:br>
            <a:r>
              <a:rPr lang="en-IN" sz="2100" dirty="0"/>
              <a:t>The system provides coding problems based on topics and difficulty levels such as Easy, Medium, and Hard. </a:t>
            </a:r>
          </a:p>
          <a:p>
            <a:endParaRPr lang="en-IN" dirty="0"/>
          </a:p>
        </p:txBody>
      </p:sp>
    </p:spTree>
    <p:extLst>
      <p:ext uri="{BB962C8B-B14F-4D97-AF65-F5344CB8AC3E}">
        <p14:creationId xmlns:p14="http://schemas.microsoft.com/office/powerpoint/2010/main" val="232772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905E-9D3B-CC95-956B-29A831FBF720}"/>
              </a:ext>
            </a:extLst>
          </p:cNvPr>
          <p:cNvSpPr>
            <a:spLocks noGrp="1"/>
          </p:cNvSpPr>
          <p:nvPr>
            <p:ph type="title"/>
          </p:nvPr>
        </p:nvSpPr>
        <p:spPr/>
        <p:txBody>
          <a:bodyPr>
            <a:normAutofit/>
          </a:bodyPr>
          <a:lstStyle/>
          <a:p>
            <a:r>
              <a:rPr lang="en-IN" sz="800" dirty="0"/>
              <a:t>.</a:t>
            </a:r>
          </a:p>
        </p:txBody>
      </p:sp>
      <p:sp>
        <p:nvSpPr>
          <p:cNvPr id="3" name="Content Placeholder 2">
            <a:extLst>
              <a:ext uri="{FF2B5EF4-FFF2-40B4-BE49-F238E27FC236}">
                <a16:creationId xmlns:a16="http://schemas.microsoft.com/office/drawing/2014/main" id="{BB2912B0-BF9A-F674-B034-8D99A5FA96D0}"/>
              </a:ext>
            </a:extLst>
          </p:cNvPr>
          <p:cNvSpPr>
            <a:spLocks noGrp="1"/>
          </p:cNvSpPr>
          <p:nvPr>
            <p:ph idx="1"/>
          </p:nvPr>
        </p:nvSpPr>
        <p:spPr>
          <a:xfrm>
            <a:off x="1141116" y="609600"/>
            <a:ext cx="9903418" cy="5915744"/>
          </a:xfrm>
        </p:spPr>
        <p:txBody>
          <a:bodyPr>
            <a:normAutofit fontScale="92500" lnSpcReduction="20000"/>
          </a:bodyPr>
          <a:lstStyle/>
          <a:p>
            <a:pPr lvl="0"/>
            <a:r>
              <a:rPr lang="en-IN" sz="2000" b="1" dirty="0"/>
              <a:t>Company-Specific Preparation</a:t>
            </a:r>
            <a:br>
              <a:rPr lang="en-IN" sz="2000" dirty="0"/>
            </a:br>
            <a:r>
              <a:rPr lang="en-IN" sz="2000" dirty="0"/>
              <a:t>Students can access selection processes, aptitude, coding, technical, and HR questions for different companies. </a:t>
            </a:r>
          </a:p>
          <a:p>
            <a:pPr lvl="0"/>
            <a:r>
              <a:rPr lang="en-IN" sz="2000" b="1" dirty="0"/>
              <a:t>Mock Test System</a:t>
            </a:r>
            <a:br>
              <a:rPr lang="en-IN" sz="2000" dirty="0"/>
            </a:br>
            <a:r>
              <a:rPr lang="en-IN" sz="2000" dirty="0"/>
              <a:t>The system conducts Aptitude, Reasoning, English, Coding, and Mixed Placement Tests with timers and result analysis. </a:t>
            </a:r>
          </a:p>
          <a:p>
            <a:pPr lvl="0"/>
            <a:r>
              <a:rPr lang="en-IN" sz="2000" b="1" dirty="0"/>
              <a:t>Resume Scanner</a:t>
            </a:r>
            <a:br>
              <a:rPr lang="en-IN" sz="2000" dirty="0"/>
            </a:br>
            <a:r>
              <a:rPr lang="en-IN" sz="2000" dirty="0"/>
              <a:t>Students can upload their resumes and receive analysis, identified skills, missing information, and improvement suggestions. </a:t>
            </a:r>
          </a:p>
          <a:p>
            <a:pPr lvl="0"/>
            <a:r>
              <a:rPr lang="en-IN" sz="2000" b="1" dirty="0"/>
              <a:t>AI-Based Features</a:t>
            </a:r>
            <a:br>
              <a:rPr lang="en-IN" sz="2000" dirty="0"/>
            </a:br>
            <a:r>
              <a:rPr lang="en-IN" sz="2000" dirty="0"/>
              <a:t>The system supports AI-assisted resume review, interview questions, skill gap analysis, learning roadmaps, and career suggestions. </a:t>
            </a:r>
          </a:p>
          <a:p>
            <a:pPr lvl="0"/>
            <a:r>
              <a:rPr lang="en-IN" sz="2000" b="1" dirty="0"/>
              <a:t>Progress Tracking and Analytics</a:t>
            </a:r>
            <a:br>
              <a:rPr lang="en-IN" sz="2000" dirty="0"/>
            </a:br>
            <a:r>
              <a:rPr lang="en-IN" sz="2000" dirty="0"/>
              <a:t>Students can track their learning progress, test history, subject-wise performance, and placement readiness. </a:t>
            </a:r>
          </a:p>
          <a:p>
            <a:pPr lvl="0"/>
            <a:r>
              <a:rPr lang="en-IN" sz="2000" b="1" dirty="0"/>
              <a:t>Bookmark and Notification System</a:t>
            </a:r>
            <a:br>
              <a:rPr lang="en-IN" sz="2000" dirty="0"/>
            </a:br>
            <a:r>
              <a:rPr lang="en-IN" sz="2000" dirty="0"/>
              <a:t>Students can save important content and receive notifications related to tests and preparation activities. </a:t>
            </a:r>
          </a:p>
          <a:p>
            <a:pPr lvl="0"/>
            <a:r>
              <a:rPr lang="en-IN" sz="2000" b="1" dirty="0"/>
              <a:t>Admin Panel</a:t>
            </a:r>
            <a:br>
              <a:rPr lang="en-IN" sz="2000" dirty="0"/>
            </a:br>
            <a:r>
              <a:rPr lang="en-IN" sz="2000" dirty="0"/>
              <a:t>Administrators can manage students, notes, questions, coding problems, companies, mock tests, results, reports, and analytics.</a:t>
            </a:r>
          </a:p>
          <a:p>
            <a:endParaRPr lang="en-IN" dirty="0"/>
          </a:p>
        </p:txBody>
      </p:sp>
    </p:spTree>
    <p:extLst>
      <p:ext uri="{BB962C8B-B14F-4D97-AF65-F5344CB8AC3E}">
        <p14:creationId xmlns:p14="http://schemas.microsoft.com/office/powerpoint/2010/main" val="103448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322D4-3E82-5121-CB65-39282AE45F0E}"/>
              </a:ext>
            </a:extLst>
          </p:cNvPr>
          <p:cNvSpPr>
            <a:spLocks noGrp="1"/>
          </p:cNvSpPr>
          <p:nvPr>
            <p:ph idx="1"/>
          </p:nvPr>
        </p:nvSpPr>
        <p:spPr>
          <a:xfrm>
            <a:off x="1197868" y="945341"/>
            <a:ext cx="10360501" cy="4967317"/>
          </a:xfrm>
        </p:spPr>
        <p:txBody>
          <a:bodyPr>
            <a:normAutofit fontScale="85000" lnSpcReduction="10000"/>
          </a:bodyPr>
          <a:lstStyle/>
          <a:p>
            <a:pPr marL="0" indent="0">
              <a:buNone/>
            </a:pPr>
            <a:r>
              <a:rPr lang="en-IN" sz="2400" b="1" dirty="0"/>
              <a:t>B. Out-of-Scope / Future Boundaries</a:t>
            </a:r>
          </a:p>
          <a:p>
            <a:pPr marL="0" indent="0">
              <a:buNone/>
            </a:pPr>
            <a:endParaRPr lang="en-IN" sz="2400" b="1" dirty="0"/>
          </a:p>
          <a:p>
            <a:r>
              <a:rPr lang="en-IN" sz="2100" dirty="0"/>
              <a:t>The following features are not included in the current version but can be implemented in future:</a:t>
            </a:r>
          </a:p>
          <a:p>
            <a:pPr lvl="0"/>
            <a:r>
              <a:rPr lang="en-IN" sz="2100" b="1" dirty="0"/>
              <a:t>Live Video Mock Interviews</a:t>
            </a:r>
            <a:r>
              <a:rPr lang="en-IN" sz="2100" dirty="0"/>
              <a:t> </a:t>
            </a:r>
          </a:p>
          <a:p>
            <a:pPr lvl="0"/>
            <a:r>
              <a:rPr lang="en-IN" sz="2100" b="1" dirty="0"/>
              <a:t>Real-Time Online Code Compiler</a:t>
            </a:r>
            <a:r>
              <a:rPr lang="en-IN" sz="2100" dirty="0"/>
              <a:t> </a:t>
            </a:r>
          </a:p>
          <a:p>
            <a:pPr lvl="0"/>
            <a:r>
              <a:rPr lang="en-IN" sz="2100" b="1" dirty="0"/>
              <a:t>Native Android and iOS Mobile Application</a:t>
            </a:r>
            <a:r>
              <a:rPr lang="en-IN" sz="2100" dirty="0"/>
              <a:t> </a:t>
            </a:r>
          </a:p>
          <a:p>
            <a:pPr lvl="0"/>
            <a:r>
              <a:rPr lang="en-IN" sz="2100" b="1" dirty="0"/>
              <a:t>Direct Job Application and Recruitment System</a:t>
            </a:r>
            <a:r>
              <a:rPr lang="en-IN" sz="2100" dirty="0"/>
              <a:t> </a:t>
            </a:r>
          </a:p>
          <a:p>
            <a:pPr lvl="0"/>
            <a:r>
              <a:rPr lang="en-IN" sz="2100" b="1" dirty="0"/>
              <a:t>Direct Integration with College Placement Cell</a:t>
            </a:r>
            <a:r>
              <a:rPr lang="en-IN" sz="2100" dirty="0"/>
              <a:t> </a:t>
            </a:r>
          </a:p>
          <a:p>
            <a:pPr lvl="0"/>
            <a:r>
              <a:rPr lang="en-IN" sz="2100" b="1" dirty="0"/>
              <a:t>Advanced AI Virtual Interviewer</a:t>
            </a:r>
            <a:r>
              <a:rPr lang="en-IN" sz="2100" dirty="0"/>
              <a:t> </a:t>
            </a:r>
          </a:p>
          <a:p>
            <a:pPr lvl="0"/>
            <a:r>
              <a:rPr lang="en-IN" sz="2100" b="1" dirty="0"/>
              <a:t>Real-Time Chat Between Students and Recruiters</a:t>
            </a:r>
            <a:r>
              <a:rPr lang="en-IN" sz="2100" dirty="0"/>
              <a:t> </a:t>
            </a:r>
          </a:p>
          <a:p>
            <a:pPr lvl="0"/>
            <a:r>
              <a:rPr lang="en-IN" sz="2100" b="1" dirty="0"/>
              <a:t>Online Proctoring During Mock Tests</a:t>
            </a:r>
            <a:r>
              <a:rPr lang="en-IN" sz="2100" dirty="0"/>
              <a:t> </a:t>
            </a:r>
          </a:p>
          <a:p>
            <a:pPr lvl="0"/>
            <a:r>
              <a:rPr lang="en-IN" sz="2100" b="1" dirty="0"/>
              <a:t>Integration with External Job Portals</a:t>
            </a:r>
            <a:r>
              <a:rPr lang="en-IN" sz="2100" dirty="0"/>
              <a:t> </a:t>
            </a:r>
          </a:p>
          <a:p>
            <a:pPr lvl="0"/>
            <a:r>
              <a:rPr lang="en-IN" sz="2100" b="1" dirty="0"/>
              <a:t>Advanced Multilingual Support</a:t>
            </a:r>
            <a:endParaRPr lang="en-IN" sz="2100" dirty="0"/>
          </a:p>
        </p:txBody>
      </p:sp>
    </p:spTree>
    <p:extLst>
      <p:ext uri="{BB962C8B-B14F-4D97-AF65-F5344CB8AC3E}">
        <p14:creationId xmlns:p14="http://schemas.microsoft.com/office/powerpoint/2010/main" val="211746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54B0B-F18D-6324-3B17-1440AD73AEC2}"/>
              </a:ext>
            </a:extLst>
          </p:cNvPr>
          <p:cNvSpPr>
            <a:spLocks noGrp="1"/>
          </p:cNvSpPr>
          <p:nvPr>
            <p:ph idx="1"/>
          </p:nvPr>
        </p:nvSpPr>
        <p:spPr>
          <a:xfrm>
            <a:off x="1218883" y="116632"/>
            <a:ext cx="10360501" cy="6552728"/>
          </a:xfrm>
        </p:spPr>
        <p:txBody>
          <a:bodyPr>
            <a:noAutofit/>
          </a:bodyPr>
          <a:lstStyle/>
          <a:p>
            <a:pPr>
              <a:buFont typeface="Wingdings" panose="05000000000000000000" pitchFamily="2" charset="2"/>
              <a:buChar char="v"/>
            </a:pPr>
            <a:r>
              <a:rPr lang="en-US" sz="2500" dirty="0"/>
              <a:t> </a:t>
            </a:r>
            <a:r>
              <a:rPr lang="en-US" sz="2500" b="1" dirty="0"/>
              <a:t>Module description :</a:t>
            </a:r>
          </a:p>
          <a:p>
            <a:pPr marL="0" indent="0">
              <a:buNone/>
            </a:pPr>
            <a:endParaRPr lang="en-US" sz="2500" b="1" dirty="0"/>
          </a:p>
          <a:p>
            <a:r>
              <a:rPr lang="en-IN" sz="1600" b="1" dirty="0"/>
              <a:t>1. Authentication Module</a:t>
            </a:r>
          </a:p>
          <a:p>
            <a:r>
              <a:rPr lang="en-IN" sz="1600" dirty="0"/>
              <a:t>This module provides secure registration, login, logout, password management, and profile management for students and administrators. JWT-based authentication and role-based access control are used.</a:t>
            </a:r>
          </a:p>
          <a:p>
            <a:r>
              <a:rPr lang="en-IN" sz="1600" b="1" dirty="0"/>
              <a:t>2. Student Dashboard Module</a:t>
            </a:r>
          </a:p>
          <a:p>
            <a:r>
              <a:rPr lang="en-IN" sz="1600" dirty="0"/>
              <a:t>The dashboard provides students with an overview of their preparation activities, including placement readiness score, daily progress, study streak, completed topics, recent activities, and upcoming tests.</a:t>
            </a:r>
          </a:p>
          <a:p>
            <a:r>
              <a:rPr lang="en-IN" sz="1600" b="1" dirty="0"/>
              <a:t>3. Aptitude Module</a:t>
            </a:r>
          </a:p>
          <a:p>
            <a:r>
              <a:rPr lang="en-IN" sz="1600" dirty="0"/>
              <a:t>This module provides aptitude preparation through topic-wise notes, examples, MCQs, quizzes, and mock tests. Students can view results and </a:t>
            </a:r>
            <a:r>
              <a:rPr lang="en-IN" sz="1600" dirty="0" err="1"/>
              <a:t>analyze</a:t>
            </a:r>
            <a:r>
              <a:rPr lang="en-IN" sz="1600" dirty="0"/>
              <a:t> their performance after completing tests.</a:t>
            </a:r>
          </a:p>
          <a:p>
            <a:r>
              <a:rPr lang="en-IN" sz="1600" b="1" dirty="0"/>
              <a:t>4. Reasoning Module</a:t>
            </a:r>
          </a:p>
          <a:p>
            <a:r>
              <a:rPr lang="en-IN" sz="1600" dirty="0"/>
              <a:t>The Reasoning module helps students prepare logical and analytical reasoning topics such as puzzles, blood relations, directions, seating arrangements, syllogism, and series through notes and practice tests.</a:t>
            </a:r>
          </a:p>
        </p:txBody>
      </p:sp>
    </p:spTree>
    <p:extLst>
      <p:ext uri="{BB962C8B-B14F-4D97-AF65-F5344CB8AC3E}">
        <p14:creationId xmlns:p14="http://schemas.microsoft.com/office/powerpoint/2010/main" val="248242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B70F93-6626-4D8A-2F1C-D4E6C4607221}"/>
              </a:ext>
            </a:extLst>
          </p:cNvPr>
          <p:cNvSpPr>
            <a:spLocks noGrp="1"/>
          </p:cNvSpPr>
          <p:nvPr>
            <p:ph idx="1"/>
          </p:nvPr>
        </p:nvSpPr>
        <p:spPr>
          <a:xfrm>
            <a:off x="1218883" y="188640"/>
            <a:ext cx="10360501" cy="6336704"/>
          </a:xfrm>
        </p:spPr>
        <p:txBody>
          <a:bodyPr>
            <a:normAutofit fontScale="92500"/>
          </a:bodyPr>
          <a:lstStyle/>
          <a:p>
            <a:r>
              <a:rPr lang="en-IN" b="1" dirty="0"/>
              <a:t>5. English Module</a:t>
            </a:r>
          </a:p>
          <a:p>
            <a:r>
              <a:rPr lang="en-IN" dirty="0"/>
              <a:t>This module helps students improve their English and communication skills through grammar, vocabulary, synonyms, antonyms, reading comprehension, sentence correction, and quizzes.</a:t>
            </a:r>
          </a:p>
          <a:p>
            <a:r>
              <a:rPr lang="en-IN" b="1" dirty="0"/>
              <a:t>6. Programming Languages Module</a:t>
            </a:r>
          </a:p>
          <a:p>
            <a:r>
              <a:rPr lang="en-IN" dirty="0"/>
              <a:t>Students can learn programming languages such as C, C++, Java, Python, JavaScript, PHP, SQL, React, Node.js, and MongoDB through notes, syntax, examples, programs, MCQs, and interview questions.</a:t>
            </a:r>
          </a:p>
          <a:p>
            <a:r>
              <a:rPr lang="en-IN" b="1" dirty="0"/>
              <a:t>7. Coding Practice Module</a:t>
            </a:r>
          </a:p>
          <a:p>
            <a:r>
              <a:rPr lang="en-IN" dirty="0"/>
              <a:t>This module provides coding and DSA preparation through topics such as Arrays, Strings, Linked Lists, Stacks, Queues, Trees, Graphs, Sorting, Searching, Recursion, and Dynamic Programming.</a:t>
            </a:r>
          </a:p>
          <a:p>
            <a:r>
              <a:rPr lang="en-IN" b="1" dirty="0"/>
              <a:t>8. Company Preparation Module</a:t>
            </a:r>
          </a:p>
          <a:p>
            <a:r>
              <a:rPr lang="en-IN" dirty="0"/>
              <a:t>Students can prepare for different companies by accessing information about selection processes, aptitude questions, coding questions, technical questions, HR questions, interview experiences, and preparation tips.</a:t>
            </a:r>
          </a:p>
          <a:p>
            <a:r>
              <a:rPr lang="en-IN" b="1" dirty="0"/>
              <a:t>9. Mock Test Module</a:t>
            </a:r>
          </a:p>
          <a:p>
            <a:r>
              <a:rPr lang="en-IN" dirty="0"/>
              <a:t>This module provides different types of timed tests, including Aptitude, Reasoning, English, Coding, and Mixed Placement Tests. It generates detailed results and performance analysis.</a:t>
            </a:r>
          </a:p>
        </p:txBody>
      </p:sp>
    </p:spTree>
    <p:extLst>
      <p:ext uri="{BB962C8B-B14F-4D97-AF65-F5344CB8AC3E}">
        <p14:creationId xmlns:p14="http://schemas.microsoft.com/office/powerpoint/2010/main" val="401950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CFFBF-A382-2511-D635-1BD1A2D660CA}"/>
              </a:ext>
            </a:extLst>
          </p:cNvPr>
          <p:cNvSpPr>
            <a:spLocks noGrp="1"/>
          </p:cNvSpPr>
          <p:nvPr>
            <p:ph idx="1"/>
          </p:nvPr>
        </p:nvSpPr>
        <p:spPr>
          <a:xfrm>
            <a:off x="1218883" y="188640"/>
            <a:ext cx="10360501" cy="6264696"/>
          </a:xfrm>
        </p:spPr>
        <p:txBody>
          <a:bodyPr>
            <a:normAutofit fontScale="92500"/>
          </a:bodyPr>
          <a:lstStyle/>
          <a:p>
            <a:r>
              <a:rPr lang="en-IN" b="1" dirty="0"/>
              <a:t>10. Resume Scanner Module</a:t>
            </a:r>
          </a:p>
          <a:p>
            <a:r>
              <a:rPr lang="en-IN" dirty="0"/>
              <a:t>Students can upload their resumes for analysis. The module identifies skills and missing information and provides suggestions to improve the quality of the resume.</a:t>
            </a:r>
          </a:p>
          <a:p>
            <a:r>
              <a:rPr lang="en-IN" b="1" dirty="0"/>
              <a:t>11. AI Preparation Module</a:t>
            </a:r>
          </a:p>
          <a:p>
            <a:r>
              <a:rPr lang="en-IN" dirty="0"/>
              <a:t>This module provides AI-assisted features such as HR interview questions, technical questions, resume suggestions, skill gap analysis, learning roadmaps, career suggestions, and interview feedback.</a:t>
            </a:r>
          </a:p>
          <a:p>
            <a:r>
              <a:rPr lang="en-IN" b="1" dirty="0"/>
              <a:t>12. Progress and Analytics Module</a:t>
            </a:r>
          </a:p>
          <a:p>
            <a:r>
              <a:rPr lang="en-IN" dirty="0"/>
              <a:t>This module tracks student learning activities, completed topics, test history, scores, accuracy, and overall placement readiness through charts and performance reports.</a:t>
            </a:r>
          </a:p>
          <a:p>
            <a:r>
              <a:rPr lang="en-IN" b="1" dirty="0"/>
              <a:t>13. Bookmark and Notification Module</a:t>
            </a:r>
          </a:p>
          <a:p>
            <a:r>
              <a:rPr lang="en-IN" dirty="0"/>
              <a:t>Students can save important notes, questions, and coding problems for future reference. The notification system provides updates regarding tests and preparation activities.</a:t>
            </a:r>
          </a:p>
          <a:p>
            <a:r>
              <a:rPr lang="en-IN" b="1" dirty="0"/>
              <a:t>14. Admin Panel Module</a:t>
            </a:r>
          </a:p>
          <a:p>
            <a:r>
              <a:rPr lang="en-IN" dirty="0"/>
              <a:t>The Admin Panel allows administrators to manage students, notes, questions, coding problems, companies, mock tests, results, reports, and other system content dynamically.</a:t>
            </a:r>
          </a:p>
        </p:txBody>
      </p:sp>
    </p:spTree>
    <p:extLst>
      <p:ext uri="{BB962C8B-B14F-4D97-AF65-F5344CB8AC3E}">
        <p14:creationId xmlns:p14="http://schemas.microsoft.com/office/powerpoint/2010/main" val="225209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8CC3-03D9-DFF2-F587-CDF54232EC85}"/>
              </a:ext>
            </a:extLst>
          </p:cNvPr>
          <p:cNvSpPr>
            <a:spLocks noGrp="1"/>
          </p:cNvSpPr>
          <p:nvPr>
            <p:ph type="title"/>
          </p:nvPr>
        </p:nvSpPr>
        <p:spPr>
          <a:xfrm>
            <a:off x="1218883" y="274637"/>
            <a:ext cx="10360501" cy="706091"/>
          </a:xfrm>
        </p:spPr>
        <p:txBody>
          <a:bodyPr/>
          <a:lstStyle/>
          <a:p>
            <a:pPr algn="ctr"/>
            <a:r>
              <a:rPr lang="en-US" b="1" dirty="0"/>
              <a:t>3. REVIEW OF LITERATURE</a:t>
            </a:r>
            <a:endParaRPr lang="en-IN" dirty="0"/>
          </a:p>
        </p:txBody>
      </p:sp>
      <p:sp>
        <p:nvSpPr>
          <p:cNvPr id="6" name="Content Placeholder 5">
            <a:extLst>
              <a:ext uri="{FF2B5EF4-FFF2-40B4-BE49-F238E27FC236}">
                <a16:creationId xmlns:a16="http://schemas.microsoft.com/office/drawing/2014/main" id="{6FD0467C-D2EA-4477-47D7-BE1FB83F4FC4}"/>
              </a:ext>
            </a:extLst>
          </p:cNvPr>
          <p:cNvSpPr>
            <a:spLocks noGrp="1"/>
          </p:cNvSpPr>
          <p:nvPr>
            <p:ph idx="1"/>
          </p:nvPr>
        </p:nvSpPr>
        <p:spPr>
          <a:xfrm>
            <a:off x="1218883" y="980728"/>
            <a:ext cx="10360501" cy="5472607"/>
          </a:xfrm>
        </p:spPr>
        <p:txBody>
          <a:bodyPr>
            <a:normAutofit fontScale="92500" lnSpcReduction="20000"/>
          </a:bodyPr>
          <a:lstStyle/>
          <a:p>
            <a:pPr>
              <a:buFont typeface="Wingdings" panose="05000000000000000000" pitchFamily="2" charset="2"/>
              <a:buChar char="v"/>
            </a:pPr>
            <a:r>
              <a:rPr lang="en-IN" sz="2400" b="1" dirty="0"/>
              <a:t> Study &amp; Analysis of Existing Systems :</a:t>
            </a:r>
            <a:endParaRPr lang="en-IN" dirty="0"/>
          </a:p>
          <a:p>
            <a:r>
              <a:rPr lang="en-IN" b="1" dirty="0"/>
              <a:t>1. Aptitude and Reasoning Preparation Systems</a:t>
            </a:r>
          </a:p>
          <a:p>
            <a:r>
              <a:rPr lang="en-IN" dirty="0"/>
              <a:t>Existing platforms provide quantitative aptitude, logical reasoning, verbal ability questions, practice tests, and timed assessments. </a:t>
            </a:r>
          </a:p>
          <a:p>
            <a:r>
              <a:rPr lang="en-IN" b="1" dirty="0"/>
              <a:t>2. Coding Practice Systems</a:t>
            </a:r>
          </a:p>
          <a:p>
            <a:r>
              <a:rPr lang="en-IN" dirty="0"/>
              <a:t>Coding platforms provide programming problems based on topics such as Arrays, Strings, Linked Lists, Trees, Graphs, Sorting, and Dynamic Programming. </a:t>
            </a:r>
          </a:p>
          <a:p>
            <a:r>
              <a:rPr lang="en-IN" b="1" dirty="0"/>
              <a:t>3. Mock Test and Assessment Systems</a:t>
            </a:r>
          </a:p>
          <a:p>
            <a:r>
              <a:rPr lang="en-IN" dirty="0"/>
              <a:t>Existing assessment systems provide timed tests, automatic evaluation, score calculation, and performance analysis. </a:t>
            </a:r>
          </a:p>
          <a:p>
            <a:r>
              <a:rPr lang="en-IN" b="1" dirty="0"/>
              <a:t>4. Company-Specific Preparation Systems</a:t>
            </a:r>
          </a:p>
          <a:p>
            <a:r>
              <a:rPr lang="en-IN" dirty="0"/>
              <a:t>Some modern placement platforms provide company-wise preparation tracks for companies such as TCS, Infosys, Wipro, Accenture, and others. These include company patterns, practice questions, mock tests, and interview preparation. </a:t>
            </a:r>
          </a:p>
          <a:p>
            <a:r>
              <a:rPr lang="en-IN" b="1" dirty="0"/>
              <a:t>5. AI-Based Placement Preparation Systems</a:t>
            </a:r>
          </a:p>
          <a:p>
            <a:r>
              <a:rPr lang="en-IN" dirty="0"/>
              <a:t>AI-based systems are increasingly providing features such as AI mock interviews, interview feedback, skill analysis, personalized learning roadmaps, and resume analysis. </a:t>
            </a:r>
          </a:p>
        </p:txBody>
      </p:sp>
    </p:spTree>
    <p:extLst>
      <p:ext uri="{BB962C8B-B14F-4D97-AF65-F5344CB8AC3E}">
        <p14:creationId xmlns:p14="http://schemas.microsoft.com/office/powerpoint/2010/main" val="33230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3942A-2AF6-31E5-F7E2-A5A1F361BFC6}"/>
              </a:ext>
            </a:extLst>
          </p:cNvPr>
          <p:cNvSpPr>
            <a:spLocks noGrp="1"/>
          </p:cNvSpPr>
          <p:nvPr>
            <p:ph idx="1"/>
          </p:nvPr>
        </p:nvSpPr>
        <p:spPr>
          <a:xfrm>
            <a:off x="1197868" y="908720"/>
            <a:ext cx="10360501" cy="5255349"/>
          </a:xfrm>
        </p:spPr>
        <p:txBody>
          <a:bodyPr/>
          <a:lstStyle/>
          <a:p>
            <a:pPr>
              <a:buFont typeface="Wingdings" panose="05000000000000000000" pitchFamily="2" charset="2"/>
              <a:buChar char="v"/>
            </a:pPr>
            <a:r>
              <a:rPr lang="en-IN" sz="2200" b="1" dirty="0"/>
              <a:t> Comparative Analysis Matrix :</a:t>
            </a:r>
          </a:p>
          <a:p>
            <a:pPr>
              <a:buFont typeface="Wingdings" panose="05000000000000000000" pitchFamily="2" charset="2"/>
              <a:buChar char="v"/>
            </a:pPr>
            <a:endParaRPr lang="en-IN" sz="2200" b="1" dirty="0"/>
          </a:p>
          <a:p>
            <a:pPr>
              <a:buFont typeface="Wingdings" panose="05000000000000000000" pitchFamily="2" charset="2"/>
              <a:buChar char="v"/>
            </a:pPr>
            <a:endParaRPr lang="en-IN" sz="2200" dirty="0"/>
          </a:p>
          <a:p>
            <a:pPr marL="0" indent="0">
              <a:buNone/>
            </a:pPr>
            <a:endParaRPr lang="en-IN" dirty="0"/>
          </a:p>
        </p:txBody>
      </p:sp>
      <p:graphicFrame>
        <p:nvGraphicFramePr>
          <p:cNvPr id="4" name="Table 3">
            <a:extLst>
              <a:ext uri="{FF2B5EF4-FFF2-40B4-BE49-F238E27FC236}">
                <a16:creationId xmlns:a16="http://schemas.microsoft.com/office/drawing/2014/main" id="{0EAB72F8-02A3-D533-2DF0-B84F464271B4}"/>
              </a:ext>
            </a:extLst>
          </p:cNvPr>
          <p:cNvGraphicFramePr>
            <a:graphicFrameLocks noGrp="1"/>
          </p:cNvGraphicFramePr>
          <p:nvPr>
            <p:extLst>
              <p:ext uri="{D42A27DB-BD31-4B8C-83A1-F6EECF244321}">
                <p14:modId xmlns:p14="http://schemas.microsoft.com/office/powerpoint/2010/main" val="452580658"/>
              </p:ext>
            </p:extLst>
          </p:nvPr>
        </p:nvGraphicFramePr>
        <p:xfrm>
          <a:off x="1194394" y="908719"/>
          <a:ext cx="9076482" cy="5073240"/>
        </p:xfrm>
        <a:graphic>
          <a:graphicData uri="http://schemas.openxmlformats.org/drawingml/2006/table">
            <a:tbl>
              <a:tblPr firstRow="1" firstCol="1" bandRow="1">
                <a:tableStyleId>{5C22544A-7EE6-4342-B048-85BDC9FD1C3A}</a:tableStyleId>
              </a:tblPr>
              <a:tblGrid>
                <a:gridCol w="3025494">
                  <a:extLst>
                    <a:ext uri="{9D8B030D-6E8A-4147-A177-3AD203B41FA5}">
                      <a16:colId xmlns:a16="http://schemas.microsoft.com/office/drawing/2014/main" val="676491"/>
                    </a:ext>
                  </a:extLst>
                </a:gridCol>
                <a:gridCol w="3025494">
                  <a:extLst>
                    <a:ext uri="{9D8B030D-6E8A-4147-A177-3AD203B41FA5}">
                      <a16:colId xmlns:a16="http://schemas.microsoft.com/office/drawing/2014/main" val="2540534617"/>
                    </a:ext>
                  </a:extLst>
                </a:gridCol>
                <a:gridCol w="3025494">
                  <a:extLst>
                    <a:ext uri="{9D8B030D-6E8A-4147-A177-3AD203B41FA5}">
                      <a16:colId xmlns:a16="http://schemas.microsoft.com/office/drawing/2014/main" val="2129806815"/>
                    </a:ext>
                  </a:extLst>
                </a:gridCol>
              </a:tblGrid>
              <a:tr h="374510">
                <a:tc>
                  <a:txBody>
                    <a:bodyPr/>
                    <a:lstStyle/>
                    <a:p>
                      <a:pPr>
                        <a:buNone/>
                      </a:pPr>
                      <a:r>
                        <a:rPr lang="en-IN" sz="1600" dirty="0"/>
                        <a:t>Feature</a:t>
                      </a:r>
                    </a:p>
                  </a:txBody>
                  <a:tcPr anchor="ctr"/>
                </a:tc>
                <a:tc>
                  <a:txBody>
                    <a:bodyPr/>
                    <a:lstStyle/>
                    <a:p>
                      <a:pPr>
                        <a:buNone/>
                      </a:pPr>
                      <a:r>
                        <a:rPr lang="en-IN" sz="1600"/>
                        <a:t>Existing Systems</a:t>
                      </a:r>
                    </a:p>
                  </a:txBody>
                  <a:tcPr anchor="ctr"/>
                </a:tc>
                <a:tc>
                  <a:txBody>
                    <a:bodyPr/>
                    <a:lstStyle/>
                    <a:p>
                      <a:pPr>
                        <a:buNone/>
                      </a:pPr>
                      <a:r>
                        <a:rPr lang="en-IN" sz="1600"/>
                        <a:t>Proposed System</a:t>
                      </a:r>
                    </a:p>
                  </a:txBody>
                  <a:tcPr anchor="ctr"/>
                </a:tc>
                <a:extLst>
                  <a:ext uri="{0D108BD9-81ED-4DB2-BD59-A6C34878D82A}">
                    <a16:rowId xmlns:a16="http://schemas.microsoft.com/office/drawing/2014/main" val="3030288283"/>
                  </a:ext>
                </a:extLst>
              </a:tr>
              <a:tr h="374510">
                <a:tc>
                  <a:txBody>
                    <a:bodyPr/>
                    <a:lstStyle/>
                    <a:p>
                      <a:pPr>
                        <a:buNone/>
                      </a:pPr>
                      <a:r>
                        <a:rPr lang="en-IN" sz="1600"/>
                        <a:t>Aptitude Preparation</a:t>
                      </a:r>
                    </a:p>
                  </a:txBody>
                  <a:tcPr anchor="ctr"/>
                </a:tc>
                <a:tc>
                  <a:txBody>
                    <a:bodyPr/>
                    <a:lstStyle/>
                    <a:p>
                      <a:pPr>
                        <a:buNone/>
                      </a:pPr>
                      <a:r>
                        <a:rPr lang="en-IN" sz="1600"/>
                        <a:t>Available</a:t>
                      </a:r>
                    </a:p>
                  </a:txBody>
                  <a:tcPr anchor="ctr"/>
                </a:tc>
                <a:tc>
                  <a:txBody>
                    <a:bodyPr/>
                    <a:lstStyle/>
                    <a:p>
                      <a:pPr>
                        <a:buNone/>
                      </a:pPr>
                      <a:r>
                        <a:rPr lang="en-IN" sz="1600"/>
                        <a:t>Available</a:t>
                      </a:r>
                    </a:p>
                  </a:txBody>
                  <a:tcPr anchor="ctr"/>
                </a:tc>
                <a:extLst>
                  <a:ext uri="{0D108BD9-81ED-4DB2-BD59-A6C34878D82A}">
                    <a16:rowId xmlns:a16="http://schemas.microsoft.com/office/drawing/2014/main" val="367722659"/>
                  </a:ext>
                </a:extLst>
              </a:tr>
              <a:tr h="374510">
                <a:tc>
                  <a:txBody>
                    <a:bodyPr/>
                    <a:lstStyle/>
                    <a:p>
                      <a:pPr>
                        <a:buNone/>
                      </a:pPr>
                      <a:r>
                        <a:rPr lang="en-IN" sz="1600"/>
                        <a:t>Reasoning Preparation</a:t>
                      </a:r>
                    </a:p>
                  </a:txBody>
                  <a:tcPr anchor="ctr"/>
                </a:tc>
                <a:tc>
                  <a:txBody>
                    <a:bodyPr/>
                    <a:lstStyle/>
                    <a:p>
                      <a:pPr>
                        <a:buNone/>
                      </a:pPr>
                      <a:r>
                        <a:rPr lang="en-IN" sz="1600"/>
                        <a:t>Available</a:t>
                      </a:r>
                    </a:p>
                  </a:txBody>
                  <a:tcPr anchor="ctr"/>
                </a:tc>
                <a:tc>
                  <a:txBody>
                    <a:bodyPr/>
                    <a:lstStyle/>
                    <a:p>
                      <a:pPr>
                        <a:buNone/>
                      </a:pPr>
                      <a:r>
                        <a:rPr lang="en-IN" sz="1600" dirty="0"/>
                        <a:t>Available</a:t>
                      </a:r>
                    </a:p>
                  </a:txBody>
                  <a:tcPr anchor="ctr"/>
                </a:tc>
                <a:extLst>
                  <a:ext uri="{0D108BD9-81ED-4DB2-BD59-A6C34878D82A}">
                    <a16:rowId xmlns:a16="http://schemas.microsoft.com/office/drawing/2014/main" val="34642466"/>
                  </a:ext>
                </a:extLst>
              </a:tr>
              <a:tr h="374510">
                <a:tc>
                  <a:txBody>
                    <a:bodyPr/>
                    <a:lstStyle/>
                    <a:p>
                      <a:pPr>
                        <a:buNone/>
                      </a:pPr>
                      <a:r>
                        <a:rPr lang="en-IN" sz="1600"/>
                        <a:t>English Preparation</a:t>
                      </a:r>
                    </a:p>
                  </a:txBody>
                  <a:tcPr anchor="ctr"/>
                </a:tc>
                <a:tc>
                  <a:txBody>
                    <a:bodyPr/>
                    <a:lstStyle/>
                    <a:p>
                      <a:pPr>
                        <a:buNone/>
                      </a:pPr>
                      <a:r>
                        <a:rPr lang="en-IN" sz="1600"/>
                        <a:t>Available</a:t>
                      </a:r>
                    </a:p>
                  </a:txBody>
                  <a:tcPr anchor="ctr"/>
                </a:tc>
                <a:tc>
                  <a:txBody>
                    <a:bodyPr/>
                    <a:lstStyle/>
                    <a:p>
                      <a:pPr>
                        <a:buNone/>
                      </a:pPr>
                      <a:r>
                        <a:rPr lang="en-IN" sz="1600"/>
                        <a:t>Available</a:t>
                      </a:r>
                    </a:p>
                  </a:txBody>
                  <a:tcPr anchor="ctr"/>
                </a:tc>
                <a:extLst>
                  <a:ext uri="{0D108BD9-81ED-4DB2-BD59-A6C34878D82A}">
                    <a16:rowId xmlns:a16="http://schemas.microsoft.com/office/drawing/2014/main" val="2487340065"/>
                  </a:ext>
                </a:extLst>
              </a:tr>
              <a:tr h="374510">
                <a:tc>
                  <a:txBody>
                    <a:bodyPr/>
                    <a:lstStyle/>
                    <a:p>
                      <a:pPr>
                        <a:buNone/>
                      </a:pPr>
                      <a:r>
                        <a:rPr lang="en-IN" sz="1600"/>
                        <a:t>Programming Notes</a:t>
                      </a:r>
                    </a:p>
                  </a:txBody>
                  <a:tcPr anchor="ctr"/>
                </a:tc>
                <a:tc>
                  <a:txBody>
                    <a:bodyPr/>
                    <a:lstStyle/>
                    <a:p>
                      <a:pPr>
                        <a:buNone/>
                      </a:pPr>
                      <a:r>
                        <a:rPr lang="en-IN" sz="1600"/>
                        <a:t>Limited / Separate</a:t>
                      </a:r>
                    </a:p>
                  </a:txBody>
                  <a:tcPr anchor="ctr"/>
                </a:tc>
                <a:tc>
                  <a:txBody>
                    <a:bodyPr/>
                    <a:lstStyle/>
                    <a:p>
                      <a:pPr>
                        <a:buNone/>
                      </a:pPr>
                      <a:r>
                        <a:rPr lang="en-IN" sz="1600" dirty="0"/>
                        <a:t>Integrated</a:t>
                      </a:r>
                    </a:p>
                  </a:txBody>
                  <a:tcPr anchor="ctr"/>
                </a:tc>
                <a:extLst>
                  <a:ext uri="{0D108BD9-81ED-4DB2-BD59-A6C34878D82A}">
                    <a16:rowId xmlns:a16="http://schemas.microsoft.com/office/drawing/2014/main" val="1937131677"/>
                  </a:ext>
                </a:extLst>
              </a:tr>
              <a:tr h="374510">
                <a:tc>
                  <a:txBody>
                    <a:bodyPr/>
                    <a:lstStyle/>
                    <a:p>
                      <a:pPr>
                        <a:buNone/>
                      </a:pPr>
                      <a:r>
                        <a:rPr lang="en-IN" sz="1600"/>
                        <a:t>Coding Practice</a:t>
                      </a:r>
                    </a:p>
                  </a:txBody>
                  <a:tcPr anchor="ctr"/>
                </a:tc>
                <a:tc>
                  <a:txBody>
                    <a:bodyPr/>
                    <a:lstStyle/>
                    <a:p>
                      <a:pPr>
                        <a:buNone/>
                      </a:pPr>
                      <a:r>
                        <a:rPr lang="en-IN" sz="1600" dirty="0"/>
                        <a:t>Available</a:t>
                      </a:r>
                    </a:p>
                  </a:txBody>
                  <a:tcPr anchor="ctr"/>
                </a:tc>
                <a:tc>
                  <a:txBody>
                    <a:bodyPr/>
                    <a:lstStyle/>
                    <a:p>
                      <a:pPr>
                        <a:buNone/>
                      </a:pPr>
                      <a:r>
                        <a:rPr lang="en-IN" sz="1600"/>
                        <a:t>Available</a:t>
                      </a:r>
                    </a:p>
                  </a:txBody>
                  <a:tcPr anchor="ctr"/>
                </a:tc>
                <a:extLst>
                  <a:ext uri="{0D108BD9-81ED-4DB2-BD59-A6C34878D82A}">
                    <a16:rowId xmlns:a16="http://schemas.microsoft.com/office/drawing/2014/main" val="827549412"/>
                  </a:ext>
                </a:extLst>
              </a:tr>
              <a:tr h="374510">
                <a:tc>
                  <a:txBody>
                    <a:bodyPr/>
                    <a:lstStyle/>
                    <a:p>
                      <a:pPr>
                        <a:buNone/>
                      </a:pPr>
                      <a:r>
                        <a:rPr lang="en-IN" sz="1600"/>
                        <a:t>Mock Tests</a:t>
                      </a:r>
                    </a:p>
                  </a:txBody>
                  <a:tcPr anchor="ctr"/>
                </a:tc>
                <a:tc>
                  <a:txBody>
                    <a:bodyPr/>
                    <a:lstStyle/>
                    <a:p>
                      <a:pPr>
                        <a:buNone/>
                      </a:pPr>
                      <a:r>
                        <a:rPr lang="en-IN" sz="1600"/>
                        <a:t>Available</a:t>
                      </a:r>
                    </a:p>
                  </a:txBody>
                  <a:tcPr anchor="ctr"/>
                </a:tc>
                <a:tc>
                  <a:txBody>
                    <a:bodyPr/>
                    <a:lstStyle/>
                    <a:p>
                      <a:pPr>
                        <a:buNone/>
                      </a:pPr>
                      <a:r>
                        <a:rPr lang="en-IN" sz="1600"/>
                        <a:t>Available</a:t>
                      </a:r>
                    </a:p>
                  </a:txBody>
                  <a:tcPr anchor="ctr"/>
                </a:tc>
                <a:extLst>
                  <a:ext uri="{0D108BD9-81ED-4DB2-BD59-A6C34878D82A}">
                    <a16:rowId xmlns:a16="http://schemas.microsoft.com/office/drawing/2014/main" val="1613051037"/>
                  </a:ext>
                </a:extLst>
              </a:tr>
              <a:tr h="374510">
                <a:tc>
                  <a:txBody>
                    <a:bodyPr/>
                    <a:lstStyle/>
                    <a:p>
                      <a:pPr>
                        <a:buNone/>
                      </a:pPr>
                      <a:r>
                        <a:rPr lang="en-IN" sz="1600"/>
                        <a:t>Company Preparation</a:t>
                      </a:r>
                    </a:p>
                  </a:txBody>
                  <a:tcPr anchor="ctr"/>
                </a:tc>
                <a:tc>
                  <a:txBody>
                    <a:bodyPr/>
                    <a:lstStyle/>
                    <a:p>
                      <a:pPr>
                        <a:buNone/>
                      </a:pPr>
                      <a:r>
                        <a:rPr lang="en-IN" sz="1600"/>
                        <a:t>Available in some platforms</a:t>
                      </a:r>
                    </a:p>
                  </a:txBody>
                  <a:tcPr anchor="ctr"/>
                </a:tc>
                <a:tc>
                  <a:txBody>
                    <a:bodyPr/>
                    <a:lstStyle/>
                    <a:p>
                      <a:pPr>
                        <a:buNone/>
                      </a:pPr>
                      <a:r>
                        <a:rPr lang="en-IN" sz="1600"/>
                        <a:t>Integrated</a:t>
                      </a:r>
                    </a:p>
                  </a:txBody>
                  <a:tcPr anchor="ctr"/>
                </a:tc>
                <a:extLst>
                  <a:ext uri="{0D108BD9-81ED-4DB2-BD59-A6C34878D82A}">
                    <a16:rowId xmlns:a16="http://schemas.microsoft.com/office/drawing/2014/main" val="1194677707"/>
                  </a:ext>
                </a:extLst>
              </a:tr>
              <a:tr h="374510">
                <a:tc>
                  <a:txBody>
                    <a:bodyPr/>
                    <a:lstStyle/>
                    <a:p>
                      <a:pPr>
                        <a:buNone/>
                      </a:pPr>
                      <a:r>
                        <a:rPr lang="en-IN" sz="1600"/>
                        <a:t>Resume Analysis</a:t>
                      </a:r>
                    </a:p>
                  </a:txBody>
                  <a:tcPr anchor="ctr"/>
                </a:tc>
                <a:tc>
                  <a:txBody>
                    <a:bodyPr/>
                    <a:lstStyle/>
                    <a:p>
                      <a:pPr>
                        <a:buNone/>
                      </a:pPr>
                      <a:r>
                        <a:rPr lang="en-IN" sz="1600"/>
                        <a:t>Available in some platforms</a:t>
                      </a:r>
                    </a:p>
                  </a:txBody>
                  <a:tcPr anchor="ctr"/>
                </a:tc>
                <a:tc>
                  <a:txBody>
                    <a:bodyPr/>
                    <a:lstStyle/>
                    <a:p>
                      <a:pPr>
                        <a:buNone/>
                      </a:pPr>
                      <a:r>
                        <a:rPr lang="en-IN" sz="1600"/>
                        <a:t>Resume Scanner</a:t>
                      </a:r>
                    </a:p>
                  </a:txBody>
                  <a:tcPr anchor="ctr"/>
                </a:tc>
                <a:extLst>
                  <a:ext uri="{0D108BD9-81ED-4DB2-BD59-A6C34878D82A}">
                    <a16:rowId xmlns:a16="http://schemas.microsoft.com/office/drawing/2014/main" val="2816639068"/>
                  </a:ext>
                </a:extLst>
              </a:tr>
              <a:tr h="374510">
                <a:tc>
                  <a:txBody>
                    <a:bodyPr/>
                    <a:lstStyle/>
                    <a:p>
                      <a:pPr>
                        <a:buNone/>
                      </a:pPr>
                      <a:r>
                        <a:rPr lang="en-IN" sz="1600"/>
                        <a:t>AI Interview Preparation</a:t>
                      </a:r>
                    </a:p>
                  </a:txBody>
                  <a:tcPr anchor="ctr"/>
                </a:tc>
                <a:tc>
                  <a:txBody>
                    <a:bodyPr/>
                    <a:lstStyle/>
                    <a:p>
                      <a:pPr>
                        <a:buNone/>
                      </a:pPr>
                      <a:r>
                        <a:rPr lang="en-IN" sz="1600"/>
                        <a:t>Available in some platforms</a:t>
                      </a:r>
                    </a:p>
                  </a:txBody>
                  <a:tcPr anchor="ctr"/>
                </a:tc>
                <a:tc>
                  <a:txBody>
                    <a:bodyPr/>
                    <a:lstStyle/>
                    <a:p>
                      <a:pPr>
                        <a:buNone/>
                      </a:pPr>
                      <a:r>
                        <a:rPr lang="en-IN" sz="1600"/>
                        <a:t>AI Module</a:t>
                      </a:r>
                    </a:p>
                  </a:txBody>
                  <a:tcPr anchor="ctr"/>
                </a:tc>
                <a:extLst>
                  <a:ext uri="{0D108BD9-81ED-4DB2-BD59-A6C34878D82A}">
                    <a16:rowId xmlns:a16="http://schemas.microsoft.com/office/drawing/2014/main" val="1814343756"/>
                  </a:ext>
                </a:extLst>
              </a:tr>
              <a:tr h="374510">
                <a:tc>
                  <a:txBody>
                    <a:bodyPr/>
                    <a:lstStyle/>
                    <a:p>
                      <a:pPr>
                        <a:buNone/>
                      </a:pPr>
                      <a:r>
                        <a:rPr lang="en-IN" sz="1600"/>
                        <a:t>Progress Tracking</a:t>
                      </a:r>
                    </a:p>
                  </a:txBody>
                  <a:tcPr anchor="ctr"/>
                </a:tc>
                <a:tc>
                  <a:txBody>
                    <a:bodyPr/>
                    <a:lstStyle/>
                    <a:p>
                      <a:pPr>
                        <a:buNone/>
                      </a:pPr>
                      <a:r>
                        <a:rPr lang="en-IN" sz="1600"/>
                        <a:t>Available</a:t>
                      </a:r>
                    </a:p>
                  </a:txBody>
                  <a:tcPr anchor="ctr"/>
                </a:tc>
                <a:tc>
                  <a:txBody>
                    <a:bodyPr/>
                    <a:lstStyle/>
                    <a:p>
                      <a:pPr>
                        <a:buNone/>
                      </a:pPr>
                      <a:r>
                        <a:rPr lang="en-IN" sz="1600"/>
                        <a:t>Advanced Dashboard</a:t>
                      </a:r>
                    </a:p>
                  </a:txBody>
                  <a:tcPr anchor="ctr"/>
                </a:tc>
                <a:extLst>
                  <a:ext uri="{0D108BD9-81ED-4DB2-BD59-A6C34878D82A}">
                    <a16:rowId xmlns:a16="http://schemas.microsoft.com/office/drawing/2014/main" val="1016989691"/>
                  </a:ext>
                </a:extLst>
              </a:tr>
              <a:tr h="374510">
                <a:tc>
                  <a:txBody>
                    <a:bodyPr/>
                    <a:lstStyle/>
                    <a:p>
                      <a:pPr>
                        <a:buNone/>
                      </a:pPr>
                      <a:r>
                        <a:rPr lang="en-IN" sz="1600"/>
                        <a:t>Admin Content Management</a:t>
                      </a:r>
                    </a:p>
                  </a:txBody>
                  <a:tcPr anchor="ctr"/>
                </a:tc>
                <a:tc>
                  <a:txBody>
                    <a:bodyPr/>
                    <a:lstStyle/>
                    <a:p>
                      <a:pPr>
                        <a:buNone/>
                      </a:pPr>
                      <a:r>
                        <a:rPr lang="en-IN" sz="1600"/>
                        <a:t>Limited</a:t>
                      </a:r>
                    </a:p>
                  </a:txBody>
                  <a:tcPr anchor="ctr"/>
                </a:tc>
                <a:tc>
                  <a:txBody>
                    <a:bodyPr/>
                    <a:lstStyle/>
                    <a:p>
                      <a:pPr>
                        <a:buNone/>
                      </a:pPr>
                      <a:r>
                        <a:rPr lang="en-IN" sz="1600"/>
                        <a:t>Complete Admin Panel</a:t>
                      </a:r>
                    </a:p>
                  </a:txBody>
                  <a:tcPr anchor="ctr"/>
                </a:tc>
                <a:extLst>
                  <a:ext uri="{0D108BD9-81ED-4DB2-BD59-A6C34878D82A}">
                    <a16:rowId xmlns:a16="http://schemas.microsoft.com/office/drawing/2014/main" val="1418698889"/>
                  </a:ext>
                </a:extLst>
              </a:tr>
              <a:tr h="374510">
                <a:tc>
                  <a:txBody>
                    <a:bodyPr/>
                    <a:lstStyle/>
                    <a:p>
                      <a:pPr>
                        <a:buNone/>
                      </a:pPr>
                      <a:r>
                        <a:rPr lang="en-IN" sz="1600"/>
                        <a:t>Centralized Platform</a:t>
                      </a:r>
                    </a:p>
                  </a:txBody>
                  <a:tcPr anchor="ctr"/>
                </a:tc>
                <a:tc>
                  <a:txBody>
                    <a:bodyPr/>
                    <a:lstStyle/>
                    <a:p>
                      <a:pPr>
                        <a:buNone/>
                      </a:pPr>
                      <a:r>
                        <a:rPr lang="en-IN" sz="1600"/>
                        <a:t>Partial</a:t>
                      </a:r>
                    </a:p>
                  </a:txBody>
                  <a:tcPr anchor="ctr"/>
                </a:tc>
                <a:tc>
                  <a:txBody>
                    <a:bodyPr/>
                    <a:lstStyle/>
                    <a:p>
                      <a:pPr>
                        <a:buNone/>
                      </a:pPr>
                      <a:r>
                        <a:rPr lang="en-IN" sz="1600" dirty="0"/>
                        <a:t>Complete Integrated System</a:t>
                      </a:r>
                    </a:p>
                  </a:txBody>
                  <a:tcPr anchor="ctr"/>
                </a:tc>
                <a:extLst>
                  <a:ext uri="{0D108BD9-81ED-4DB2-BD59-A6C34878D82A}">
                    <a16:rowId xmlns:a16="http://schemas.microsoft.com/office/drawing/2014/main" val="3078944156"/>
                  </a:ext>
                </a:extLst>
              </a:tr>
            </a:tbl>
          </a:graphicData>
        </a:graphic>
      </p:graphicFrame>
      <p:sp>
        <p:nvSpPr>
          <p:cNvPr id="2" name="TextBox 1">
            <a:extLst>
              <a:ext uri="{FF2B5EF4-FFF2-40B4-BE49-F238E27FC236}">
                <a16:creationId xmlns:a16="http://schemas.microsoft.com/office/drawing/2014/main" id="{6DACA18D-C2D7-2737-228C-8957363683A8}"/>
              </a:ext>
            </a:extLst>
          </p:cNvPr>
          <p:cNvSpPr txBox="1"/>
          <p:nvPr/>
        </p:nvSpPr>
        <p:spPr>
          <a:xfrm>
            <a:off x="8620298" y="5777345"/>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44478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BECC82-DF68-A7A8-D57E-9C640040C255}"/>
              </a:ext>
            </a:extLst>
          </p:cNvPr>
          <p:cNvSpPr>
            <a:spLocks noGrp="1"/>
          </p:cNvSpPr>
          <p:nvPr>
            <p:ph idx="1"/>
          </p:nvPr>
        </p:nvSpPr>
        <p:spPr>
          <a:xfrm>
            <a:off x="1218883" y="980729"/>
            <a:ext cx="10360501" cy="5112568"/>
          </a:xfrm>
        </p:spPr>
        <p:txBody>
          <a:bodyPr>
            <a:normAutofit fontScale="85000" lnSpcReduction="20000"/>
          </a:bodyPr>
          <a:lstStyle/>
          <a:p>
            <a:pPr>
              <a:buFont typeface="Wingdings" panose="05000000000000000000" pitchFamily="2" charset="2"/>
              <a:buChar char="v"/>
            </a:pPr>
            <a:r>
              <a:rPr lang="en-IN" sz="2500" b="1" dirty="0"/>
              <a:t>Major Findings &amp; Research Gaps Identified :</a:t>
            </a:r>
            <a:endParaRPr lang="en-IN" sz="2500" dirty="0"/>
          </a:p>
          <a:p>
            <a:pPr marL="0" indent="0">
              <a:buNone/>
            </a:pPr>
            <a:r>
              <a:rPr lang="en-IN" b="1" dirty="0"/>
              <a:t>A. Major Findings</a:t>
            </a:r>
          </a:p>
          <a:p>
            <a:r>
              <a:rPr lang="en-IN" b="1" dirty="0"/>
              <a:t>1. Fragmented Placement Preparation</a:t>
            </a:r>
          </a:p>
          <a:p>
            <a:r>
              <a:rPr lang="en-IN" dirty="0"/>
              <a:t>Students often use multiple platforms for aptitude, coding, resume building, interview preparation, and company-specific information. This makes the preparation process scattered and less efficient. </a:t>
            </a:r>
          </a:p>
          <a:p>
            <a:r>
              <a:rPr lang="en-IN" b="1" dirty="0"/>
              <a:t>2. Lack of Centralized Progress Tracking</a:t>
            </a:r>
          </a:p>
          <a:p>
            <a:r>
              <a:rPr lang="en-IN" dirty="0"/>
              <a:t>Existing systems may track progress within individual modules, but students often do not get a complete overview of their overall placement preparation and readiness. </a:t>
            </a:r>
          </a:p>
          <a:p>
            <a:r>
              <a:rPr lang="en-IN" b="1" dirty="0"/>
              <a:t>3. Limited Personalized Guidance</a:t>
            </a:r>
          </a:p>
          <a:p>
            <a:r>
              <a:rPr lang="en-IN" dirty="0"/>
              <a:t>Many traditional preparation systems provide the same content to all students and offer limited personalized recommendations based on individual strengths and weaknesses. </a:t>
            </a:r>
          </a:p>
          <a:p>
            <a:r>
              <a:rPr lang="en-IN" b="1" dirty="0"/>
              <a:t>4. Isolated Learning and Assessment</a:t>
            </a:r>
          </a:p>
          <a:p>
            <a:r>
              <a:rPr lang="en-IN" dirty="0"/>
              <a:t>Learning materials, practice questions, mock tests, and performance analysis are often available separately instead of being connected in a continuous preparation process. </a:t>
            </a:r>
          </a:p>
          <a:p>
            <a:r>
              <a:rPr lang="en-IN" b="1" dirty="0"/>
              <a:t>5. Limited Integration of Placement Skills</a:t>
            </a:r>
          </a:p>
          <a:p>
            <a:r>
              <a:rPr lang="en-IN" dirty="0"/>
              <a:t>Placement preparation requires aptitude, reasoning, communication, technical knowledge, coding, interview skills, and resume preparation, but many existing systems focus only on selected areas.</a:t>
            </a:r>
          </a:p>
        </p:txBody>
      </p:sp>
    </p:spTree>
    <p:extLst>
      <p:ext uri="{BB962C8B-B14F-4D97-AF65-F5344CB8AC3E}">
        <p14:creationId xmlns:p14="http://schemas.microsoft.com/office/powerpoint/2010/main" val="48267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3A1E-F966-C91C-768C-4D7ADDB5CAB5}"/>
              </a:ext>
            </a:extLst>
          </p:cNvPr>
          <p:cNvSpPr>
            <a:spLocks noGrp="1"/>
          </p:cNvSpPr>
          <p:nvPr>
            <p:ph type="title"/>
          </p:nvPr>
        </p:nvSpPr>
        <p:spPr>
          <a:xfrm>
            <a:off x="1141116" y="609600"/>
            <a:ext cx="45719" cy="515144"/>
          </a:xfrm>
        </p:spPr>
        <p:txBody>
          <a:bodyPr>
            <a:normAutofit/>
          </a:bodyPr>
          <a:lstStyle/>
          <a:p>
            <a:r>
              <a:rPr lang="en-IN" sz="800" dirty="0"/>
              <a:t>.</a:t>
            </a:r>
          </a:p>
        </p:txBody>
      </p:sp>
      <p:sp>
        <p:nvSpPr>
          <p:cNvPr id="3" name="Content Placeholder 2">
            <a:extLst>
              <a:ext uri="{FF2B5EF4-FFF2-40B4-BE49-F238E27FC236}">
                <a16:creationId xmlns:a16="http://schemas.microsoft.com/office/drawing/2014/main" id="{6A40F9B6-5DAA-85C9-E23C-7C1DCB529EBB}"/>
              </a:ext>
            </a:extLst>
          </p:cNvPr>
          <p:cNvSpPr>
            <a:spLocks noGrp="1"/>
          </p:cNvSpPr>
          <p:nvPr>
            <p:ph idx="1"/>
          </p:nvPr>
        </p:nvSpPr>
        <p:spPr>
          <a:xfrm>
            <a:off x="981844" y="548680"/>
            <a:ext cx="9903418" cy="6048672"/>
          </a:xfrm>
        </p:spPr>
        <p:txBody>
          <a:bodyPr>
            <a:normAutofit fontScale="92500"/>
          </a:bodyPr>
          <a:lstStyle/>
          <a:p>
            <a:r>
              <a:rPr lang="en-IN" b="1" dirty="0"/>
              <a:t>B. Research Gaps Identified</a:t>
            </a:r>
          </a:p>
          <a:p>
            <a:r>
              <a:rPr lang="en-IN" b="1" dirty="0"/>
              <a:t>1. Lack of a Complete Centralized Platform</a:t>
            </a:r>
          </a:p>
          <a:p>
            <a:r>
              <a:rPr lang="en-IN" dirty="0"/>
              <a:t>There is a need for a single platform that combines Aptitude, Reasoning, English, Programming, Coding Practice, Mock Tests, Resume Analysis, and Company Preparation.</a:t>
            </a:r>
          </a:p>
          <a:p>
            <a:r>
              <a:rPr lang="en-IN" b="1" dirty="0"/>
              <a:t>2. Lack of Integrated Performance Analysis</a:t>
            </a:r>
          </a:p>
          <a:p>
            <a:r>
              <a:rPr lang="en-IN" dirty="0"/>
              <a:t>Existing systems may provide individual test results, but there is a need for centralized analytics that combines performance across different preparation modules.</a:t>
            </a:r>
          </a:p>
          <a:p>
            <a:r>
              <a:rPr lang="en-IN" b="1" dirty="0"/>
              <a:t>3. Limited Weak Area Identification</a:t>
            </a:r>
          </a:p>
          <a:p>
            <a:r>
              <a:rPr lang="en-IN" dirty="0"/>
              <a:t>Students need a system that can identify their weak areas based on their learning progress, practice performance, and test results.</a:t>
            </a:r>
          </a:p>
          <a:p>
            <a:r>
              <a:rPr lang="en-IN" b="1" dirty="0"/>
              <a:t>4. Lack of Structured Preparation Workflow</a:t>
            </a:r>
          </a:p>
          <a:p>
            <a:r>
              <a:rPr lang="en-IN" dirty="0"/>
              <a:t>Many students do not have a proper preparation sequence. A structured workflow connecting learning, practice, testing, and improvement is required.</a:t>
            </a:r>
          </a:p>
          <a:p>
            <a:r>
              <a:rPr lang="en-IN" b="1" dirty="0"/>
              <a:t>5. Limited Dynamic Content Management</a:t>
            </a:r>
          </a:p>
          <a:p>
            <a:r>
              <a:rPr lang="en-IN" dirty="0"/>
              <a:t>There is a need for an Admin Panel where administrators can dynamically manage notes, questions, coding problems, companies, and mock tests.</a:t>
            </a:r>
          </a:p>
        </p:txBody>
      </p:sp>
    </p:spTree>
    <p:extLst>
      <p:ext uri="{BB962C8B-B14F-4D97-AF65-F5344CB8AC3E}">
        <p14:creationId xmlns:p14="http://schemas.microsoft.com/office/powerpoint/2010/main" val="6686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5736-56D2-DE91-3E30-E6326DC41025}"/>
              </a:ext>
            </a:extLst>
          </p:cNvPr>
          <p:cNvSpPr>
            <a:spLocks noGrp="1"/>
          </p:cNvSpPr>
          <p:nvPr>
            <p:ph type="title"/>
          </p:nvPr>
        </p:nvSpPr>
        <p:spPr>
          <a:xfrm>
            <a:off x="1141116" y="404663"/>
            <a:ext cx="9903418" cy="662135"/>
          </a:xfrm>
        </p:spPr>
        <p:txBody>
          <a:bodyPr>
            <a:normAutofit fontScale="90000"/>
          </a:bodyPr>
          <a:lstStyle/>
          <a:p>
            <a:pPr algn="ctr"/>
            <a:r>
              <a:rPr lang="en-US" b="1" dirty="0"/>
              <a:t>4. TECHNICAL DESCRIPTION</a:t>
            </a:r>
            <a:br>
              <a:rPr lang="en-IN" dirty="0"/>
            </a:br>
            <a:endParaRPr lang="en-IN" dirty="0"/>
          </a:p>
        </p:txBody>
      </p:sp>
      <p:sp>
        <p:nvSpPr>
          <p:cNvPr id="3" name="Content Placeholder 2">
            <a:extLst>
              <a:ext uri="{FF2B5EF4-FFF2-40B4-BE49-F238E27FC236}">
                <a16:creationId xmlns:a16="http://schemas.microsoft.com/office/drawing/2014/main" id="{889640B3-4762-741E-B7E8-FBDE79EAED6B}"/>
              </a:ext>
            </a:extLst>
          </p:cNvPr>
          <p:cNvSpPr>
            <a:spLocks noGrp="1"/>
          </p:cNvSpPr>
          <p:nvPr>
            <p:ph idx="1"/>
          </p:nvPr>
        </p:nvSpPr>
        <p:spPr>
          <a:xfrm>
            <a:off x="1141116" y="1"/>
            <a:ext cx="9903418" cy="4221088"/>
          </a:xfrm>
        </p:spPr>
        <p:txBody>
          <a:bodyPr/>
          <a:lstStyle/>
          <a:p>
            <a:pPr marL="0" indent="0">
              <a:buNone/>
            </a:pPr>
            <a:r>
              <a:rPr lang="en-IN" b="1" dirty="0"/>
              <a:t>4.1 Hardware Requirement</a:t>
            </a:r>
          </a:p>
          <a:p>
            <a:r>
              <a:rPr lang="en-IN" dirty="0"/>
              <a:t>The </a:t>
            </a:r>
            <a:r>
              <a:rPr lang="en-IN" b="1" dirty="0"/>
              <a:t>AI-Powered Placement Preparation Portal</a:t>
            </a:r>
            <a:r>
              <a:rPr lang="en-IN" dirty="0"/>
              <a:t> is a web-based MERN Stack application. The following hardware requirements are recommended for the development and smooth operation of the system.</a:t>
            </a:r>
          </a:p>
          <a:p>
            <a:pPr marL="0" indent="0">
              <a:buNone/>
            </a:pPr>
            <a:endParaRPr lang="en-IN" dirty="0"/>
          </a:p>
          <a:p>
            <a:pPr marL="0" indent="0">
              <a:buNone/>
            </a:pPr>
            <a:endParaRPr lang="en-IN" dirty="0"/>
          </a:p>
        </p:txBody>
      </p:sp>
      <p:graphicFrame>
        <p:nvGraphicFramePr>
          <p:cNvPr id="6" name="Table 5">
            <a:extLst>
              <a:ext uri="{FF2B5EF4-FFF2-40B4-BE49-F238E27FC236}">
                <a16:creationId xmlns:a16="http://schemas.microsoft.com/office/drawing/2014/main" id="{E0185BC2-3505-B7B6-582B-4EA5ECBB81B7}"/>
              </a:ext>
            </a:extLst>
          </p:cNvPr>
          <p:cNvGraphicFramePr>
            <a:graphicFrameLocks noGrp="1"/>
          </p:cNvGraphicFramePr>
          <p:nvPr>
            <p:extLst>
              <p:ext uri="{D42A27DB-BD31-4B8C-83A1-F6EECF244321}">
                <p14:modId xmlns:p14="http://schemas.microsoft.com/office/powerpoint/2010/main" val="2271735921"/>
              </p:ext>
            </p:extLst>
          </p:nvPr>
        </p:nvGraphicFramePr>
        <p:xfrm>
          <a:off x="1141708" y="2690577"/>
          <a:ext cx="9902826" cy="3107657"/>
        </p:xfrm>
        <a:graphic>
          <a:graphicData uri="http://schemas.openxmlformats.org/drawingml/2006/table">
            <a:tbl>
              <a:tblPr>
                <a:tableStyleId>{5C22544A-7EE6-4342-B048-85BDC9FD1C3A}</a:tableStyleId>
              </a:tblPr>
              <a:tblGrid>
                <a:gridCol w="3300942">
                  <a:extLst>
                    <a:ext uri="{9D8B030D-6E8A-4147-A177-3AD203B41FA5}">
                      <a16:colId xmlns:a16="http://schemas.microsoft.com/office/drawing/2014/main" val="1189019107"/>
                    </a:ext>
                  </a:extLst>
                </a:gridCol>
                <a:gridCol w="3300942">
                  <a:extLst>
                    <a:ext uri="{9D8B030D-6E8A-4147-A177-3AD203B41FA5}">
                      <a16:colId xmlns:a16="http://schemas.microsoft.com/office/drawing/2014/main" val="2932929061"/>
                    </a:ext>
                  </a:extLst>
                </a:gridCol>
                <a:gridCol w="3300942">
                  <a:extLst>
                    <a:ext uri="{9D8B030D-6E8A-4147-A177-3AD203B41FA5}">
                      <a16:colId xmlns:a16="http://schemas.microsoft.com/office/drawing/2014/main" val="3735239496"/>
                    </a:ext>
                  </a:extLst>
                </a:gridCol>
              </a:tblGrid>
              <a:tr h="639826">
                <a:tc>
                  <a:txBody>
                    <a:bodyPr/>
                    <a:lstStyle/>
                    <a:p>
                      <a:pPr>
                        <a:buNone/>
                      </a:pPr>
                      <a:r>
                        <a:rPr lang="en-IN" sz="1800" dirty="0">
                          <a:solidFill>
                            <a:schemeClr val="tx1"/>
                          </a:solidFill>
                        </a:rPr>
                        <a:t>Hardware Component</a:t>
                      </a:r>
                    </a:p>
                  </a:txBody>
                  <a:tcPr anchor="ctr">
                    <a:solidFill>
                      <a:schemeClr val="accent1"/>
                    </a:solidFill>
                  </a:tcPr>
                </a:tc>
                <a:tc>
                  <a:txBody>
                    <a:bodyPr/>
                    <a:lstStyle/>
                    <a:p>
                      <a:pPr>
                        <a:buNone/>
                      </a:pPr>
                      <a:r>
                        <a:rPr lang="en-IN" sz="1800" dirty="0">
                          <a:solidFill>
                            <a:schemeClr val="tx1"/>
                          </a:solidFill>
                        </a:rPr>
                        <a:t>Minimum Requirement</a:t>
                      </a:r>
                    </a:p>
                  </a:txBody>
                  <a:tcPr anchor="ctr">
                    <a:solidFill>
                      <a:schemeClr val="accent1"/>
                    </a:solidFill>
                  </a:tcPr>
                </a:tc>
                <a:tc>
                  <a:txBody>
                    <a:bodyPr/>
                    <a:lstStyle/>
                    <a:p>
                      <a:pPr>
                        <a:buNone/>
                      </a:pPr>
                      <a:r>
                        <a:rPr lang="en-IN" sz="1800" dirty="0">
                          <a:solidFill>
                            <a:schemeClr val="tx1"/>
                          </a:solidFill>
                        </a:rPr>
                        <a:t>Recommended Requirement</a:t>
                      </a:r>
                    </a:p>
                  </a:txBody>
                  <a:tcPr anchor="ctr">
                    <a:solidFill>
                      <a:schemeClr val="accent1"/>
                    </a:solidFill>
                  </a:tcPr>
                </a:tc>
                <a:extLst>
                  <a:ext uri="{0D108BD9-81ED-4DB2-BD59-A6C34878D82A}">
                    <a16:rowId xmlns:a16="http://schemas.microsoft.com/office/drawing/2014/main" val="1846892858"/>
                  </a:ext>
                </a:extLst>
              </a:tr>
              <a:tr h="365633">
                <a:tc>
                  <a:txBody>
                    <a:bodyPr/>
                    <a:lstStyle/>
                    <a:p>
                      <a:pPr>
                        <a:buNone/>
                      </a:pPr>
                      <a:r>
                        <a:rPr lang="en-IN" sz="1800" dirty="0">
                          <a:solidFill>
                            <a:schemeClr val="tx1"/>
                          </a:solidFill>
                        </a:rPr>
                        <a:t>Processor</a:t>
                      </a:r>
                    </a:p>
                  </a:txBody>
                  <a:tcPr anchor="ctr">
                    <a:solidFill>
                      <a:schemeClr val="accent1"/>
                    </a:solidFill>
                  </a:tcPr>
                </a:tc>
                <a:tc>
                  <a:txBody>
                    <a:bodyPr/>
                    <a:lstStyle/>
                    <a:p>
                      <a:pPr>
                        <a:buNone/>
                      </a:pPr>
                      <a:r>
                        <a:rPr lang="en-IN" sz="1800" dirty="0"/>
                        <a:t>Dual-Core Processor</a:t>
                      </a:r>
                    </a:p>
                  </a:txBody>
                  <a:tcPr anchor="ctr"/>
                </a:tc>
                <a:tc>
                  <a:txBody>
                    <a:bodyPr/>
                    <a:lstStyle/>
                    <a:p>
                      <a:pPr>
                        <a:buNone/>
                      </a:pPr>
                      <a:r>
                        <a:rPr lang="en-IN" sz="1800" dirty="0"/>
                        <a:t>Intel Core i5 or equivalent</a:t>
                      </a:r>
                    </a:p>
                  </a:txBody>
                  <a:tcPr anchor="ctr"/>
                </a:tc>
                <a:extLst>
                  <a:ext uri="{0D108BD9-81ED-4DB2-BD59-A6C34878D82A}">
                    <a16:rowId xmlns:a16="http://schemas.microsoft.com/office/drawing/2014/main" val="2594792154"/>
                  </a:ext>
                </a:extLst>
              </a:tr>
              <a:tr h="365633">
                <a:tc>
                  <a:txBody>
                    <a:bodyPr/>
                    <a:lstStyle/>
                    <a:p>
                      <a:pPr>
                        <a:buNone/>
                      </a:pPr>
                      <a:r>
                        <a:rPr lang="en-IN" sz="1800" dirty="0">
                          <a:solidFill>
                            <a:schemeClr val="tx1"/>
                          </a:solidFill>
                        </a:rPr>
                        <a:t>RAM</a:t>
                      </a:r>
                    </a:p>
                  </a:txBody>
                  <a:tcPr anchor="ctr">
                    <a:solidFill>
                      <a:schemeClr val="accent1"/>
                    </a:solidFill>
                  </a:tcPr>
                </a:tc>
                <a:tc>
                  <a:txBody>
                    <a:bodyPr/>
                    <a:lstStyle/>
                    <a:p>
                      <a:pPr>
                        <a:buNone/>
                      </a:pPr>
                      <a:r>
                        <a:rPr lang="en-IN" sz="1800" dirty="0"/>
                        <a:t>4 GB</a:t>
                      </a:r>
                    </a:p>
                  </a:txBody>
                  <a:tcPr anchor="ctr"/>
                </a:tc>
                <a:tc>
                  <a:txBody>
                    <a:bodyPr/>
                    <a:lstStyle/>
                    <a:p>
                      <a:pPr>
                        <a:buNone/>
                      </a:pPr>
                      <a:r>
                        <a:rPr lang="en-IN" sz="1800" dirty="0"/>
                        <a:t>8 GB or Higher</a:t>
                      </a:r>
                    </a:p>
                  </a:txBody>
                  <a:tcPr anchor="ctr"/>
                </a:tc>
                <a:extLst>
                  <a:ext uri="{0D108BD9-81ED-4DB2-BD59-A6C34878D82A}">
                    <a16:rowId xmlns:a16="http://schemas.microsoft.com/office/drawing/2014/main" val="3925215831"/>
                  </a:ext>
                </a:extLst>
              </a:tr>
              <a:tr h="365633">
                <a:tc>
                  <a:txBody>
                    <a:bodyPr/>
                    <a:lstStyle/>
                    <a:p>
                      <a:pPr>
                        <a:buNone/>
                      </a:pPr>
                      <a:r>
                        <a:rPr lang="en-IN" sz="1800" dirty="0">
                          <a:solidFill>
                            <a:schemeClr val="tx1"/>
                          </a:solidFill>
                        </a:rPr>
                        <a:t>Storage</a:t>
                      </a:r>
                    </a:p>
                  </a:txBody>
                  <a:tcPr anchor="ctr">
                    <a:solidFill>
                      <a:schemeClr val="accent1"/>
                    </a:solidFill>
                  </a:tcPr>
                </a:tc>
                <a:tc>
                  <a:txBody>
                    <a:bodyPr/>
                    <a:lstStyle/>
                    <a:p>
                      <a:pPr>
                        <a:buNone/>
                      </a:pPr>
                      <a:r>
                        <a:rPr lang="en-IN" sz="1800"/>
                        <a:t>10 GB Free Space</a:t>
                      </a:r>
                    </a:p>
                  </a:txBody>
                  <a:tcPr anchor="ctr"/>
                </a:tc>
                <a:tc>
                  <a:txBody>
                    <a:bodyPr/>
                    <a:lstStyle/>
                    <a:p>
                      <a:pPr>
                        <a:buNone/>
                      </a:pPr>
                      <a:r>
                        <a:rPr lang="en-IN" sz="1800" dirty="0"/>
                        <a:t>20 GB or Higher</a:t>
                      </a:r>
                    </a:p>
                  </a:txBody>
                  <a:tcPr anchor="ctr"/>
                </a:tc>
                <a:extLst>
                  <a:ext uri="{0D108BD9-81ED-4DB2-BD59-A6C34878D82A}">
                    <a16:rowId xmlns:a16="http://schemas.microsoft.com/office/drawing/2014/main" val="1083533233"/>
                  </a:ext>
                </a:extLst>
              </a:tr>
              <a:tr h="638777">
                <a:tc>
                  <a:txBody>
                    <a:bodyPr/>
                    <a:lstStyle/>
                    <a:p>
                      <a:pPr>
                        <a:buNone/>
                      </a:pPr>
                      <a:r>
                        <a:rPr lang="en-IN" sz="1800" dirty="0">
                          <a:solidFill>
                            <a:schemeClr val="tx1"/>
                          </a:solidFill>
                        </a:rPr>
                        <a:t>Display</a:t>
                      </a:r>
                    </a:p>
                  </a:txBody>
                  <a:tcPr anchor="ctr">
                    <a:solidFill>
                      <a:schemeClr val="accent1"/>
                    </a:solidFill>
                  </a:tcPr>
                </a:tc>
                <a:tc>
                  <a:txBody>
                    <a:bodyPr/>
                    <a:lstStyle/>
                    <a:p>
                      <a:pPr>
                        <a:buNone/>
                      </a:pPr>
                      <a:r>
                        <a:rPr lang="en-IN" sz="1800"/>
                        <a:t>1366 × 768 Resolution</a:t>
                      </a:r>
                    </a:p>
                  </a:txBody>
                  <a:tcPr anchor="ctr"/>
                </a:tc>
                <a:tc>
                  <a:txBody>
                    <a:bodyPr/>
                    <a:lstStyle/>
                    <a:p>
                      <a:pPr>
                        <a:buNone/>
                      </a:pPr>
                      <a:r>
                        <a:rPr lang="en-IN" sz="1800" dirty="0"/>
                        <a:t>Full HD (1920 × 1080)</a:t>
                      </a:r>
                    </a:p>
                  </a:txBody>
                  <a:tcPr anchor="ctr"/>
                </a:tc>
                <a:extLst>
                  <a:ext uri="{0D108BD9-81ED-4DB2-BD59-A6C34878D82A}">
                    <a16:rowId xmlns:a16="http://schemas.microsoft.com/office/drawing/2014/main" val="4130561124"/>
                  </a:ext>
                </a:extLst>
              </a:tr>
              <a:tr h="365633">
                <a:tc>
                  <a:txBody>
                    <a:bodyPr/>
                    <a:lstStyle/>
                    <a:p>
                      <a:pPr>
                        <a:buNone/>
                      </a:pPr>
                      <a:r>
                        <a:rPr lang="en-IN" sz="1800" dirty="0">
                          <a:solidFill>
                            <a:schemeClr val="tx1"/>
                          </a:solidFill>
                        </a:rPr>
                        <a:t>Internet Connection</a:t>
                      </a:r>
                    </a:p>
                  </a:txBody>
                  <a:tcPr anchor="ctr">
                    <a:solidFill>
                      <a:schemeClr val="accent1"/>
                    </a:solidFill>
                  </a:tcPr>
                </a:tc>
                <a:tc>
                  <a:txBody>
                    <a:bodyPr/>
                    <a:lstStyle/>
                    <a:p>
                      <a:pPr>
                        <a:buNone/>
                      </a:pPr>
                      <a:r>
                        <a:rPr lang="en-IN" sz="1800"/>
                        <a:t>Basic Broadband</a:t>
                      </a:r>
                    </a:p>
                  </a:txBody>
                  <a:tcPr anchor="ctr"/>
                </a:tc>
                <a:tc>
                  <a:txBody>
                    <a:bodyPr/>
                    <a:lstStyle/>
                    <a:p>
                      <a:pPr>
                        <a:buNone/>
                      </a:pPr>
                      <a:r>
                        <a:rPr lang="en-IN" sz="1800" dirty="0"/>
                        <a:t>Stable High-Speed Internet</a:t>
                      </a:r>
                    </a:p>
                  </a:txBody>
                  <a:tcPr anchor="ctr"/>
                </a:tc>
                <a:extLst>
                  <a:ext uri="{0D108BD9-81ED-4DB2-BD59-A6C34878D82A}">
                    <a16:rowId xmlns:a16="http://schemas.microsoft.com/office/drawing/2014/main" val="3808413222"/>
                  </a:ext>
                </a:extLst>
              </a:tr>
              <a:tr h="365633">
                <a:tc>
                  <a:txBody>
                    <a:bodyPr/>
                    <a:lstStyle/>
                    <a:p>
                      <a:pPr>
                        <a:buNone/>
                      </a:pPr>
                      <a:r>
                        <a:rPr lang="en-IN" sz="1800" dirty="0">
                          <a:solidFill>
                            <a:schemeClr val="tx1"/>
                          </a:solidFill>
                        </a:rPr>
                        <a:t>Keyboard &amp; Mouse</a:t>
                      </a:r>
                    </a:p>
                  </a:txBody>
                  <a:tcPr anchor="ctr">
                    <a:solidFill>
                      <a:schemeClr val="accent1"/>
                    </a:solidFill>
                  </a:tcPr>
                </a:tc>
                <a:tc>
                  <a:txBody>
                    <a:bodyPr/>
                    <a:lstStyle/>
                    <a:p>
                      <a:pPr>
                        <a:buNone/>
                      </a:pPr>
                      <a:r>
                        <a:rPr lang="en-IN" sz="1800"/>
                        <a:t>Standard</a:t>
                      </a:r>
                    </a:p>
                  </a:txBody>
                  <a:tcPr anchor="ctr"/>
                </a:tc>
                <a:tc>
                  <a:txBody>
                    <a:bodyPr/>
                    <a:lstStyle/>
                    <a:p>
                      <a:pPr>
                        <a:buNone/>
                      </a:pPr>
                      <a:r>
                        <a:rPr lang="en-IN" sz="1800" dirty="0"/>
                        <a:t>Standard</a:t>
                      </a:r>
                    </a:p>
                  </a:txBody>
                  <a:tcPr anchor="ctr"/>
                </a:tc>
                <a:extLst>
                  <a:ext uri="{0D108BD9-81ED-4DB2-BD59-A6C34878D82A}">
                    <a16:rowId xmlns:a16="http://schemas.microsoft.com/office/drawing/2014/main" val="2127363972"/>
                  </a:ext>
                </a:extLst>
              </a:tr>
            </a:tbl>
          </a:graphicData>
        </a:graphic>
      </p:graphicFrame>
    </p:spTree>
    <p:extLst>
      <p:ext uri="{BB962C8B-B14F-4D97-AF65-F5344CB8AC3E}">
        <p14:creationId xmlns:p14="http://schemas.microsoft.com/office/powerpoint/2010/main" val="326927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FD1F0-E54F-8AFE-53D0-9D54D3A87327}"/>
              </a:ext>
            </a:extLst>
          </p:cNvPr>
          <p:cNvSpPr>
            <a:spLocks noGrp="1"/>
          </p:cNvSpPr>
          <p:nvPr>
            <p:ph idx="1"/>
          </p:nvPr>
        </p:nvSpPr>
        <p:spPr>
          <a:xfrm>
            <a:off x="1218723" y="657309"/>
            <a:ext cx="10360501" cy="5543381"/>
          </a:xfrm>
        </p:spPr>
        <p:txBody>
          <a:bodyPr>
            <a:normAutofit/>
          </a:bodyPr>
          <a:lstStyle/>
          <a:p>
            <a:pPr>
              <a:buFont typeface="Wingdings" panose="05000000000000000000" pitchFamily="2" charset="2"/>
              <a:buChar char="v"/>
            </a:pPr>
            <a:r>
              <a:rPr lang="en-US" sz="2500" dirty="0"/>
              <a:t> 4.2 </a:t>
            </a:r>
            <a:r>
              <a:rPr lang="en-US" sz="2500" b="1" dirty="0"/>
              <a:t>Software Requirement </a:t>
            </a:r>
          </a:p>
          <a:p>
            <a:pPr marL="0" indent="0">
              <a:buNone/>
            </a:pPr>
            <a:r>
              <a:rPr lang="en-US" sz="1600" dirty="0"/>
              <a:t>Based on codebase analysis of ES2022+ ECMAScript syntax, HTML5 Canvas/SVG, Web Storage APIs, and CSS variable dependencies:</a:t>
            </a:r>
          </a:p>
          <a:p>
            <a:pPr marL="0" indent="0">
              <a:buNone/>
            </a:pPr>
            <a:endParaRPr lang="en-IN" sz="20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buNone/>
            </a:pPr>
            <a:endParaRPr lang="en-IN" sz="2500" dirty="0"/>
          </a:p>
          <a:p>
            <a:pPr marL="0" indent="0" algn="ctr">
              <a:buNone/>
            </a:pPr>
            <a:r>
              <a:rPr lang="en-US" sz="2200" b="1" dirty="0"/>
              <a:t>Table 4.2 Software Requirement</a:t>
            </a:r>
            <a:endParaRPr lang="en-IN" sz="2200" b="1" dirty="0"/>
          </a:p>
          <a:p>
            <a:pPr marL="0" indent="0">
              <a:buNone/>
            </a:pPr>
            <a:endParaRPr lang="en-IN" sz="2500" dirty="0"/>
          </a:p>
        </p:txBody>
      </p:sp>
      <p:graphicFrame>
        <p:nvGraphicFramePr>
          <p:cNvPr id="2" name="Table 1">
            <a:extLst>
              <a:ext uri="{FF2B5EF4-FFF2-40B4-BE49-F238E27FC236}">
                <a16:creationId xmlns:a16="http://schemas.microsoft.com/office/drawing/2014/main" id="{CBFECDE4-8B1A-7030-1665-C76D3AEE2D3E}"/>
              </a:ext>
            </a:extLst>
          </p:cNvPr>
          <p:cNvGraphicFramePr>
            <a:graphicFrameLocks noGrp="1"/>
          </p:cNvGraphicFramePr>
          <p:nvPr>
            <p:extLst>
              <p:ext uri="{D42A27DB-BD31-4B8C-83A1-F6EECF244321}">
                <p14:modId xmlns:p14="http://schemas.microsoft.com/office/powerpoint/2010/main" val="3114353764"/>
              </p:ext>
            </p:extLst>
          </p:nvPr>
        </p:nvGraphicFramePr>
        <p:xfrm>
          <a:off x="3106080" y="1628800"/>
          <a:ext cx="5976664" cy="4868708"/>
        </p:xfrm>
        <a:graphic>
          <a:graphicData uri="http://schemas.openxmlformats.org/drawingml/2006/table">
            <a:tbl>
              <a:tblPr>
                <a:tableStyleId>{5C22544A-7EE6-4342-B048-85BDC9FD1C3A}</a:tableStyleId>
              </a:tblPr>
              <a:tblGrid>
                <a:gridCol w="2988332">
                  <a:extLst>
                    <a:ext uri="{9D8B030D-6E8A-4147-A177-3AD203B41FA5}">
                      <a16:colId xmlns:a16="http://schemas.microsoft.com/office/drawing/2014/main" val="2438800245"/>
                    </a:ext>
                  </a:extLst>
                </a:gridCol>
                <a:gridCol w="2988332">
                  <a:extLst>
                    <a:ext uri="{9D8B030D-6E8A-4147-A177-3AD203B41FA5}">
                      <a16:colId xmlns:a16="http://schemas.microsoft.com/office/drawing/2014/main" val="2016589108"/>
                    </a:ext>
                  </a:extLst>
                </a:gridCol>
              </a:tblGrid>
              <a:tr h="288032">
                <a:tc>
                  <a:txBody>
                    <a:bodyPr/>
                    <a:lstStyle/>
                    <a:p>
                      <a:pPr algn="ctr">
                        <a:buNone/>
                      </a:pPr>
                      <a:r>
                        <a:rPr lang="en-IN" sz="1600">
                          <a:solidFill>
                            <a:schemeClr val="tx1"/>
                          </a:solidFill>
                        </a:rPr>
                        <a:t>Software / Technology</a:t>
                      </a:r>
                    </a:p>
                  </a:txBody>
                  <a:tcPr marL="41122" marR="41122" marT="20561" marB="20561" anchor="ctr">
                    <a:solidFill>
                      <a:schemeClr val="accent1"/>
                    </a:solidFill>
                  </a:tcPr>
                </a:tc>
                <a:tc>
                  <a:txBody>
                    <a:bodyPr/>
                    <a:lstStyle/>
                    <a:p>
                      <a:pPr algn="ctr">
                        <a:buNone/>
                      </a:pPr>
                      <a:r>
                        <a:rPr lang="en-IN" sz="1600" dirty="0">
                          <a:solidFill>
                            <a:schemeClr val="tx1"/>
                          </a:solidFill>
                        </a:rPr>
                        <a:t>Purpose / Usage</a:t>
                      </a:r>
                    </a:p>
                  </a:txBody>
                  <a:tcPr marL="41122" marR="41122" marT="20561" marB="20561" anchor="ctr">
                    <a:solidFill>
                      <a:schemeClr val="accent1"/>
                    </a:solidFill>
                  </a:tcPr>
                </a:tc>
                <a:extLst>
                  <a:ext uri="{0D108BD9-81ED-4DB2-BD59-A6C34878D82A}">
                    <a16:rowId xmlns:a16="http://schemas.microsoft.com/office/drawing/2014/main" val="881293243"/>
                  </a:ext>
                </a:extLst>
              </a:tr>
              <a:tr h="207704">
                <a:tc>
                  <a:txBody>
                    <a:bodyPr/>
                    <a:lstStyle/>
                    <a:p>
                      <a:pPr algn="ctr">
                        <a:buNone/>
                      </a:pPr>
                      <a:r>
                        <a:rPr lang="en-IN" sz="1200" dirty="0">
                          <a:solidFill>
                            <a:schemeClr val="tx1"/>
                          </a:solidFill>
                        </a:rPr>
                        <a:t>Operating System</a:t>
                      </a:r>
                    </a:p>
                  </a:txBody>
                  <a:tcPr marL="41122" marR="41122" marT="20561" marB="20561" anchor="ctr">
                    <a:solidFill>
                      <a:schemeClr val="accent1"/>
                    </a:solidFill>
                  </a:tcPr>
                </a:tc>
                <a:tc>
                  <a:txBody>
                    <a:bodyPr/>
                    <a:lstStyle/>
                    <a:p>
                      <a:pPr algn="ctr">
                        <a:buNone/>
                      </a:pPr>
                      <a:r>
                        <a:rPr lang="en-IN" sz="1400" dirty="0"/>
                        <a:t>Windows 10/11 or Linux</a:t>
                      </a:r>
                    </a:p>
                  </a:txBody>
                  <a:tcPr marL="41122" marR="41122" marT="20561" marB="20561" anchor="ctr"/>
                </a:tc>
                <a:extLst>
                  <a:ext uri="{0D108BD9-81ED-4DB2-BD59-A6C34878D82A}">
                    <a16:rowId xmlns:a16="http://schemas.microsoft.com/office/drawing/2014/main" val="1354518862"/>
                  </a:ext>
                </a:extLst>
              </a:tr>
              <a:tr h="207704">
                <a:tc>
                  <a:txBody>
                    <a:bodyPr/>
                    <a:lstStyle/>
                    <a:p>
                      <a:pPr algn="ctr">
                        <a:buNone/>
                      </a:pPr>
                      <a:r>
                        <a:rPr lang="en-IN" sz="1200" dirty="0">
                          <a:solidFill>
                            <a:schemeClr val="tx1"/>
                          </a:solidFill>
                        </a:rPr>
                        <a:t>Frontend</a:t>
                      </a:r>
                    </a:p>
                  </a:txBody>
                  <a:tcPr marL="41122" marR="41122" marT="20561" marB="20561" anchor="ctr">
                    <a:solidFill>
                      <a:schemeClr val="accent1"/>
                    </a:solidFill>
                  </a:tcPr>
                </a:tc>
                <a:tc>
                  <a:txBody>
                    <a:bodyPr/>
                    <a:lstStyle/>
                    <a:p>
                      <a:pPr algn="ctr">
                        <a:buNone/>
                      </a:pPr>
                      <a:r>
                        <a:rPr lang="en-IN" sz="1400" dirty="0"/>
                        <a:t>React.js</a:t>
                      </a:r>
                    </a:p>
                  </a:txBody>
                  <a:tcPr marL="41122" marR="41122" marT="20561" marB="20561" anchor="ctr"/>
                </a:tc>
                <a:extLst>
                  <a:ext uri="{0D108BD9-81ED-4DB2-BD59-A6C34878D82A}">
                    <a16:rowId xmlns:a16="http://schemas.microsoft.com/office/drawing/2014/main" val="737585947"/>
                  </a:ext>
                </a:extLst>
              </a:tr>
              <a:tr h="207704">
                <a:tc>
                  <a:txBody>
                    <a:bodyPr/>
                    <a:lstStyle/>
                    <a:p>
                      <a:pPr algn="ctr">
                        <a:buNone/>
                      </a:pPr>
                      <a:r>
                        <a:rPr lang="en-IN" sz="1200" dirty="0">
                          <a:solidFill>
                            <a:schemeClr val="tx1"/>
                          </a:solidFill>
                        </a:rPr>
                        <a:t>Build Tool</a:t>
                      </a:r>
                    </a:p>
                  </a:txBody>
                  <a:tcPr marL="41122" marR="41122" marT="20561" marB="20561" anchor="ctr">
                    <a:solidFill>
                      <a:schemeClr val="accent1"/>
                    </a:solidFill>
                  </a:tcPr>
                </a:tc>
                <a:tc>
                  <a:txBody>
                    <a:bodyPr/>
                    <a:lstStyle/>
                    <a:p>
                      <a:pPr algn="ctr">
                        <a:buNone/>
                      </a:pPr>
                      <a:r>
                        <a:rPr lang="en-IN" sz="1400" dirty="0"/>
                        <a:t>Vite</a:t>
                      </a:r>
                    </a:p>
                  </a:txBody>
                  <a:tcPr marL="41122" marR="41122" marT="20561" marB="20561" anchor="ctr"/>
                </a:tc>
                <a:extLst>
                  <a:ext uri="{0D108BD9-81ED-4DB2-BD59-A6C34878D82A}">
                    <a16:rowId xmlns:a16="http://schemas.microsoft.com/office/drawing/2014/main" val="2934880196"/>
                  </a:ext>
                </a:extLst>
              </a:tr>
              <a:tr h="207704">
                <a:tc>
                  <a:txBody>
                    <a:bodyPr/>
                    <a:lstStyle/>
                    <a:p>
                      <a:pPr algn="ctr">
                        <a:buNone/>
                      </a:pPr>
                      <a:r>
                        <a:rPr lang="en-IN" sz="1200" dirty="0">
                          <a:solidFill>
                            <a:schemeClr val="tx1"/>
                          </a:solidFill>
                        </a:rPr>
                        <a:t>Styling Framework</a:t>
                      </a:r>
                    </a:p>
                  </a:txBody>
                  <a:tcPr marL="41122" marR="41122" marT="20561" marB="20561" anchor="ctr">
                    <a:solidFill>
                      <a:schemeClr val="accent1"/>
                    </a:solidFill>
                  </a:tcPr>
                </a:tc>
                <a:tc>
                  <a:txBody>
                    <a:bodyPr/>
                    <a:lstStyle/>
                    <a:p>
                      <a:pPr algn="ctr">
                        <a:buNone/>
                      </a:pPr>
                      <a:r>
                        <a:rPr lang="en-IN" sz="1400" dirty="0"/>
                        <a:t>Tailwind CSS</a:t>
                      </a:r>
                    </a:p>
                  </a:txBody>
                  <a:tcPr marL="41122" marR="41122" marT="20561" marB="20561" anchor="ctr"/>
                </a:tc>
                <a:extLst>
                  <a:ext uri="{0D108BD9-81ED-4DB2-BD59-A6C34878D82A}">
                    <a16:rowId xmlns:a16="http://schemas.microsoft.com/office/drawing/2014/main" val="2068314725"/>
                  </a:ext>
                </a:extLst>
              </a:tr>
              <a:tr h="207704">
                <a:tc>
                  <a:txBody>
                    <a:bodyPr/>
                    <a:lstStyle/>
                    <a:p>
                      <a:pPr algn="ctr">
                        <a:buNone/>
                      </a:pPr>
                      <a:r>
                        <a:rPr lang="en-IN" sz="1200" dirty="0">
                          <a:solidFill>
                            <a:schemeClr val="tx1"/>
                          </a:solidFill>
                        </a:rPr>
                        <a:t>Backend Runtime</a:t>
                      </a:r>
                    </a:p>
                  </a:txBody>
                  <a:tcPr marL="41122" marR="41122" marT="20561" marB="20561" anchor="ctr">
                    <a:solidFill>
                      <a:schemeClr val="accent1"/>
                    </a:solidFill>
                  </a:tcPr>
                </a:tc>
                <a:tc>
                  <a:txBody>
                    <a:bodyPr/>
                    <a:lstStyle/>
                    <a:p>
                      <a:pPr algn="ctr">
                        <a:buNone/>
                      </a:pPr>
                      <a:r>
                        <a:rPr lang="en-IN" sz="1400" dirty="0"/>
                        <a:t>Node.js</a:t>
                      </a:r>
                    </a:p>
                  </a:txBody>
                  <a:tcPr marL="41122" marR="41122" marT="20561" marB="20561" anchor="ctr"/>
                </a:tc>
                <a:extLst>
                  <a:ext uri="{0D108BD9-81ED-4DB2-BD59-A6C34878D82A}">
                    <a16:rowId xmlns:a16="http://schemas.microsoft.com/office/drawing/2014/main" val="2337218010"/>
                  </a:ext>
                </a:extLst>
              </a:tr>
              <a:tr h="207704">
                <a:tc>
                  <a:txBody>
                    <a:bodyPr/>
                    <a:lstStyle/>
                    <a:p>
                      <a:pPr algn="ctr">
                        <a:buNone/>
                      </a:pPr>
                      <a:r>
                        <a:rPr lang="en-IN" sz="1200" dirty="0">
                          <a:solidFill>
                            <a:schemeClr val="tx1"/>
                          </a:solidFill>
                        </a:rPr>
                        <a:t>Backend Framework</a:t>
                      </a:r>
                    </a:p>
                  </a:txBody>
                  <a:tcPr marL="41122" marR="41122" marT="20561" marB="20561" anchor="ctr">
                    <a:solidFill>
                      <a:schemeClr val="accent1"/>
                    </a:solidFill>
                  </a:tcPr>
                </a:tc>
                <a:tc>
                  <a:txBody>
                    <a:bodyPr/>
                    <a:lstStyle/>
                    <a:p>
                      <a:pPr algn="ctr">
                        <a:buNone/>
                      </a:pPr>
                      <a:r>
                        <a:rPr lang="en-IN" sz="1400" dirty="0"/>
                        <a:t>Express.js</a:t>
                      </a:r>
                    </a:p>
                  </a:txBody>
                  <a:tcPr marL="41122" marR="41122" marT="20561" marB="20561" anchor="ctr"/>
                </a:tc>
                <a:extLst>
                  <a:ext uri="{0D108BD9-81ED-4DB2-BD59-A6C34878D82A}">
                    <a16:rowId xmlns:a16="http://schemas.microsoft.com/office/drawing/2014/main" val="3146285750"/>
                  </a:ext>
                </a:extLst>
              </a:tr>
              <a:tr h="207704">
                <a:tc>
                  <a:txBody>
                    <a:bodyPr/>
                    <a:lstStyle/>
                    <a:p>
                      <a:pPr algn="ctr">
                        <a:buNone/>
                      </a:pPr>
                      <a:r>
                        <a:rPr lang="en-IN" sz="1200" dirty="0">
                          <a:solidFill>
                            <a:schemeClr val="tx1"/>
                          </a:solidFill>
                        </a:rPr>
                        <a:t>Database</a:t>
                      </a:r>
                    </a:p>
                  </a:txBody>
                  <a:tcPr marL="41122" marR="41122" marT="20561" marB="20561" anchor="ctr">
                    <a:solidFill>
                      <a:schemeClr val="accent1"/>
                    </a:solidFill>
                  </a:tcPr>
                </a:tc>
                <a:tc>
                  <a:txBody>
                    <a:bodyPr/>
                    <a:lstStyle/>
                    <a:p>
                      <a:pPr algn="ctr">
                        <a:buNone/>
                      </a:pPr>
                      <a:r>
                        <a:rPr lang="en-IN" sz="1400" dirty="0"/>
                        <a:t>MongoDB</a:t>
                      </a:r>
                    </a:p>
                  </a:txBody>
                  <a:tcPr marL="41122" marR="41122" marT="20561" marB="20561" anchor="ctr"/>
                </a:tc>
                <a:extLst>
                  <a:ext uri="{0D108BD9-81ED-4DB2-BD59-A6C34878D82A}">
                    <a16:rowId xmlns:a16="http://schemas.microsoft.com/office/drawing/2014/main" val="207409661"/>
                  </a:ext>
                </a:extLst>
              </a:tr>
              <a:tr h="207704">
                <a:tc>
                  <a:txBody>
                    <a:bodyPr/>
                    <a:lstStyle/>
                    <a:p>
                      <a:pPr algn="ctr">
                        <a:buNone/>
                      </a:pPr>
                      <a:r>
                        <a:rPr lang="en-IN" sz="1200" dirty="0">
                          <a:solidFill>
                            <a:schemeClr val="tx1"/>
                          </a:solidFill>
                        </a:rPr>
                        <a:t>ODM</a:t>
                      </a:r>
                    </a:p>
                  </a:txBody>
                  <a:tcPr marL="41122" marR="41122" marT="20561" marB="20561" anchor="ctr">
                    <a:solidFill>
                      <a:schemeClr val="accent1"/>
                    </a:solidFill>
                  </a:tcPr>
                </a:tc>
                <a:tc>
                  <a:txBody>
                    <a:bodyPr/>
                    <a:lstStyle/>
                    <a:p>
                      <a:pPr algn="ctr">
                        <a:buNone/>
                      </a:pPr>
                      <a:r>
                        <a:rPr lang="en-IN" sz="1400" dirty="0"/>
                        <a:t>Mongoose</a:t>
                      </a:r>
                    </a:p>
                  </a:txBody>
                  <a:tcPr marL="41122" marR="41122" marT="20561" marB="20561" anchor="ctr"/>
                </a:tc>
                <a:extLst>
                  <a:ext uri="{0D108BD9-81ED-4DB2-BD59-A6C34878D82A}">
                    <a16:rowId xmlns:a16="http://schemas.microsoft.com/office/drawing/2014/main" val="244552131"/>
                  </a:ext>
                </a:extLst>
              </a:tr>
              <a:tr h="207704">
                <a:tc>
                  <a:txBody>
                    <a:bodyPr/>
                    <a:lstStyle/>
                    <a:p>
                      <a:pPr algn="ctr">
                        <a:buNone/>
                      </a:pPr>
                      <a:r>
                        <a:rPr lang="en-IN" sz="1200" dirty="0">
                          <a:solidFill>
                            <a:schemeClr val="tx1"/>
                          </a:solidFill>
                        </a:rPr>
                        <a:t>Programming Language</a:t>
                      </a:r>
                    </a:p>
                  </a:txBody>
                  <a:tcPr marL="41122" marR="41122" marT="20561" marB="20561" anchor="ctr">
                    <a:solidFill>
                      <a:schemeClr val="accent1"/>
                    </a:solidFill>
                  </a:tcPr>
                </a:tc>
                <a:tc>
                  <a:txBody>
                    <a:bodyPr/>
                    <a:lstStyle/>
                    <a:p>
                      <a:pPr algn="ctr">
                        <a:buNone/>
                      </a:pPr>
                      <a:r>
                        <a:rPr lang="en-IN" sz="1400" dirty="0"/>
                        <a:t>JavaScript</a:t>
                      </a:r>
                    </a:p>
                  </a:txBody>
                  <a:tcPr marL="41122" marR="41122" marT="20561" marB="20561" anchor="ctr"/>
                </a:tc>
                <a:extLst>
                  <a:ext uri="{0D108BD9-81ED-4DB2-BD59-A6C34878D82A}">
                    <a16:rowId xmlns:a16="http://schemas.microsoft.com/office/drawing/2014/main" val="2375720869"/>
                  </a:ext>
                </a:extLst>
              </a:tr>
              <a:tr h="207704">
                <a:tc>
                  <a:txBody>
                    <a:bodyPr/>
                    <a:lstStyle/>
                    <a:p>
                      <a:pPr algn="ctr">
                        <a:buNone/>
                      </a:pPr>
                      <a:r>
                        <a:rPr lang="en-IN" sz="1200" dirty="0">
                          <a:solidFill>
                            <a:schemeClr val="tx1"/>
                          </a:solidFill>
                        </a:rPr>
                        <a:t>Authentication</a:t>
                      </a:r>
                    </a:p>
                  </a:txBody>
                  <a:tcPr marL="41122" marR="41122" marT="20561" marB="20561" anchor="ctr">
                    <a:solidFill>
                      <a:schemeClr val="accent1"/>
                    </a:solidFill>
                  </a:tcPr>
                </a:tc>
                <a:tc>
                  <a:txBody>
                    <a:bodyPr/>
                    <a:lstStyle/>
                    <a:p>
                      <a:pPr algn="ctr">
                        <a:buNone/>
                      </a:pPr>
                      <a:r>
                        <a:rPr lang="en-IN" sz="1400" dirty="0"/>
                        <a:t>JWT (JSON Web Token)</a:t>
                      </a:r>
                    </a:p>
                  </a:txBody>
                  <a:tcPr marL="41122" marR="41122" marT="20561" marB="20561" anchor="ctr"/>
                </a:tc>
                <a:extLst>
                  <a:ext uri="{0D108BD9-81ED-4DB2-BD59-A6C34878D82A}">
                    <a16:rowId xmlns:a16="http://schemas.microsoft.com/office/drawing/2014/main" val="286620514"/>
                  </a:ext>
                </a:extLst>
              </a:tr>
              <a:tr h="207704">
                <a:tc>
                  <a:txBody>
                    <a:bodyPr/>
                    <a:lstStyle/>
                    <a:p>
                      <a:pPr algn="ctr">
                        <a:buNone/>
                      </a:pPr>
                      <a:r>
                        <a:rPr lang="en-IN" sz="1200" dirty="0">
                          <a:solidFill>
                            <a:schemeClr val="tx1"/>
                          </a:solidFill>
                        </a:rPr>
                        <a:t>Password Security</a:t>
                      </a:r>
                    </a:p>
                  </a:txBody>
                  <a:tcPr marL="41122" marR="41122" marT="20561" marB="20561" anchor="ctr">
                    <a:solidFill>
                      <a:schemeClr val="accent1"/>
                    </a:solidFill>
                  </a:tcPr>
                </a:tc>
                <a:tc>
                  <a:txBody>
                    <a:bodyPr/>
                    <a:lstStyle/>
                    <a:p>
                      <a:pPr algn="ctr">
                        <a:buNone/>
                      </a:pPr>
                      <a:r>
                        <a:rPr lang="en-IN" sz="1400" dirty="0" err="1"/>
                        <a:t>bcryptjs</a:t>
                      </a:r>
                      <a:endParaRPr lang="en-IN" sz="1400" dirty="0"/>
                    </a:p>
                  </a:txBody>
                  <a:tcPr marL="41122" marR="41122" marT="20561" marB="20561" anchor="ctr"/>
                </a:tc>
                <a:extLst>
                  <a:ext uri="{0D108BD9-81ED-4DB2-BD59-A6C34878D82A}">
                    <a16:rowId xmlns:a16="http://schemas.microsoft.com/office/drawing/2014/main" val="2434882476"/>
                  </a:ext>
                </a:extLst>
              </a:tr>
              <a:tr h="207704">
                <a:tc>
                  <a:txBody>
                    <a:bodyPr/>
                    <a:lstStyle/>
                    <a:p>
                      <a:pPr algn="ctr">
                        <a:buNone/>
                      </a:pPr>
                      <a:r>
                        <a:rPr lang="en-IN" sz="1200" dirty="0">
                          <a:solidFill>
                            <a:schemeClr val="tx1"/>
                          </a:solidFill>
                        </a:rPr>
                        <a:t>API Communication</a:t>
                      </a:r>
                    </a:p>
                  </a:txBody>
                  <a:tcPr marL="41122" marR="41122" marT="20561" marB="20561" anchor="ctr">
                    <a:solidFill>
                      <a:schemeClr val="accent1"/>
                    </a:solidFill>
                  </a:tcPr>
                </a:tc>
                <a:tc>
                  <a:txBody>
                    <a:bodyPr/>
                    <a:lstStyle/>
                    <a:p>
                      <a:pPr algn="ctr">
                        <a:buNone/>
                      </a:pPr>
                      <a:r>
                        <a:rPr lang="en-IN" sz="1400" dirty="0"/>
                        <a:t>Axios / REST API</a:t>
                      </a:r>
                    </a:p>
                  </a:txBody>
                  <a:tcPr marL="41122" marR="41122" marT="20561" marB="20561" anchor="ctr"/>
                </a:tc>
                <a:extLst>
                  <a:ext uri="{0D108BD9-81ED-4DB2-BD59-A6C34878D82A}">
                    <a16:rowId xmlns:a16="http://schemas.microsoft.com/office/drawing/2014/main" val="1973062342"/>
                  </a:ext>
                </a:extLst>
              </a:tr>
              <a:tr h="207704">
                <a:tc>
                  <a:txBody>
                    <a:bodyPr/>
                    <a:lstStyle/>
                    <a:p>
                      <a:pPr algn="ctr">
                        <a:buNone/>
                      </a:pPr>
                      <a:r>
                        <a:rPr lang="en-IN" sz="1200" dirty="0">
                          <a:solidFill>
                            <a:schemeClr val="tx1"/>
                          </a:solidFill>
                        </a:rPr>
                        <a:t>Routing</a:t>
                      </a:r>
                    </a:p>
                  </a:txBody>
                  <a:tcPr marL="41122" marR="41122" marT="20561" marB="20561" anchor="ctr">
                    <a:solidFill>
                      <a:schemeClr val="accent1"/>
                    </a:solidFill>
                  </a:tcPr>
                </a:tc>
                <a:tc>
                  <a:txBody>
                    <a:bodyPr/>
                    <a:lstStyle/>
                    <a:p>
                      <a:pPr algn="ctr">
                        <a:buNone/>
                      </a:pPr>
                      <a:r>
                        <a:rPr lang="en-IN" sz="1400" dirty="0"/>
                        <a:t>React Router</a:t>
                      </a:r>
                    </a:p>
                  </a:txBody>
                  <a:tcPr marL="41122" marR="41122" marT="20561" marB="20561" anchor="ctr"/>
                </a:tc>
                <a:extLst>
                  <a:ext uri="{0D108BD9-81ED-4DB2-BD59-A6C34878D82A}">
                    <a16:rowId xmlns:a16="http://schemas.microsoft.com/office/drawing/2014/main" val="3974704329"/>
                  </a:ext>
                </a:extLst>
              </a:tr>
              <a:tr h="207704">
                <a:tc>
                  <a:txBody>
                    <a:bodyPr/>
                    <a:lstStyle/>
                    <a:p>
                      <a:pPr algn="ctr">
                        <a:buNone/>
                      </a:pPr>
                      <a:r>
                        <a:rPr lang="en-IN" sz="1200" dirty="0">
                          <a:solidFill>
                            <a:schemeClr val="tx1"/>
                          </a:solidFill>
                        </a:rPr>
                        <a:t>Code Editor</a:t>
                      </a:r>
                    </a:p>
                  </a:txBody>
                  <a:tcPr marL="41122" marR="41122" marT="20561" marB="20561" anchor="ctr">
                    <a:solidFill>
                      <a:schemeClr val="accent1"/>
                    </a:solidFill>
                  </a:tcPr>
                </a:tc>
                <a:tc>
                  <a:txBody>
                    <a:bodyPr/>
                    <a:lstStyle/>
                    <a:p>
                      <a:pPr algn="ctr">
                        <a:buNone/>
                      </a:pPr>
                      <a:r>
                        <a:rPr lang="en-IN" sz="1400" dirty="0"/>
                        <a:t>Visual Studio Code</a:t>
                      </a:r>
                    </a:p>
                  </a:txBody>
                  <a:tcPr marL="41122" marR="41122" marT="20561" marB="20561" anchor="ctr"/>
                </a:tc>
                <a:extLst>
                  <a:ext uri="{0D108BD9-81ED-4DB2-BD59-A6C34878D82A}">
                    <a16:rowId xmlns:a16="http://schemas.microsoft.com/office/drawing/2014/main" val="84121994"/>
                  </a:ext>
                </a:extLst>
              </a:tr>
              <a:tr h="207704">
                <a:tc>
                  <a:txBody>
                    <a:bodyPr/>
                    <a:lstStyle/>
                    <a:p>
                      <a:pPr algn="ctr">
                        <a:buNone/>
                      </a:pPr>
                      <a:r>
                        <a:rPr lang="en-IN" sz="1200" dirty="0">
                          <a:solidFill>
                            <a:schemeClr val="tx1"/>
                          </a:solidFill>
                        </a:rPr>
                        <a:t>API Testing Tool</a:t>
                      </a:r>
                    </a:p>
                  </a:txBody>
                  <a:tcPr marL="41122" marR="41122" marT="20561" marB="20561" anchor="ctr">
                    <a:solidFill>
                      <a:schemeClr val="accent1"/>
                    </a:solidFill>
                  </a:tcPr>
                </a:tc>
                <a:tc>
                  <a:txBody>
                    <a:bodyPr/>
                    <a:lstStyle/>
                    <a:p>
                      <a:pPr algn="ctr">
                        <a:buNone/>
                      </a:pPr>
                      <a:r>
                        <a:rPr lang="en-IN" sz="1400" dirty="0"/>
                        <a:t>Postman</a:t>
                      </a:r>
                    </a:p>
                  </a:txBody>
                  <a:tcPr marL="41122" marR="41122" marT="20561" marB="20561" anchor="ctr"/>
                </a:tc>
                <a:extLst>
                  <a:ext uri="{0D108BD9-81ED-4DB2-BD59-A6C34878D82A}">
                    <a16:rowId xmlns:a16="http://schemas.microsoft.com/office/drawing/2014/main" val="3830377293"/>
                  </a:ext>
                </a:extLst>
              </a:tr>
              <a:tr h="207704">
                <a:tc>
                  <a:txBody>
                    <a:bodyPr/>
                    <a:lstStyle/>
                    <a:p>
                      <a:pPr algn="ctr">
                        <a:buNone/>
                      </a:pPr>
                      <a:r>
                        <a:rPr lang="en-IN" sz="1200" dirty="0">
                          <a:solidFill>
                            <a:schemeClr val="tx1"/>
                          </a:solidFill>
                        </a:rPr>
                        <a:t>Version Control</a:t>
                      </a:r>
                    </a:p>
                  </a:txBody>
                  <a:tcPr marL="41122" marR="41122" marT="20561" marB="20561" anchor="ctr">
                    <a:solidFill>
                      <a:schemeClr val="accent1"/>
                    </a:solidFill>
                  </a:tcPr>
                </a:tc>
                <a:tc>
                  <a:txBody>
                    <a:bodyPr/>
                    <a:lstStyle/>
                    <a:p>
                      <a:pPr algn="ctr">
                        <a:buNone/>
                      </a:pPr>
                      <a:r>
                        <a:rPr lang="en-IN" sz="1400" dirty="0"/>
                        <a:t>Git and GitHub</a:t>
                      </a:r>
                    </a:p>
                  </a:txBody>
                  <a:tcPr marL="41122" marR="41122" marT="20561" marB="20561" anchor="ctr"/>
                </a:tc>
                <a:extLst>
                  <a:ext uri="{0D108BD9-81ED-4DB2-BD59-A6C34878D82A}">
                    <a16:rowId xmlns:a16="http://schemas.microsoft.com/office/drawing/2014/main" val="1729473007"/>
                  </a:ext>
                </a:extLst>
              </a:tr>
              <a:tr h="207704">
                <a:tc>
                  <a:txBody>
                    <a:bodyPr/>
                    <a:lstStyle/>
                    <a:p>
                      <a:pPr algn="ctr">
                        <a:buNone/>
                      </a:pPr>
                      <a:r>
                        <a:rPr lang="en-IN" sz="1200" dirty="0">
                          <a:solidFill>
                            <a:schemeClr val="tx1"/>
                          </a:solidFill>
                        </a:rPr>
                        <a:t>Package Manager</a:t>
                      </a:r>
                    </a:p>
                  </a:txBody>
                  <a:tcPr marL="41122" marR="41122" marT="20561" marB="20561" anchor="ctr">
                    <a:solidFill>
                      <a:schemeClr val="accent1"/>
                    </a:solidFill>
                  </a:tcPr>
                </a:tc>
                <a:tc>
                  <a:txBody>
                    <a:bodyPr/>
                    <a:lstStyle/>
                    <a:p>
                      <a:pPr algn="ctr">
                        <a:buNone/>
                      </a:pPr>
                      <a:r>
                        <a:rPr lang="en-IN" sz="1400" dirty="0" err="1"/>
                        <a:t>npm</a:t>
                      </a:r>
                      <a:endParaRPr lang="en-IN" sz="1400" dirty="0"/>
                    </a:p>
                  </a:txBody>
                  <a:tcPr marL="41122" marR="41122" marT="20561" marB="20561" anchor="ctr"/>
                </a:tc>
                <a:extLst>
                  <a:ext uri="{0D108BD9-81ED-4DB2-BD59-A6C34878D82A}">
                    <a16:rowId xmlns:a16="http://schemas.microsoft.com/office/drawing/2014/main" val="2567608251"/>
                  </a:ext>
                </a:extLst>
              </a:tr>
              <a:tr h="207704">
                <a:tc>
                  <a:txBody>
                    <a:bodyPr/>
                    <a:lstStyle/>
                    <a:p>
                      <a:pPr algn="ctr">
                        <a:buNone/>
                      </a:pPr>
                      <a:r>
                        <a:rPr lang="en-IN" sz="1200" dirty="0">
                          <a:solidFill>
                            <a:schemeClr val="tx1"/>
                          </a:solidFill>
                        </a:rPr>
                        <a:t>Web Browser</a:t>
                      </a:r>
                    </a:p>
                  </a:txBody>
                  <a:tcPr marL="41122" marR="41122" marT="20561" marB="20561" anchor="ctr">
                    <a:solidFill>
                      <a:schemeClr val="accent1"/>
                    </a:solidFill>
                  </a:tcPr>
                </a:tc>
                <a:tc>
                  <a:txBody>
                    <a:bodyPr/>
                    <a:lstStyle/>
                    <a:p>
                      <a:pPr algn="ctr">
                        <a:buNone/>
                      </a:pPr>
                      <a:r>
                        <a:rPr lang="en-IN" sz="1400" dirty="0"/>
                        <a:t>Google Chrome / Microsoft Edge</a:t>
                      </a:r>
                    </a:p>
                  </a:txBody>
                  <a:tcPr marL="41122" marR="41122" marT="20561" marB="20561" anchor="ctr"/>
                </a:tc>
                <a:extLst>
                  <a:ext uri="{0D108BD9-81ED-4DB2-BD59-A6C34878D82A}">
                    <a16:rowId xmlns:a16="http://schemas.microsoft.com/office/drawing/2014/main" val="1853106615"/>
                  </a:ext>
                </a:extLst>
              </a:tr>
            </a:tbl>
          </a:graphicData>
        </a:graphic>
      </p:graphicFrame>
    </p:spTree>
    <p:extLst>
      <p:ext uri="{BB962C8B-B14F-4D97-AF65-F5344CB8AC3E}">
        <p14:creationId xmlns:p14="http://schemas.microsoft.com/office/powerpoint/2010/main" val="8475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421B2-E704-A6AD-A3DB-A099C05ECE1D}"/>
              </a:ext>
            </a:extLst>
          </p:cNvPr>
          <p:cNvSpPr>
            <a:spLocks noGrp="1"/>
          </p:cNvSpPr>
          <p:nvPr>
            <p:ph idx="1"/>
          </p:nvPr>
        </p:nvSpPr>
        <p:spPr>
          <a:xfrm>
            <a:off x="1218883" y="620688"/>
            <a:ext cx="10360501" cy="5543381"/>
          </a:xfrm>
        </p:spPr>
        <p:txBody>
          <a:bodyPr>
            <a:normAutofit/>
          </a:bodyPr>
          <a:lstStyle/>
          <a:p>
            <a:pPr marL="0" indent="0">
              <a:buNone/>
            </a:pPr>
            <a:r>
              <a:rPr lang="en-IN" b="1" dirty="0"/>
              <a:t>Network &amp; Connectivity Requirements :</a:t>
            </a:r>
          </a:p>
          <a:p>
            <a:pPr marL="0" indent="0">
              <a:buNone/>
            </a:pPr>
            <a:r>
              <a:rPr lang="en-US" sz="2000" dirty="0"/>
              <a:t>Based on codebase analysis of Axios REST API HTTP request payloads and Vite dev/proxy server configurations (vite.config.js port 5173 &amp; Express backend port 5000):</a:t>
            </a:r>
            <a:endParaRPr lang="en-IN" sz="2000"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lgn="ctr">
              <a:buNone/>
            </a:pPr>
            <a:endParaRPr lang="en-US" sz="2200" b="1" dirty="0"/>
          </a:p>
          <a:p>
            <a:pPr marL="0" indent="0" algn="ctr">
              <a:buNone/>
            </a:pPr>
            <a:r>
              <a:rPr lang="en-US" sz="2200" b="1" dirty="0"/>
              <a:t>Table 4.3 Network &amp; Connectivity Requirements</a:t>
            </a:r>
            <a:endParaRPr lang="en-IN" sz="2200" b="1" dirty="0"/>
          </a:p>
          <a:p>
            <a:pPr marL="0" indent="0">
              <a:buNone/>
            </a:pPr>
            <a:endParaRPr lang="en-IN" dirty="0"/>
          </a:p>
          <a:p>
            <a:pPr marL="0" indent="0">
              <a:buNone/>
            </a:pPr>
            <a:endParaRPr lang="en-IN" dirty="0"/>
          </a:p>
        </p:txBody>
      </p:sp>
      <p:graphicFrame>
        <p:nvGraphicFramePr>
          <p:cNvPr id="2" name="Table 1">
            <a:extLst>
              <a:ext uri="{FF2B5EF4-FFF2-40B4-BE49-F238E27FC236}">
                <a16:creationId xmlns:a16="http://schemas.microsoft.com/office/drawing/2014/main" id="{72F2D536-D277-6952-CE6C-F9281613BD0A}"/>
              </a:ext>
            </a:extLst>
          </p:cNvPr>
          <p:cNvGraphicFramePr>
            <a:graphicFrameLocks noGrp="1"/>
          </p:cNvGraphicFramePr>
          <p:nvPr>
            <p:extLst>
              <p:ext uri="{D42A27DB-BD31-4B8C-83A1-F6EECF244321}">
                <p14:modId xmlns:p14="http://schemas.microsoft.com/office/powerpoint/2010/main" val="2464001098"/>
              </p:ext>
            </p:extLst>
          </p:nvPr>
        </p:nvGraphicFramePr>
        <p:xfrm>
          <a:off x="2157164" y="2666998"/>
          <a:ext cx="7871322" cy="3180580"/>
        </p:xfrm>
        <a:graphic>
          <a:graphicData uri="http://schemas.openxmlformats.org/drawingml/2006/table">
            <a:tbl>
              <a:tblPr>
                <a:tableStyleId>{5C22544A-7EE6-4342-B048-85BDC9FD1C3A}</a:tableStyleId>
              </a:tblPr>
              <a:tblGrid>
                <a:gridCol w="3935661">
                  <a:extLst>
                    <a:ext uri="{9D8B030D-6E8A-4147-A177-3AD203B41FA5}">
                      <a16:colId xmlns:a16="http://schemas.microsoft.com/office/drawing/2014/main" val="1886193657"/>
                    </a:ext>
                  </a:extLst>
                </a:gridCol>
                <a:gridCol w="3935661">
                  <a:extLst>
                    <a:ext uri="{9D8B030D-6E8A-4147-A177-3AD203B41FA5}">
                      <a16:colId xmlns:a16="http://schemas.microsoft.com/office/drawing/2014/main" val="3836061268"/>
                    </a:ext>
                  </a:extLst>
                </a:gridCol>
              </a:tblGrid>
              <a:tr h="290626">
                <a:tc>
                  <a:txBody>
                    <a:bodyPr/>
                    <a:lstStyle/>
                    <a:p>
                      <a:pPr algn="ctr">
                        <a:buNone/>
                      </a:pPr>
                      <a:r>
                        <a:rPr lang="en-IN" sz="1800" dirty="0">
                          <a:solidFill>
                            <a:schemeClr val="tx1"/>
                          </a:solidFill>
                        </a:rPr>
                        <a:t>Requirement</a:t>
                      </a:r>
                    </a:p>
                  </a:txBody>
                  <a:tcPr marL="72682" marR="72682" marT="36341" marB="36341" anchor="ctr">
                    <a:solidFill>
                      <a:schemeClr val="accent1"/>
                    </a:solidFill>
                  </a:tcPr>
                </a:tc>
                <a:tc>
                  <a:txBody>
                    <a:bodyPr/>
                    <a:lstStyle/>
                    <a:p>
                      <a:pPr algn="ctr">
                        <a:buNone/>
                      </a:pPr>
                      <a:r>
                        <a:rPr lang="en-IN" sz="1800" dirty="0">
                          <a:solidFill>
                            <a:schemeClr val="tx1"/>
                          </a:solidFill>
                        </a:rPr>
                        <a:t>Details</a:t>
                      </a:r>
                    </a:p>
                  </a:txBody>
                  <a:tcPr marL="72682" marR="72682" marT="36341" marB="36341" anchor="ctr">
                    <a:solidFill>
                      <a:schemeClr val="accent1"/>
                    </a:solidFill>
                  </a:tcPr>
                </a:tc>
                <a:extLst>
                  <a:ext uri="{0D108BD9-81ED-4DB2-BD59-A6C34878D82A}">
                    <a16:rowId xmlns:a16="http://schemas.microsoft.com/office/drawing/2014/main" val="892458603"/>
                  </a:ext>
                </a:extLst>
              </a:tr>
              <a:tr h="290626">
                <a:tc>
                  <a:txBody>
                    <a:bodyPr/>
                    <a:lstStyle/>
                    <a:p>
                      <a:pPr algn="l">
                        <a:buNone/>
                      </a:pPr>
                      <a:r>
                        <a:rPr lang="en-IN" sz="1400" dirty="0">
                          <a:solidFill>
                            <a:schemeClr val="tx1"/>
                          </a:solidFill>
                        </a:rPr>
                        <a:t>Internet Connection</a:t>
                      </a:r>
                    </a:p>
                  </a:txBody>
                  <a:tcPr marL="72682" marR="72682" marT="36341" marB="36341" anchor="ctr">
                    <a:solidFill>
                      <a:schemeClr val="accent1"/>
                    </a:solidFill>
                  </a:tcPr>
                </a:tc>
                <a:tc>
                  <a:txBody>
                    <a:bodyPr/>
                    <a:lstStyle/>
                    <a:p>
                      <a:pPr>
                        <a:buNone/>
                      </a:pPr>
                      <a:r>
                        <a:rPr lang="en-IN" sz="1400"/>
                        <a:t>Stable Broadband or Wi-Fi Connection</a:t>
                      </a:r>
                    </a:p>
                  </a:txBody>
                  <a:tcPr marL="72682" marR="72682" marT="36341" marB="36341" anchor="ctr"/>
                </a:tc>
                <a:extLst>
                  <a:ext uri="{0D108BD9-81ED-4DB2-BD59-A6C34878D82A}">
                    <a16:rowId xmlns:a16="http://schemas.microsoft.com/office/drawing/2014/main" val="838139030"/>
                  </a:ext>
                </a:extLst>
              </a:tr>
              <a:tr h="290626">
                <a:tc>
                  <a:txBody>
                    <a:bodyPr/>
                    <a:lstStyle/>
                    <a:p>
                      <a:pPr algn="l">
                        <a:buNone/>
                      </a:pPr>
                      <a:r>
                        <a:rPr lang="en-IN" sz="1400" dirty="0">
                          <a:solidFill>
                            <a:schemeClr val="tx1"/>
                          </a:solidFill>
                        </a:rPr>
                        <a:t>Network Type</a:t>
                      </a:r>
                    </a:p>
                  </a:txBody>
                  <a:tcPr marL="72682" marR="72682" marT="36341" marB="36341" anchor="ctr">
                    <a:solidFill>
                      <a:schemeClr val="accent1"/>
                    </a:solidFill>
                  </a:tcPr>
                </a:tc>
                <a:tc>
                  <a:txBody>
                    <a:bodyPr/>
                    <a:lstStyle/>
                    <a:p>
                      <a:pPr>
                        <a:buNone/>
                      </a:pPr>
                      <a:r>
                        <a:rPr lang="en-IN" sz="1400"/>
                        <a:t>LAN / Wi-Fi / Internet</a:t>
                      </a:r>
                    </a:p>
                  </a:txBody>
                  <a:tcPr marL="72682" marR="72682" marT="36341" marB="36341" anchor="ctr"/>
                </a:tc>
                <a:extLst>
                  <a:ext uri="{0D108BD9-81ED-4DB2-BD59-A6C34878D82A}">
                    <a16:rowId xmlns:a16="http://schemas.microsoft.com/office/drawing/2014/main" val="2671475605"/>
                  </a:ext>
                </a:extLst>
              </a:tr>
              <a:tr h="290626">
                <a:tc>
                  <a:txBody>
                    <a:bodyPr/>
                    <a:lstStyle/>
                    <a:p>
                      <a:pPr algn="l">
                        <a:buNone/>
                      </a:pPr>
                      <a:r>
                        <a:rPr lang="en-IN" sz="1400" dirty="0">
                          <a:solidFill>
                            <a:schemeClr val="tx1"/>
                          </a:solidFill>
                        </a:rPr>
                        <a:t>Minimum Speed</a:t>
                      </a:r>
                    </a:p>
                  </a:txBody>
                  <a:tcPr marL="72682" marR="72682" marT="36341" marB="36341" anchor="ctr">
                    <a:solidFill>
                      <a:schemeClr val="accent1"/>
                    </a:solidFill>
                  </a:tcPr>
                </a:tc>
                <a:tc>
                  <a:txBody>
                    <a:bodyPr/>
                    <a:lstStyle/>
                    <a:p>
                      <a:pPr>
                        <a:buNone/>
                      </a:pPr>
                      <a:r>
                        <a:rPr lang="en-IN" sz="1400"/>
                        <a:t>Basic Internet Connection</a:t>
                      </a:r>
                    </a:p>
                  </a:txBody>
                  <a:tcPr marL="72682" marR="72682" marT="36341" marB="36341" anchor="ctr"/>
                </a:tc>
                <a:extLst>
                  <a:ext uri="{0D108BD9-81ED-4DB2-BD59-A6C34878D82A}">
                    <a16:rowId xmlns:a16="http://schemas.microsoft.com/office/drawing/2014/main" val="1299898708"/>
                  </a:ext>
                </a:extLst>
              </a:tr>
              <a:tr h="290626">
                <a:tc>
                  <a:txBody>
                    <a:bodyPr/>
                    <a:lstStyle/>
                    <a:p>
                      <a:pPr algn="l">
                        <a:buNone/>
                      </a:pPr>
                      <a:r>
                        <a:rPr lang="en-IN" sz="1400" dirty="0">
                          <a:solidFill>
                            <a:schemeClr val="tx1"/>
                          </a:solidFill>
                        </a:rPr>
                        <a:t>Recommended Speed</a:t>
                      </a:r>
                    </a:p>
                  </a:txBody>
                  <a:tcPr marL="72682" marR="72682" marT="36341" marB="36341" anchor="ctr">
                    <a:solidFill>
                      <a:schemeClr val="accent1"/>
                    </a:solidFill>
                  </a:tcPr>
                </a:tc>
                <a:tc>
                  <a:txBody>
                    <a:bodyPr/>
                    <a:lstStyle/>
                    <a:p>
                      <a:pPr>
                        <a:buNone/>
                      </a:pPr>
                      <a:r>
                        <a:rPr lang="en-IN" sz="1400" dirty="0"/>
                        <a:t>10 Mbps or Higher</a:t>
                      </a:r>
                    </a:p>
                  </a:txBody>
                  <a:tcPr marL="72682" marR="72682" marT="36341" marB="36341" anchor="ctr"/>
                </a:tc>
                <a:extLst>
                  <a:ext uri="{0D108BD9-81ED-4DB2-BD59-A6C34878D82A}">
                    <a16:rowId xmlns:a16="http://schemas.microsoft.com/office/drawing/2014/main" val="3732713192"/>
                  </a:ext>
                </a:extLst>
              </a:tr>
              <a:tr h="290626">
                <a:tc>
                  <a:txBody>
                    <a:bodyPr/>
                    <a:lstStyle/>
                    <a:p>
                      <a:pPr algn="l">
                        <a:buNone/>
                      </a:pPr>
                      <a:r>
                        <a:rPr lang="en-IN" sz="1400" dirty="0">
                          <a:solidFill>
                            <a:schemeClr val="tx1"/>
                          </a:solidFill>
                        </a:rPr>
                        <a:t>Frontend Connectivity</a:t>
                      </a:r>
                    </a:p>
                  </a:txBody>
                  <a:tcPr marL="72682" marR="72682" marT="36341" marB="36341" anchor="ctr">
                    <a:solidFill>
                      <a:schemeClr val="accent1"/>
                    </a:solidFill>
                  </a:tcPr>
                </a:tc>
                <a:tc>
                  <a:txBody>
                    <a:bodyPr/>
                    <a:lstStyle/>
                    <a:p>
                      <a:pPr>
                        <a:buNone/>
                      </a:pPr>
                      <a:r>
                        <a:rPr lang="en-IN" sz="1400"/>
                        <a:t>Browser to React Application</a:t>
                      </a:r>
                    </a:p>
                  </a:txBody>
                  <a:tcPr marL="72682" marR="72682" marT="36341" marB="36341" anchor="ctr"/>
                </a:tc>
                <a:extLst>
                  <a:ext uri="{0D108BD9-81ED-4DB2-BD59-A6C34878D82A}">
                    <a16:rowId xmlns:a16="http://schemas.microsoft.com/office/drawing/2014/main" val="1000404209"/>
                  </a:ext>
                </a:extLst>
              </a:tr>
              <a:tr h="290626">
                <a:tc>
                  <a:txBody>
                    <a:bodyPr/>
                    <a:lstStyle/>
                    <a:p>
                      <a:pPr algn="l">
                        <a:buNone/>
                      </a:pPr>
                      <a:r>
                        <a:rPr lang="en-IN" sz="1400" dirty="0">
                          <a:solidFill>
                            <a:schemeClr val="tx1"/>
                          </a:solidFill>
                        </a:rPr>
                        <a:t>Backend Connectivity</a:t>
                      </a:r>
                    </a:p>
                  </a:txBody>
                  <a:tcPr marL="72682" marR="72682" marT="36341" marB="36341" anchor="ctr">
                    <a:solidFill>
                      <a:schemeClr val="accent1"/>
                    </a:solidFill>
                  </a:tcPr>
                </a:tc>
                <a:tc>
                  <a:txBody>
                    <a:bodyPr/>
                    <a:lstStyle/>
                    <a:p>
                      <a:pPr>
                        <a:buNone/>
                      </a:pPr>
                      <a:r>
                        <a:rPr lang="en-IN" sz="1400"/>
                        <a:t>React Frontend to Express.js APIs</a:t>
                      </a:r>
                    </a:p>
                  </a:txBody>
                  <a:tcPr marL="72682" marR="72682" marT="36341" marB="36341" anchor="ctr"/>
                </a:tc>
                <a:extLst>
                  <a:ext uri="{0D108BD9-81ED-4DB2-BD59-A6C34878D82A}">
                    <a16:rowId xmlns:a16="http://schemas.microsoft.com/office/drawing/2014/main" val="2492645485"/>
                  </a:ext>
                </a:extLst>
              </a:tr>
              <a:tr h="290626">
                <a:tc>
                  <a:txBody>
                    <a:bodyPr/>
                    <a:lstStyle/>
                    <a:p>
                      <a:pPr algn="l">
                        <a:buNone/>
                      </a:pPr>
                      <a:r>
                        <a:rPr lang="en-IN" sz="1400" dirty="0">
                          <a:solidFill>
                            <a:schemeClr val="tx1"/>
                          </a:solidFill>
                        </a:rPr>
                        <a:t>Database Connectivity</a:t>
                      </a:r>
                    </a:p>
                  </a:txBody>
                  <a:tcPr marL="72682" marR="72682" marT="36341" marB="36341" anchor="ctr">
                    <a:solidFill>
                      <a:schemeClr val="accent1"/>
                    </a:solidFill>
                  </a:tcPr>
                </a:tc>
                <a:tc>
                  <a:txBody>
                    <a:bodyPr/>
                    <a:lstStyle/>
                    <a:p>
                      <a:pPr>
                        <a:buNone/>
                      </a:pPr>
                      <a:r>
                        <a:rPr lang="en-IN" sz="1400"/>
                        <a:t>Backend Server to MongoDB</a:t>
                      </a:r>
                    </a:p>
                  </a:txBody>
                  <a:tcPr marL="72682" marR="72682" marT="36341" marB="36341" anchor="ctr"/>
                </a:tc>
                <a:extLst>
                  <a:ext uri="{0D108BD9-81ED-4DB2-BD59-A6C34878D82A}">
                    <a16:rowId xmlns:a16="http://schemas.microsoft.com/office/drawing/2014/main" val="1983507916"/>
                  </a:ext>
                </a:extLst>
              </a:tr>
              <a:tr h="290626">
                <a:tc>
                  <a:txBody>
                    <a:bodyPr/>
                    <a:lstStyle/>
                    <a:p>
                      <a:pPr algn="l">
                        <a:buNone/>
                      </a:pPr>
                      <a:r>
                        <a:rPr lang="en-IN" sz="1400" dirty="0">
                          <a:solidFill>
                            <a:schemeClr val="tx1"/>
                          </a:solidFill>
                        </a:rPr>
                        <a:t>API Communication</a:t>
                      </a:r>
                    </a:p>
                  </a:txBody>
                  <a:tcPr marL="72682" marR="72682" marT="36341" marB="36341" anchor="ctr">
                    <a:solidFill>
                      <a:schemeClr val="accent1"/>
                    </a:solidFill>
                  </a:tcPr>
                </a:tc>
                <a:tc>
                  <a:txBody>
                    <a:bodyPr/>
                    <a:lstStyle/>
                    <a:p>
                      <a:pPr>
                        <a:buNone/>
                      </a:pPr>
                      <a:r>
                        <a:rPr lang="en-IN" sz="1400"/>
                        <a:t>REST APIs using HTTP/HTTPS</a:t>
                      </a:r>
                    </a:p>
                  </a:txBody>
                  <a:tcPr marL="72682" marR="72682" marT="36341" marB="36341" anchor="ctr"/>
                </a:tc>
                <a:extLst>
                  <a:ext uri="{0D108BD9-81ED-4DB2-BD59-A6C34878D82A}">
                    <a16:rowId xmlns:a16="http://schemas.microsoft.com/office/drawing/2014/main" val="2624143073"/>
                  </a:ext>
                </a:extLst>
              </a:tr>
              <a:tr h="508570">
                <a:tc>
                  <a:txBody>
                    <a:bodyPr/>
                    <a:lstStyle/>
                    <a:p>
                      <a:pPr algn="l">
                        <a:buNone/>
                      </a:pPr>
                      <a:r>
                        <a:rPr lang="en-IN" sz="1400" dirty="0">
                          <a:solidFill>
                            <a:schemeClr val="tx1"/>
                          </a:solidFill>
                        </a:rPr>
                        <a:t>Cloud Services</a:t>
                      </a:r>
                    </a:p>
                  </a:txBody>
                  <a:tcPr marL="72682" marR="72682" marT="36341" marB="36341" anchor="ctr">
                    <a:solidFill>
                      <a:schemeClr val="accent1"/>
                    </a:solidFill>
                  </a:tcPr>
                </a:tc>
                <a:tc>
                  <a:txBody>
                    <a:bodyPr/>
                    <a:lstStyle/>
                    <a:p>
                      <a:pPr>
                        <a:buNone/>
                      </a:pPr>
                      <a:r>
                        <a:rPr lang="en-IN" sz="1400" dirty="0"/>
                        <a:t>Required for MongoDB Atlas and optional AI services</a:t>
                      </a:r>
                    </a:p>
                  </a:txBody>
                  <a:tcPr marL="72682" marR="72682" marT="36341" marB="36341" anchor="ctr"/>
                </a:tc>
                <a:extLst>
                  <a:ext uri="{0D108BD9-81ED-4DB2-BD59-A6C34878D82A}">
                    <a16:rowId xmlns:a16="http://schemas.microsoft.com/office/drawing/2014/main" val="413680485"/>
                  </a:ext>
                </a:extLst>
              </a:tr>
            </a:tbl>
          </a:graphicData>
        </a:graphic>
      </p:graphicFrame>
    </p:spTree>
    <p:extLst>
      <p:ext uri="{BB962C8B-B14F-4D97-AF65-F5344CB8AC3E}">
        <p14:creationId xmlns:p14="http://schemas.microsoft.com/office/powerpoint/2010/main" val="4250261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73EA-99F1-9309-C41B-B9B68075099D}"/>
              </a:ext>
            </a:extLst>
          </p:cNvPr>
          <p:cNvSpPr>
            <a:spLocks noGrp="1"/>
          </p:cNvSpPr>
          <p:nvPr>
            <p:ph type="title"/>
          </p:nvPr>
        </p:nvSpPr>
        <p:spPr>
          <a:xfrm>
            <a:off x="1218882" y="332656"/>
            <a:ext cx="9988098" cy="1152128"/>
          </a:xfrm>
        </p:spPr>
        <p:txBody>
          <a:bodyPr>
            <a:normAutofit/>
          </a:bodyPr>
          <a:lstStyle/>
          <a:p>
            <a:pPr algn="ctr"/>
            <a:r>
              <a:rPr lang="en-US" sz="3600" b="1" dirty="0">
                <a:solidFill>
                  <a:schemeClr val="tx1"/>
                </a:solidFill>
              </a:rPr>
              <a:t>5. SYSTEM DESIGN AND DEVELOPMENT</a:t>
            </a:r>
            <a:endParaRPr lang="en-IN" sz="3600" dirty="0"/>
          </a:p>
        </p:txBody>
      </p:sp>
      <p:sp>
        <p:nvSpPr>
          <p:cNvPr id="3" name="Text Placeholder 2">
            <a:extLst>
              <a:ext uri="{FF2B5EF4-FFF2-40B4-BE49-F238E27FC236}">
                <a16:creationId xmlns:a16="http://schemas.microsoft.com/office/drawing/2014/main" id="{FE16FB1A-2977-0EDF-8769-757317E71346}"/>
              </a:ext>
            </a:extLst>
          </p:cNvPr>
          <p:cNvSpPr>
            <a:spLocks noGrp="1"/>
          </p:cNvSpPr>
          <p:nvPr>
            <p:ph type="body" sz="half" idx="2"/>
          </p:nvPr>
        </p:nvSpPr>
        <p:spPr>
          <a:xfrm>
            <a:off x="1218882" y="1628800"/>
            <a:ext cx="2664296" cy="686052"/>
          </a:xfrm>
        </p:spPr>
        <p:txBody>
          <a:bodyPr/>
          <a:lstStyle/>
          <a:p>
            <a:r>
              <a:rPr lang="en-US" sz="2400" b="1" dirty="0"/>
              <a:t>5.1 Flow Chart:</a:t>
            </a:r>
            <a:endParaRPr lang="en-IN" sz="2400" dirty="0"/>
          </a:p>
          <a:p>
            <a:endParaRPr lang="en-IN" dirty="0"/>
          </a:p>
        </p:txBody>
      </p:sp>
      <p:pic>
        <p:nvPicPr>
          <p:cNvPr id="7" name="Content Placeholder 6">
            <a:extLst>
              <a:ext uri="{FF2B5EF4-FFF2-40B4-BE49-F238E27FC236}">
                <a16:creationId xmlns:a16="http://schemas.microsoft.com/office/drawing/2014/main" id="{5ACEA65B-24CB-DE2E-562C-17CE6C253B6D}"/>
              </a:ext>
            </a:extLst>
          </p:cNvPr>
          <p:cNvPicPr>
            <a:picLocks noGrp="1" noChangeAspect="1"/>
          </p:cNvPicPr>
          <p:nvPr>
            <p:ph idx="1"/>
          </p:nvPr>
        </p:nvPicPr>
        <p:blipFill>
          <a:blip r:embed="rId2"/>
          <a:stretch>
            <a:fillRect/>
          </a:stretch>
        </p:blipFill>
        <p:spPr>
          <a:xfrm>
            <a:off x="3646140" y="2178184"/>
            <a:ext cx="5976664" cy="4320480"/>
          </a:xfrm>
          <a:prstGeom prst="rect">
            <a:avLst/>
          </a:prstGeom>
        </p:spPr>
      </p:pic>
    </p:spTree>
    <p:extLst>
      <p:ext uri="{BB962C8B-B14F-4D97-AF65-F5344CB8AC3E}">
        <p14:creationId xmlns:p14="http://schemas.microsoft.com/office/powerpoint/2010/main" val="216103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2A94-32FB-B3E0-403F-10D9F1761EE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1C0B244-CA1C-7D61-11B1-B8B19CB76EB8}"/>
              </a:ext>
            </a:extLst>
          </p:cNvPr>
          <p:cNvSpPr>
            <a:spLocks noGrp="1"/>
          </p:cNvSpPr>
          <p:nvPr>
            <p:ph type="body" sz="half" idx="2"/>
          </p:nvPr>
        </p:nvSpPr>
        <p:spPr>
          <a:xfrm>
            <a:off x="1197868" y="512676"/>
            <a:ext cx="3960440" cy="1224136"/>
          </a:xfrm>
        </p:spPr>
        <p:txBody>
          <a:bodyPr/>
          <a:lstStyle/>
          <a:p>
            <a:r>
              <a:rPr lang="en-US" sz="2400" b="1" dirty="0"/>
              <a:t>5.2 Data Flow Diagram:</a:t>
            </a:r>
            <a:endParaRPr lang="en-IN" sz="2400" dirty="0"/>
          </a:p>
          <a:p>
            <a:r>
              <a:rPr lang="en-US" sz="2400" b="1" dirty="0"/>
              <a:t>Level 0:-</a:t>
            </a:r>
            <a:endParaRPr lang="en-IN" sz="2400" dirty="0"/>
          </a:p>
          <a:p>
            <a:endParaRPr lang="en-IN" sz="2400" dirty="0"/>
          </a:p>
        </p:txBody>
      </p:sp>
      <p:pic>
        <p:nvPicPr>
          <p:cNvPr id="4" name="Picture 3">
            <a:extLst>
              <a:ext uri="{FF2B5EF4-FFF2-40B4-BE49-F238E27FC236}">
                <a16:creationId xmlns:a16="http://schemas.microsoft.com/office/drawing/2014/main" id="{03580C54-FD52-1DD6-6492-758E556F45DE}"/>
              </a:ext>
            </a:extLst>
          </p:cNvPr>
          <p:cNvPicPr>
            <a:picLocks noChangeAspect="1"/>
          </p:cNvPicPr>
          <p:nvPr/>
        </p:nvPicPr>
        <p:blipFill>
          <a:blip r:embed="rId2"/>
          <a:stretch>
            <a:fillRect/>
          </a:stretch>
        </p:blipFill>
        <p:spPr>
          <a:xfrm>
            <a:off x="1557908" y="1734540"/>
            <a:ext cx="9280860" cy="4214740"/>
          </a:xfrm>
          <a:prstGeom prst="rect">
            <a:avLst/>
          </a:prstGeom>
        </p:spPr>
      </p:pic>
    </p:spTree>
    <p:extLst>
      <p:ext uri="{BB962C8B-B14F-4D97-AF65-F5344CB8AC3E}">
        <p14:creationId xmlns:p14="http://schemas.microsoft.com/office/powerpoint/2010/main" val="47672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7878-1B73-88D1-B4F3-08788C0807A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A33E6B3-A0BB-8436-0226-8743DFC6ED52}"/>
              </a:ext>
            </a:extLst>
          </p:cNvPr>
          <p:cNvSpPr>
            <a:spLocks noGrp="1"/>
          </p:cNvSpPr>
          <p:nvPr>
            <p:ph type="body" sz="half" idx="2"/>
          </p:nvPr>
        </p:nvSpPr>
        <p:spPr>
          <a:xfrm>
            <a:off x="1269876" y="548680"/>
            <a:ext cx="3960440" cy="864096"/>
          </a:xfrm>
        </p:spPr>
        <p:txBody>
          <a:bodyPr/>
          <a:lstStyle/>
          <a:p>
            <a:r>
              <a:rPr lang="en-US" sz="2400" b="1" dirty="0"/>
              <a:t>Level 1:-</a:t>
            </a:r>
            <a:endParaRPr lang="en-IN" sz="2400" dirty="0"/>
          </a:p>
          <a:p>
            <a:endParaRPr lang="en-IN" sz="2400" dirty="0"/>
          </a:p>
        </p:txBody>
      </p:sp>
      <p:pic>
        <p:nvPicPr>
          <p:cNvPr id="13" name="Picture 12">
            <a:extLst>
              <a:ext uri="{FF2B5EF4-FFF2-40B4-BE49-F238E27FC236}">
                <a16:creationId xmlns:a16="http://schemas.microsoft.com/office/drawing/2014/main" id="{85A13552-34E4-9E0D-FE7F-6E292C69E792}"/>
              </a:ext>
            </a:extLst>
          </p:cNvPr>
          <p:cNvPicPr>
            <a:picLocks noChangeAspect="1"/>
          </p:cNvPicPr>
          <p:nvPr/>
        </p:nvPicPr>
        <p:blipFill>
          <a:blip r:embed="rId2"/>
          <a:stretch>
            <a:fillRect/>
          </a:stretch>
        </p:blipFill>
        <p:spPr>
          <a:xfrm>
            <a:off x="2566020" y="769638"/>
            <a:ext cx="7883344" cy="5683698"/>
          </a:xfrm>
          <a:prstGeom prst="rect">
            <a:avLst/>
          </a:prstGeom>
        </p:spPr>
      </p:pic>
    </p:spTree>
    <p:extLst>
      <p:ext uri="{BB962C8B-B14F-4D97-AF65-F5344CB8AC3E}">
        <p14:creationId xmlns:p14="http://schemas.microsoft.com/office/powerpoint/2010/main" val="255470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8705-6604-7B67-A90C-4545ABE926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D2F3366-2C3B-B85F-7363-7C95D96A5A06}"/>
              </a:ext>
            </a:extLst>
          </p:cNvPr>
          <p:cNvSpPr>
            <a:spLocks noGrp="1"/>
          </p:cNvSpPr>
          <p:nvPr>
            <p:ph type="body" sz="half" idx="2"/>
          </p:nvPr>
        </p:nvSpPr>
        <p:spPr>
          <a:xfrm>
            <a:off x="1197868" y="404664"/>
            <a:ext cx="3960440" cy="648072"/>
          </a:xfrm>
        </p:spPr>
        <p:txBody>
          <a:bodyPr/>
          <a:lstStyle/>
          <a:p>
            <a:r>
              <a:rPr lang="en-US" sz="2400" b="1" dirty="0"/>
              <a:t>5.3 Use Case Diagram:</a:t>
            </a:r>
            <a:endParaRPr lang="en-IN" sz="2400" dirty="0"/>
          </a:p>
          <a:p>
            <a:endParaRPr lang="en-IN" sz="2400" dirty="0"/>
          </a:p>
        </p:txBody>
      </p:sp>
      <p:sp>
        <p:nvSpPr>
          <p:cNvPr id="9" name="Content Placeholder 8">
            <a:extLst>
              <a:ext uri="{FF2B5EF4-FFF2-40B4-BE49-F238E27FC236}">
                <a16:creationId xmlns:a16="http://schemas.microsoft.com/office/drawing/2014/main" id="{33C05A83-14C3-78D5-0F70-85B515F75194}"/>
              </a:ext>
            </a:extLst>
          </p:cNvPr>
          <p:cNvSpPr>
            <a:spLocks noGrp="1"/>
          </p:cNvSpPr>
          <p:nvPr>
            <p:ph idx="1"/>
          </p:nvPr>
        </p:nvSpPr>
        <p:spPr>
          <a:xfrm>
            <a:off x="5102483" y="609601"/>
            <a:ext cx="271849" cy="1019199"/>
          </a:xfrm>
        </p:spPr>
        <p:txBody>
          <a:bodyPr/>
          <a:lstStyle/>
          <a:p>
            <a:pPr marL="0" indent="0">
              <a:buNone/>
            </a:pPr>
            <a:endParaRPr lang="en-IN" dirty="0"/>
          </a:p>
        </p:txBody>
      </p:sp>
      <p:pic>
        <p:nvPicPr>
          <p:cNvPr id="11" name="Picture 10">
            <a:extLst>
              <a:ext uri="{FF2B5EF4-FFF2-40B4-BE49-F238E27FC236}">
                <a16:creationId xmlns:a16="http://schemas.microsoft.com/office/drawing/2014/main" id="{F58242A4-4786-E966-7C58-63654D85C18E}"/>
              </a:ext>
            </a:extLst>
          </p:cNvPr>
          <p:cNvPicPr>
            <a:picLocks noChangeAspect="1"/>
          </p:cNvPicPr>
          <p:nvPr/>
        </p:nvPicPr>
        <p:blipFill>
          <a:blip r:embed="rId2"/>
          <a:stretch>
            <a:fillRect/>
          </a:stretch>
        </p:blipFill>
        <p:spPr>
          <a:xfrm>
            <a:off x="4582244" y="261495"/>
            <a:ext cx="3524742" cy="6335009"/>
          </a:xfrm>
          <a:prstGeom prst="rect">
            <a:avLst/>
          </a:prstGeom>
        </p:spPr>
      </p:pic>
    </p:spTree>
    <p:extLst>
      <p:ext uri="{BB962C8B-B14F-4D97-AF65-F5344CB8AC3E}">
        <p14:creationId xmlns:p14="http://schemas.microsoft.com/office/powerpoint/2010/main" val="3914607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23B5C-56EE-E1B9-7ED4-CA12B14BF97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E978A9-F000-941C-60F6-EC1EFD31D882}"/>
              </a:ext>
            </a:extLst>
          </p:cNvPr>
          <p:cNvSpPr>
            <a:spLocks noGrp="1"/>
          </p:cNvSpPr>
          <p:nvPr>
            <p:ph type="body" sz="half" idx="2"/>
          </p:nvPr>
        </p:nvSpPr>
        <p:spPr>
          <a:xfrm>
            <a:off x="549796" y="404664"/>
            <a:ext cx="3600400" cy="648072"/>
          </a:xfrm>
        </p:spPr>
        <p:txBody>
          <a:bodyPr>
            <a:normAutofit/>
          </a:bodyPr>
          <a:lstStyle/>
          <a:p>
            <a:r>
              <a:rPr lang="en-US" sz="2400" b="1" dirty="0"/>
              <a:t>5.4 Sequential Diagram:</a:t>
            </a:r>
            <a:endParaRPr lang="en-IN" sz="2400" dirty="0"/>
          </a:p>
        </p:txBody>
      </p:sp>
      <p:sp>
        <p:nvSpPr>
          <p:cNvPr id="6" name="Content Placeholder 5">
            <a:extLst>
              <a:ext uri="{FF2B5EF4-FFF2-40B4-BE49-F238E27FC236}">
                <a16:creationId xmlns:a16="http://schemas.microsoft.com/office/drawing/2014/main" id="{E9FCCBCE-12D6-CC49-4DFE-6CD5CC37489B}"/>
              </a:ext>
            </a:extLst>
          </p:cNvPr>
          <p:cNvSpPr>
            <a:spLocks noGrp="1"/>
          </p:cNvSpPr>
          <p:nvPr>
            <p:ph idx="1"/>
          </p:nvPr>
        </p:nvSpPr>
        <p:spPr>
          <a:xfrm>
            <a:off x="5102483" y="609601"/>
            <a:ext cx="343857" cy="4691607"/>
          </a:xfrm>
        </p:spPr>
        <p:txBody>
          <a:bodyPr/>
          <a:lstStyle/>
          <a:p>
            <a:endParaRPr lang="en-IN" dirty="0"/>
          </a:p>
        </p:txBody>
      </p:sp>
      <p:pic>
        <p:nvPicPr>
          <p:cNvPr id="8" name="Picture 7">
            <a:extLst>
              <a:ext uri="{FF2B5EF4-FFF2-40B4-BE49-F238E27FC236}">
                <a16:creationId xmlns:a16="http://schemas.microsoft.com/office/drawing/2014/main" id="{99FA2629-9D96-F2FF-B86C-8A8EFF237BBA}"/>
              </a:ext>
            </a:extLst>
          </p:cNvPr>
          <p:cNvPicPr>
            <a:picLocks noChangeAspect="1"/>
          </p:cNvPicPr>
          <p:nvPr/>
        </p:nvPicPr>
        <p:blipFill>
          <a:blip r:embed="rId2"/>
          <a:stretch>
            <a:fillRect/>
          </a:stretch>
        </p:blipFill>
        <p:spPr>
          <a:xfrm>
            <a:off x="4078188" y="228153"/>
            <a:ext cx="6336704" cy="6401693"/>
          </a:xfrm>
          <a:prstGeom prst="rect">
            <a:avLst/>
          </a:prstGeom>
        </p:spPr>
      </p:pic>
    </p:spTree>
    <p:extLst>
      <p:ext uri="{BB962C8B-B14F-4D97-AF65-F5344CB8AC3E}">
        <p14:creationId xmlns:p14="http://schemas.microsoft.com/office/powerpoint/2010/main" val="311497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F332-56B7-FA2C-AB85-49F2EAE666D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46EAD9-A8AF-699F-A9C2-D7AC09F7B043}"/>
              </a:ext>
            </a:extLst>
          </p:cNvPr>
          <p:cNvSpPr>
            <a:spLocks noGrp="1"/>
          </p:cNvSpPr>
          <p:nvPr>
            <p:ph type="body" sz="half" idx="2"/>
          </p:nvPr>
        </p:nvSpPr>
        <p:spPr>
          <a:xfrm>
            <a:off x="1197868" y="404664"/>
            <a:ext cx="3960440" cy="648072"/>
          </a:xfrm>
        </p:spPr>
        <p:txBody>
          <a:bodyPr>
            <a:normAutofit/>
          </a:bodyPr>
          <a:lstStyle/>
          <a:p>
            <a:r>
              <a:rPr lang="en-US" sz="2400" b="1" dirty="0"/>
              <a:t>5.5 Class Diagram:</a:t>
            </a:r>
            <a:endParaRPr lang="en-IN" sz="2400" dirty="0"/>
          </a:p>
        </p:txBody>
      </p:sp>
      <p:sp>
        <p:nvSpPr>
          <p:cNvPr id="4" name="Content Placeholder 3">
            <a:extLst>
              <a:ext uri="{FF2B5EF4-FFF2-40B4-BE49-F238E27FC236}">
                <a16:creationId xmlns:a16="http://schemas.microsoft.com/office/drawing/2014/main" id="{EFA890A4-CC56-4509-FD0E-2C07FA048B52}"/>
              </a:ext>
            </a:extLst>
          </p:cNvPr>
          <p:cNvSpPr>
            <a:spLocks noGrp="1"/>
          </p:cNvSpPr>
          <p:nvPr>
            <p:ph idx="1"/>
          </p:nvPr>
        </p:nvSpPr>
        <p:spPr>
          <a:xfrm>
            <a:off x="5102483" y="609601"/>
            <a:ext cx="4664337" cy="5181600"/>
          </a:xfrm>
        </p:spPr>
        <p:txBody>
          <a:bodyPr/>
          <a:lstStyle/>
          <a:p>
            <a:endParaRPr lang="en-IN" dirty="0"/>
          </a:p>
        </p:txBody>
      </p:sp>
      <p:pic>
        <p:nvPicPr>
          <p:cNvPr id="8" name="Picture 7">
            <a:extLst>
              <a:ext uri="{FF2B5EF4-FFF2-40B4-BE49-F238E27FC236}">
                <a16:creationId xmlns:a16="http://schemas.microsoft.com/office/drawing/2014/main" id="{2391A4FD-BA19-E3D3-4132-96F853A23C1A}"/>
              </a:ext>
            </a:extLst>
          </p:cNvPr>
          <p:cNvPicPr>
            <a:picLocks noChangeAspect="1"/>
          </p:cNvPicPr>
          <p:nvPr/>
        </p:nvPicPr>
        <p:blipFill>
          <a:blip r:embed="rId2"/>
          <a:stretch>
            <a:fillRect/>
          </a:stretch>
        </p:blipFill>
        <p:spPr>
          <a:xfrm>
            <a:off x="4438228" y="122096"/>
            <a:ext cx="5624730" cy="6613807"/>
          </a:xfrm>
          <a:prstGeom prst="rect">
            <a:avLst/>
          </a:prstGeom>
        </p:spPr>
      </p:pic>
    </p:spTree>
    <p:extLst>
      <p:ext uri="{BB962C8B-B14F-4D97-AF65-F5344CB8AC3E}">
        <p14:creationId xmlns:p14="http://schemas.microsoft.com/office/powerpoint/2010/main" val="373378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5C7E0-3F62-1D1A-E9CB-5FE7E2AD884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6B8FBF-4726-5F6E-ABC8-50246F84A8D3}"/>
              </a:ext>
            </a:extLst>
          </p:cNvPr>
          <p:cNvSpPr>
            <a:spLocks noGrp="1"/>
          </p:cNvSpPr>
          <p:nvPr>
            <p:ph type="body" sz="half" idx="2"/>
          </p:nvPr>
        </p:nvSpPr>
        <p:spPr>
          <a:xfrm>
            <a:off x="1197868" y="404664"/>
            <a:ext cx="3960440" cy="648072"/>
          </a:xfrm>
        </p:spPr>
        <p:txBody>
          <a:bodyPr>
            <a:normAutofit/>
          </a:bodyPr>
          <a:lstStyle/>
          <a:p>
            <a:r>
              <a:rPr lang="en-US" sz="2400" b="1" dirty="0"/>
              <a:t>5.6 </a:t>
            </a:r>
            <a:r>
              <a:rPr lang="en-IN" sz="2400" b="1" dirty="0"/>
              <a:t>Activity Diagram:</a:t>
            </a:r>
            <a:endParaRPr lang="en-IN" sz="2400" dirty="0"/>
          </a:p>
          <a:p>
            <a:endParaRPr lang="en-IN" sz="2400" dirty="0"/>
          </a:p>
        </p:txBody>
      </p:sp>
      <p:sp>
        <p:nvSpPr>
          <p:cNvPr id="4" name="Content Placeholder 3">
            <a:extLst>
              <a:ext uri="{FF2B5EF4-FFF2-40B4-BE49-F238E27FC236}">
                <a16:creationId xmlns:a16="http://schemas.microsoft.com/office/drawing/2014/main" id="{4EFDCC4E-59A4-785E-2FB7-626C9B6B37B8}"/>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20AFBEA1-22BE-AD7C-222B-238997010FC3}"/>
              </a:ext>
            </a:extLst>
          </p:cNvPr>
          <p:cNvPicPr>
            <a:picLocks noChangeAspect="1"/>
          </p:cNvPicPr>
          <p:nvPr/>
        </p:nvPicPr>
        <p:blipFill>
          <a:blip r:embed="rId2"/>
          <a:stretch>
            <a:fillRect/>
          </a:stretch>
        </p:blipFill>
        <p:spPr>
          <a:xfrm>
            <a:off x="1211560" y="637060"/>
            <a:ext cx="9918921" cy="6017335"/>
          </a:xfrm>
          <a:prstGeom prst="rect">
            <a:avLst/>
          </a:prstGeom>
        </p:spPr>
      </p:pic>
    </p:spTree>
    <p:extLst>
      <p:ext uri="{BB962C8B-B14F-4D97-AF65-F5344CB8AC3E}">
        <p14:creationId xmlns:p14="http://schemas.microsoft.com/office/powerpoint/2010/main" val="17017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D6DA-6FF5-4AEF-8BAE-86E1CF93407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B64B834-40C9-2024-29EE-9BFBAE04AF82}"/>
              </a:ext>
            </a:extLst>
          </p:cNvPr>
          <p:cNvSpPr>
            <a:spLocks noGrp="1"/>
          </p:cNvSpPr>
          <p:nvPr>
            <p:ph type="body" sz="half" idx="2"/>
          </p:nvPr>
        </p:nvSpPr>
        <p:spPr>
          <a:xfrm>
            <a:off x="909836" y="404664"/>
            <a:ext cx="3960440" cy="936104"/>
          </a:xfrm>
        </p:spPr>
        <p:txBody>
          <a:bodyPr>
            <a:noAutofit/>
          </a:bodyPr>
          <a:lstStyle/>
          <a:p>
            <a:r>
              <a:rPr lang="en-US" b="1" dirty="0"/>
              <a:t>5.7 </a:t>
            </a:r>
            <a:r>
              <a:rPr lang="en-IN" b="1" dirty="0"/>
              <a:t>Database Design:</a:t>
            </a:r>
            <a:endParaRPr lang="en-IN" dirty="0"/>
          </a:p>
          <a:p>
            <a:r>
              <a:rPr lang="en-US" b="1" dirty="0"/>
              <a:t>Figure 5.7.1 </a:t>
            </a:r>
            <a:r>
              <a:rPr lang="en-IN" b="1" dirty="0"/>
              <a:t>Activities</a:t>
            </a:r>
          </a:p>
          <a:p>
            <a:endParaRPr lang="en-IN" sz="1600" dirty="0"/>
          </a:p>
          <a:p>
            <a:endParaRPr lang="en-IN" sz="1600" dirty="0"/>
          </a:p>
        </p:txBody>
      </p:sp>
      <p:pic>
        <p:nvPicPr>
          <p:cNvPr id="7" name="Content Placeholder 6">
            <a:extLst>
              <a:ext uri="{FF2B5EF4-FFF2-40B4-BE49-F238E27FC236}">
                <a16:creationId xmlns:a16="http://schemas.microsoft.com/office/drawing/2014/main" id="{AD66C241-B34F-53BA-E6DD-857AEE2B85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1340768"/>
            <a:ext cx="9577064" cy="4902726"/>
          </a:xfrm>
          <a:prstGeom prst="rect">
            <a:avLst/>
          </a:prstGeom>
        </p:spPr>
      </p:pic>
    </p:spTree>
    <p:extLst>
      <p:ext uri="{BB962C8B-B14F-4D97-AF65-F5344CB8AC3E}">
        <p14:creationId xmlns:p14="http://schemas.microsoft.com/office/powerpoint/2010/main" val="61271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1577-36FB-91B1-E532-4ECB68B6712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CE81D1-8DA9-A522-B08D-9466110BE057}"/>
              </a:ext>
            </a:extLst>
          </p:cNvPr>
          <p:cNvSpPr>
            <a:spLocks noGrp="1"/>
          </p:cNvSpPr>
          <p:nvPr>
            <p:ph type="body" sz="half" idx="2"/>
          </p:nvPr>
        </p:nvSpPr>
        <p:spPr>
          <a:xfrm>
            <a:off x="1197868" y="404664"/>
            <a:ext cx="3960440" cy="576064"/>
          </a:xfrm>
        </p:spPr>
        <p:txBody>
          <a:bodyPr>
            <a:noAutofit/>
          </a:bodyPr>
          <a:lstStyle/>
          <a:p>
            <a:r>
              <a:rPr lang="en-US" b="1" dirty="0"/>
              <a:t>Figure 5.7.2 </a:t>
            </a:r>
            <a:r>
              <a:rPr lang="en-IN" b="1" dirty="0"/>
              <a:t>Announcement </a:t>
            </a:r>
          </a:p>
          <a:p>
            <a:endParaRPr lang="en-IN" dirty="0"/>
          </a:p>
          <a:p>
            <a:endParaRPr lang="en-IN" dirty="0"/>
          </a:p>
        </p:txBody>
      </p:sp>
      <p:pic>
        <p:nvPicPr>
          <p:cNvPr id="7" name="Content Placeholder 6">
            <a:extLst>
              <a:ext uri="{FF2B5EF4-FFF2-40B4-BE49-F238E27FC236}">
                <a16:creationId xmlns:a16="http://schemas.microsoft.com/office/drawing/2014/main" id="{7C63AB95-2D79-E86D-2871-A311F99B6B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1500" y="1124744"/>
            <a:ext cx="9361040" cy="4966136"/>
          </a:xfrm>
          <a:prstGeom prst="rect">
            <a:avLst/>
          </a:prstGeom>
        </p:spPr>
      </p:pic>
    </p:spTree>
    <p:extLst>
      <p:ext uri="{BB962C8B-B14F-4D97-AF65-F5344CB8AC3E}">
        <p14:creationId xmlns:p14="http://schemas.microsoft.com/office/powerpoint/2010/main" val="102114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905B4-B64A-33BC-7D61-05BFA2A7F68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BDB5DB1-C78F-DDF2-FF15-A1C546C2CD83}"/>
              </a:ext>
            </a:extLst>
          </p:cNvPr>
          <p:cNvSpPr>
            <a:spLocks noGrp="1"/>
          </p:cNvSpPr>
          <p:nvPr>
            <p:ph type="body" sz="half" idx="2"/>
          </p:nvPr>
        </p:nvSpPr>
        <p:spPr>
          <a:xfrm>
            <a:off x="1197868" y="404664"/>
            <a:ext cx="3960440" cy="504056"/>
          </a:xfrm>
        </p:spPr>
        <p:txBody>
          <a:bodyPr>
            <a:noAutofit/>
          </a:bodyPr>
          <a:lstStyle/>
          <a:p>
            <a:r>
              <a:rPr lang="en-US" b="1" dirty="0"/>
              <a:t>Figure 5.7.3 Bookmark</a:t>
            </a:r>
            <a:endParaRPr lang="en-IN" b="1" dirty="0"/>
          </a:p>
          <a:p>
            <a:endParaRPr lang="en-IN" dirty="0"/>
          </a:p>
          <a:p>
            <a:endParaRPr lang="en-IN" dirty="0"/>
          </a:p>
        </p:txBody>
      </p:sp>
      <p:pic>
        <p:nvPicPr>
          <p:cNvPr id="7" name="Content Placeholder 6">
            <a:extLst>
              <a:ext uri="{FF2B5EF4-FFF2-40B4-BE49-F238E27FC236}">
                <a16:creationId xmlns:a16="http://schemas.microsoft.com/office/drawing/2014/main" id="{DED3D8F1-F52B-95E6-52BB-C5E7D41943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9836" y="1035539"/>
            <a:ext cx="10513168" cy="5503075"/>
          </a:xfrm>
          <a:prstGeom prst="rect">
            <a:avLst/>
          </a:prstGeom>
        </p:spPr>
      </p:pic>
    </p:spTree>
    <p:extLst>
      <p:ext uri="{BB962C8B-B14F-4D97-AF65-F5344CB8AC3E}">
        <p14:creationId xmlns:p14="http://schemas.microsoft.com/office/powerpoint/2010/main" val="297101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1B84-1E0D-CD0B-D9DD-68462B3451D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C10437-0D0D-C97B-BF8C-B31C83313366}"/>
              </a:ext>
            </a:extLst>
          </p:cNvPr>
          <p:cNvSpPr>
            <a:spLocks noGrp="1"/>
          </p:cNvSpPr>
          <p:nvPr>
            <p:ph type="body" sz="half" idx="2"/>
          </p:nvPr>
        </p:nvSpPr>
        <p:spPr>
          <a:xfrm>
            <a:off x="1197868" y="404664"/>
            <a:ext cx="3960440" cy="504056"/>
          </a:xfrm>
        </p:spPr>
        <p:txBody>
          <a:bodyPr>
            <a:noAutofit/>
          </a:bodyPr>
          <a:lstStyle/>
          <a:p>
            <a:r>
              <a:rPr lang="en-US" b="1" dirty="0"/>
              <a:t>Figure 2.7.4 </a:t>
            </a:r>
            <a:r>
              <a:rPr lang="en-US" b="1" dirty="0" err="1"/>
              <a:t>Codingnotes</a:t>
            </a:r>
            <a:endParaRPr lang="en-IN" b="1" dirty="0"/>
          </a:p>
          <a:p>
            <a:endParaRPr lang="en-IN" dirty="0"/>
          </a:p>
          <a:p>
            <a:endParaRPr lang="en-IN" dirty="0"/>
          </a:p>
        </p:txBody>
      </p:sp>
      <p:pic>
        <p:nvPicPr>
          <p:cNvPr id="7" name="Content Placeholder 6">
            <a:extLst>
              <a:ext uri="{FF2B5EF4-FFF2-40B4-BE49-F238E27FC236}">
                <a16:creationId xmlns:a16="http://schemas.microsoft.com/office/drawing/2014/main" id="{4D22DB74-A2AB-DBC1-2AF4-A2E6BBE504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5820" y="941114"/>
            <a:ext cx="10369152" cy="5340839"/>
          </a:xfrm>
          <a:prstGeom prst="rect">
            <a:avLst/>
          </a:prstGeom>
        </p:spPr>
      </p:pic>
    </p:spTree>
    <p:extLst>
      <p:ext uri="{BB962C8B-B14F-4D97-AF65-F5344CB8AC3E}">
        <p14:creationId xmlns:p14="http://schemas.microsoft.com/office/powerpoint/2010/main" val="269626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9D96-C819-08B5-B66A-81CDE4D9914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14F88A3-A079-139D-8C82-0A4355FB5C70}"/>
              </a:ext>
            </a:extLst>
          </p:cNvPr>
          <p:cNvSpPr>
            <a:spLocks noGrp="1"/>
          </p:cNvSpPr>
          <p:nvPr>
            <p:ph type="body" sz="half" idx="2"/>
          </p:nvPr>
        </p:nvSpPr>
        <p:spPr>
          <a:xfrm>
            <a:off x="1197868" y="404664"/>
            <a:ext cx="3960440" cy="504056"/>
          </a:xfrm>
        </p:spPr>
        <p:txBody>
          <a:bodyPr>
            <a:noAutofit/>
          </a:bodyPr>
          <a:lstStyle/>
          <a:p>
            <a:r>
              <a:rPr lang="en-US" b="1" dirty="0"/>
              <a:t>Figure 5.7.5 Coding Problems</a:t>
            </a:r>
            <a:endParaRPr lang="en-IN" b="1" dirty="0"/>
          </a:p>
          <a:p>
            <a:endParaRPr lang="en-IN" dirty="0"/>
          </a:p>
          <a:p>
            <a:endParaRPr lang="en-IN" dirty="0"/>
          </a:p>
        </p:txBody>
      </p:sp>
      <p:pic>
        <p:nvPicPr>
          <p:cNvPr id="7" name="Content Placeholder 6">
            <a:extLst>
              <a:ext uri="{FF2B5EF4-FFF2-40B4-BE49-F238E27FC236}">
                <a16:creationId xmlns:a16="http://schemas.microsoft.com/office/drawing/2014/main" id="{C17692A9-5407-6929-514A-B872A0368A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1124744"/>
            <a:ext cx="9865096" cy="5413706"/>
          </a:xfrm>
          <a:prstGeom prst="rect">
            <a:avLst/>
          </a:prstGeom>
        </p:spPr>
      </p:pic>
    </p:spTree>
    <p:extLst>
      <p:ext uri="{BB962C8B-B14F-4D97-AF65-F5344CB8AC3E}">
        <p14:creationId xmlns:p14="http://schemas.microsoft.com/office/powerpoint/2010/main" val="28733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F1A3-7FA6-CE19-4583-33CE421E0A0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113F50B-3C26-3A93-FCFD-1F90D3647398}"/>
              </a:ext>
            </a:extLst>
          </p:cNvPr>
          <p:cNvSpPr>
            <a:spLocks noGrp="1"/>
          </p:cNvSpPr>
          <p:nvPr>
            <p:ph type="body" sz="half" idx="2"/>
          </p:nvPr>
        </p:nvSpPr>
        <p:spPr>
          <a:xfrm>
            <a:off x="1197868" y="404664"/>
            <a:ext cx="3960440" cy="504056"/>
          </a:xfrm>
        </p:spPr>
        <p:txBody>
          <a:bodyPr>
            <a:noAutofit/>
          </a:bodyPr>
          <a:lstStyle/>
          <a:p>
            <a:r>
              <a:rPr lang="en-US" b="1" dirty="0"/>
              <a:t>Figure 5.7.6 Coding </a:t>
            </a:r>
            <a:r>
              <a:rPr lang="en-IN" b="1" dirty="0"/>
              <a:t>Submission </a:t>
            </a:r>
          </a:p>
          <a:p>
            <a:endParaRPr lang="en-IN" dirty="0"/>
          </a:p>
          <a:p>
            <a:endParaRPr lang="en-IN" dirty="0"/>
          </a:p>
        </p:txBody>
      </p:sp>
      <p:pic>
        <p:nvPicPr>
          <p:cNvPr id="7" name="Content Placeholder 6">
            <a:extLst>
              <a:ext uri="{FF2B5EF4-FFF2-40B4-BE49-F238E27FC236}">
                <a16:creationId xmlns:a16="http://schemas.microsoft.com/office/drawing/2014/main" id="{41263359-7CA0-93E5-52D6-E1B82C9F6E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7828" y="693794"/>
            <a:ext cx="10009112" cy="5470412"/>
          </a:xfrm>
          <a:prstGeom prst="rect">
            <a:avLst/>
          </a:prstGeom>
        </p:spPr>
      </p:pic>
    </p:spTree>
    <p:extLst>
      <p:ext uri="{BB962C8B-B14F-4D97-AF65-F5344CB8AC3E}">
        <p14:creationId xmlns:p14="http://schemas.microsoft.com/office/powerpoint/2010/main" val="5918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37749-E598-E537-3B80-F5AEABD4FA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1C623DE-9D88-6913-EE31-B1E24A5B0D1B}"/>
              </a:ext>
            </a:extLst>
          </p:cNvPr>
          <p:cNvSpPr>
            <a:spLocks noGrp="1"/>
          </p:cNvSpPr>
          <p:nvPr>
            <p:ph type="body" sz="half" idx="2"/>
          </p:nvPr>
        </p:nvSpPr>
        <p:spPr>
          <a:xfrm>
            <a:off x="1197868" y="404664"/>
            <a:ext cx="3960440" cy="504056"/>
          </a:xfrm>
        </p:spPr>
        <p:txBody>
          <a:bodyPr>
            <a:noAutofit/>
          </a:bodyPr>
          <a:lstStyle/>
          <a:p>
            <a:r>
              <a:rPr lang="en-US" b="1" dirty="0"/>
              <a:t>Figure 5.7.7 </a:t>
            </a:r>
            <a:r>
              <a:rPr lang="en-IN" b="1" dirty="0"/>
              <a:t>Companies </a:t>
            </a:r>
          </a:p>
          <a:p>
            <a:endParaRPr lang="en-IN" dirty="0"/>
          </a:p>
          <a:p>
            <a:endParaRPr lang="en-IN" dirty="0"/>
          </a:p>
        </p:txBody>
      </p:sp>
      <p:pic>
        <p:nvPicPr>
          <p:cNvPr id="11" name="Content Placeholder 10">
            <a:extLst>
              <a:ext uri="{FF2B5EF4-FFF2-40B4-BE49-F238E27FC236}">
                <a16:creationId xmlns:a16="http://schemas.microsoft.com/office/drawing/2014/main" id="{5A92518A-BE05-5FA1-D5E3-F345FF1F76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7828" y="911399"/>
            <a:ext cx="10081120" cy="5355766"/>
          </a:xfrm>
          <a:prstGeom prst="rect">
            <a:avLst/>
          </a:prstGeom>
        </p:spPr>
      </p:pic>
    </p:spTree>
    <p:extLst>
      <p:ext uri="{BB962C8B-B14F-4D97-AF65-F5344CB8AC3E}">
        <p14:creationId xmlns:p14="http://schemas.microsoft.com/office/powerpoint/2010/main" val="143313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EEBA-DFBB-27CB-A66B-9F1B7E97142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FD21D5A-E9B8-CC25-876D-BD596E52104D}"/>
              </a:ext>
            </a:extLst>
          </p:cNvPr>
          <p:cNvSpPr>
            <a:spLocks noGrp="1"/>
          </p:cNvSpPr>
          <p:nvPr>
            <p:ph type="body" sz="half" idx="2"/>
          </p:nvPr>
        </p:nvSpPr>
        <p:spPr>
          <a:xfrm>
            <a:off x="1197868" y="404664"/>
            <a:ext cx="3960440" cy="504056"/>
          </a:xfrm>
        </p:spPr>
        <p:txBody>
          <a:bodyPr>
            <a:noAutofit/>
          </a:bodyPr>
          <a:lstStyle/>
          <a:p>
            <a:r>
              <a:rPr lang="en-US" b="1" dirty="0"/>
              <a:t>Figure 5.7.8 </a:t>
            </a:r>
            <a:r>
              <a:rPr lang="en-IN" b="1" dirty="0"/>
              <a:t>Interview Questions </a:t>
            </a:r>
          </a:p>
          <a:p>
            <a:endParaRPr lang="en-IN" dirty="0"/>
          </a:p>
          <a:p>
            <a:endParaRPr lang="en-IN" dirty="0"/>
          </a:p>
        </p:txBody>
      </p:sp>
      <p:pic>
        <p:nvPicPr>
          <p:cNvPr id="6" name="Content Placeholder 5">
            <a:extLst>
              <a:ext uri="{FF2B5EF4-FFF2-40B4-BE49-F238E27FC236}">
                <a16:creationId xmlns:a16="http://schemas.microsoft.com/office/drawing/2014/main" id="{5FB3A4D5-C9C6-3640-A62E-A4C8454118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908719"/>
            <a:ext cx="9793089" cy="5189271"/>
          </a:xfrm>
          <a:prstGeom prst="rect">
            <a:avLst/>
          </a:prstGeom>
        </p:spPr>
      </p:pic>
    </p:spTree>
    <p:extLst>
      <p:ext uri="{BB962C8B-B14F-4D97-AF65-F5344CB8AC3E}">
        <p14:creationId xmlns:p14="http://schemas.microsoft.com/office/powerpoint/2010/main" val="234620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D8A90-EB9F-49E6-9B24-269254F44B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8008122-27A3-4071-4716-D1A49229C4B8}"/>
              </a:ext>
            </a:extLst>
          </p:cNvPr>
          <p:cNvSpPr>
            <a:spLocks noGrp="1"/>
          </p:cNvSpPr>
          <p:nvPr>
            <p:ph type="body" sz="half" idx="2"/>
          </p:nvPr>
        </p:nvSpPr>
        <p:spPr>
          <a:xfrm>
            <a:off x="1197868" y="404664"/>
            <a:ext cx="3960440" cy="504056"/>
          </a:xfrm>
        </p:spPr>
        <p:txBody>
          <a:bodyPr>
            <a:noAutofit/>
          </a:bodyPr>
          <a:lstStyle/>
          <a:p>
            <a:r>
              <a:rPr lang="en-US" b="1" dirty="0"/>
              <a:t>Figure 5.7.9 </a:t>
            </a:r>
            <a:r>
              <a:rPr lang="en-IN" b="1" dirty="0"/>
              <a:t>Notification </a:t>
            </a:r>
          </a:p>
          <a:p>
            <a:endParaRPr lang="en-IN" dirty="0"/>
          </a:p>
          <a:p>
            <a:endParaRPr lang="en-IN" dirty="0"/>
          </a:p>
        </p:txBody>
      </p:sp>
      <p:pic>
        <p:nvPicPr>
          <p:cNvPr id="7" name="Content Placeholder 6">
            <a:extLst>
              <a:ext uri="{FF2B5EF4-FFF2-40B4-BE49-F238E27FC236}">
                <a16:creationId xmlns:a16="http://schemas.microsoft.com/office/drawing/2014/main" id="{5ABAD4DE-1498-22DB-05CC-967D19F9BA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908719"/>
            <a:ext cx="9937105" cy="5247563"/>
          </a:xfrm>
          <a:prstGeom prst="rect">
            <a:avLst/>
          </a:prstGeom>
        </p:spPr>
      </p:pic>
    </p:spTree>
    <p:extLst>
      <p:ext uri="{BB962C8B-B14F-4D97-AF65-F5344CB8AC3E}">
        <p14:creationId xmlns:p14="http://schemas.microsoft.com/office/powerpoint/2010/main" val="146238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F3F7-ADBB-466C-7884-C2B8E909D78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E296012-8219-D63A-3149-3B93E4CBBC4E}"/>
              </a:ext>
            </a:extLst>
          </p:cNvPr>
          <p:cNvSpPr>
            <a:spLocks noGrp="1"/>
          </p:cNvSpPr>
          <p:nvPr>
            <p:ph type="body" sz="half" idx="2"/>
          </p:nvPr>
        </p:nvSpPr>
        <p:spPr>
          <a:xfrm>
            <a:off x="1197868" y="404664"/>
            <a:ext cx="3960440" cy="504056"/>
          </a:xfrm>
        </p:spPr>
        <p:txBody>
          <a:bodyPr>
            <a:noAutofit/>
          </a:bodyPr>
          <a:lstStyle/>
          <a:p>
            <a:r>
              <a:rPr lang="en-US" b="1" dirty="0"/>
              <a:t>Figure 5.7.10 </a:t>
            </a:r>
            <a:r>
              <a:rPr lang="en-IN" b="1" dirty="0"/>
              <a:t>Question Report </a:t>
            </a:r>
          </a:p>
          <a:p>
            <a:endParaRPr lang="en-IN" dirty="0"/>
          </a:p>
          <a:p>
            <a:endParaRPr lang="en-IN" dirty="0"/>
          </a:p>
        </p:txBody>
      </p:sp>
      <p:pic>
        <p:nvPicPr>
          <p:cNvPr id="7" name="Content Placeholder 6">
            <a:extLst>
              <a:ext uri="{FF2B5EF4-FFF2-40B4-BE49-F238E27FC236}">
                <a16:creationId xmlns:a16="http://schemas.microsoft.com/office/drawing/2014/main" id="{F18D3CCF-71B7-6CBE-2C7A-62FF4B5ACD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1804" y="908719"/>
            <a:ext cx="10657184" cy="5605735"/>
          </a:xfrm>
          <a:prstGeom prst="rect">
            <a:avLst/>
          </a:prstGeom>
        </p:spPr>
      </p:pic>
    </p:spTree>
    <p:extLst>
      <p:ext uri="{BB962C8B-B14F-4D97-AF65-F5344CB8AC3E}">
        <p14:creationId xmlns:p14="http://schemas.microsoft.com/office/powerpoint/2010/main" val="69441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581C-B44A-6099-F2DD-5E56C7D45474}"/>
              </a:ext>
            </a:extLst>
          </p:cNvPr>
          <p:cNvSpPr>
            <a:spLocks noGrp="1"/>
          </p:cNvSpPr>
          <p:nvPr>
            <p:ph type="title"/>
          </p:nvPr>
        </p:nvSpPr>
        <p:spPr>
          <a:xfrm>
            <a:off x="978623" y="332656"/>
            <a:ext cx="3873178" cy="676672"/>
          </a:xfrm>
        </p:spPr>
        <p:txBody>
          <a:bodyPr>
            <a:normAutofit/>
          </a:bodyPr>
          <a:lstStyle/>
          <a:p>
            <a:r>
              <a:rPr lang="en-US" b="1" dirty="0"/>
              <a:t>Figure 5.7.11 </a:t>
            </a:r>
            <a:r>
              <a:rPr lang="en-IN" dirty="0"/>
              <a:t>Questions</a:t>
            </a:r>
          </a:p>
        </p:txBody>
      </p:sp>
      <p:pic>
        <p:nvPicPr>
          <p:cNvPr id="6" name="Content Placeholder 5">
            <a:extLst>
              <a:ext uri="{FF2B5EF4-FFF2-40B4-BE49-F238E27FC236}">
                <a16:creationId xmlns:a16="http://schemas.microsoft.com/office/drawing/2014/main" id="{05535BD4-DBBB-748D-CCAF-29673776BE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132" y="1088246"/>
            <a:ext cx="10231579" cy="5437098"/>
          </a:xfrm>
          <a:prstGeom prst="rect">
            <a:avLst/>
          </a:prstGeom>
        </p:spPr>
      </p:pic>
      <p:sp>
        <p:nvSpPr>
          <p:cNvPr id="4" name="Text Placeholder 3">
            <a:extLst>
              <a:ext uri="{FF2B5EF4-FFF2-40B4-BE49-F238E27FC236}">
                <a16:creationId xmlns:a16="http://schemas.microsoft.com/office/drawing/2014/main" id="{2B2A1808-CF3E-597B-9C40-6BECA065A1AB}"/>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3396836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63EE-7C12-FE9A-A874-A14D50A361D3}"/>
              </a:ext>
            </a:extLst>
          </p:cNvPr>
          <p:cNvSpPr>
            <a:spLocks noGrp="1"/>
          </p:cNvSpPr>
          <p:nvPr>
            <p:ph type="title"/>
          </p:nvPr>
        </p:nvSpPr>
        <p:spPr>
          <a:xfrm>
            <a:off x="693812" y="-315416"/>
            <a:ext cx="5328592" cy="1371600"/>
          </a:xfrm>
        </p:spPr>
        <p:txBody>
          <a:bodyPr/>
          <a:lstStyle/>
          <a:p>
            <a:r>
              <a:rPr lang="en-US" b="1" dirty="0"/>
              <a:t>Figure 5.7.12 </a:t>
            </a:r>
            <a:r>
              <a:rPr lang="en-IN" b="1" dirty="0"/>
              <a:t>Question</a:t>
            </a:r>
            <a:r>
              <a:rPr lang="en-US" b="1" dirty="0"/>
              <a:t> </a:t>
            </a:r>
            <a:r>
              <a:rPr lang="en-IN" b="1" dirty="0"/>
              <a:t>Report </a:t>
            </a:r>
            <a:endParaRPr lang="en-IN" dirty="0"/>
          </a:p>
        </p:txBody>
      </p:sp>
      <p:pic>
        <p:nvPicPr>
          <p:cNvPr id="6" name="Content Placeholder 5">
            <a:extLst>
              <a:ext uri="{FF2B5EF4-FFF2-40B4-BE49-F238E27FC236}">
                <a16:creationId xmlns:a16="http://schemas.microsoft.com/office/drawing/2014/main" id="{CDB6C0ED-A73B-1F88-FCD2-D801390ED8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1844" y="1408534"/>
            <a:ext cx="9649072" cy="5077088"/>
          </a:xfrm>
          <a:prstGeom prst="rect">
            <a:avLst/>
          </a:prstGeom>
        </p:spPr>
      </p:pic>
      <p:sp>
        <p:nvSpPr>
          <p:cNvPr id="4" name="Text Placeholder 3">
            <a:extLst>
              <a:ext uri="{FF2B5EF4-FFF2-40B4-BE49-F238E27FC236}">
                <a16:creationId xmlns:a16="http://schemas.microsoft.com/office/drawing/2014/main" id="{2203ADD5-80BC-AF91-D0F1-C8A823EF80DD}"/>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244918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52DD3-A8D9-5DB1-4C05-051F2B083A53}"/>
              </a:ext>
            </a:extLst>
          </p:cNvPr>
          <p:cNvSpPr>
            <a:spLocks noGrp="1"/>
          </p:cNvSpPr>
          <p:nvPr>
            <p:ph type="title"/>
          </p:nvPr>
        </p:nvSpPr>
        <p:spPr>
          <a:xfrm>
            <a:off x="773807" y="-560365"/>
            <a:ext cx="3548197" cy="1371600"/>
          </a:xfrm>
        </p:spPr>
        <p:txBody>
          <a:bodyPr/>
          <a:lstStyle/>
          <a:p>
            <a:r>
              <a:rPr lang="en-US" b="1" dirty="0"/>
              <a:t>Figure 5.7.13 result</a:t>
            </a:r>
            <a:endParaRPr lang="en-IN" dirty="0"/>
          </a:p>
        </p:txBody>
      </p:sp>
      <p:pic>
        <p:nvPicPr>
          <p:cNvPr id="6" name="Content Placeholder 5">
            <a:extLst>
              <a:ext uri="{FF2B5EF4-FFF2-40B4-BE49-F238E27FC236}">
                <a16:creationId xmlns:a16="http://schemas.microsoft.com/office/drawing/2014/main" id="{147D9355-FE49-8DB8-06AA-5E8F6607C2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7828" y="1052736"/>
            <a:ext cx="10009112" cy="5279592"/>
          </a:xfrm>
          <a:prstGeom prst="rect">
            <a:avLst/>
          </a:prstGeom>
        </p:spPr>
      </p:pic>
      <p:sp>
        <p:nvSpPr>
          <p:cNvPr id="4" name="Text Placeholder 3">
            <a:extLst>
              <a:ext uri="{FF2B5EF4-FFF2-40B4-BE49-F238E27FC236}">
                <a16:creationId xmlns:a16="http://schemas.microsoft.com/office/drawing/2014/main" id="{CD9012E8-13F9-2D24-D056-B426F5305C35}"/>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196360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070C9-B963-8BE0-1D79-154B64E9860A}"/>
              </a:ext>
            </a:extLst>
          </p:cNvPr>
          <p:cNvSpPr>
            <a:spLocks noGrp="1"/>
          </p:cNvSpPr>
          <p:nvPr>
            <p:ph type="title"/>
          </p:nvPr>
        </p:nvSpPr>
        <p:spPr>
          <a:xfrm>
            <a:off x="909836" y="-459432"/>
            <a:ext cx="5328592" cy="1371600"/>
          </a:xfrm>
        </p:spPr>
        <p:txBody>
          <a:bodyPr/>
          <a:lstStyle/>
          <a:p>
            <a:r>
              <a:rPr lang="en-US" b="1" dirty="0"/>
              <a:t>Figure 5.7.14 resume </a:t>
            </a:r>
            <a:r>
              <a:rPr lang="en-IN" b="1" dirty="0"/>
              <a:t>scanning </a:t>
            </a:r>
            <a:endParaRPr lang="en-IN" dirty="0"/>
          </a:p>
        </p:txBody>
      </p:sp>
      <p:pic>
        <p:nvPicPr>
          <p:cNvPr id="6" name="Content Placeholder 5">
            <a:extLst>
              <a:ext uri="{FF2B5EF4-FFF2-40B4-BE49-F238E27FC236}">
                <a16:creationId xmlns:a16="http://schemas.microsoft.com/office/drawing/2014/main" id="{D50DB71E-8BAC-0217-A69E-EBB594CACE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114" y="1124744"/>
            <a:ext cx="9577064" cy="5083732"/>
          </a:xfrm>
          <a:prstGeom prst="rect">
            <a:avLst/>
          </a:prstGeom>
        </p:spPr>
      </p:pic>
      <p:sp>
        <p:nvSpPr>
          <p:cNvPr id="4" name="Text Placeholder 3">
            <a:extLst>
              <a:ext uri="{FF2B5EF4-FFF2-40B4-BE49-F238E27FC236}">
                <a16:creationId xmlns:a16="http://schemas.microsoft.com/office/drawing/2014/main" id="{54A14A48-C682-1B68-C10B-1603E363BA70}"/>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106820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49E26-8B09-8C44-E864-1C78AE5EF62D}"/>
              </a:ext>
            </a:extLst>
          </p:cNvPr>
          <p:cNvSpPr>
            <a:spLocks noGrp="1"/>
          </p:cNvSpPr>
          <p:nvPr>
            <p:ph type="title"/>
          </p:nvPr>
        </p:nvSpPr>
        <p:spPr>
          <a:xfrm>
            <a:off x="1053852" y="-603448"/>
            <a:ext cx="3548197" cy="1371600"/>
          </a:xfrm>
        </p:spPr>
        <p:txBody>
          <a:bodyPr/>
          <a:lstStyle/>
          <a:p>
            <a:r>
              <a:rPr lang="en-US" b="1" dirty="0"/>
              <a:t>Figure 5.7.15 tests</a:t>
            </a:r>
            <a:endParaRPr lang="en-IN" dirty="0"/>
          </a:p>
        </p:txBody>
      </p:sp>
      <p:pic>
        <p:nvPicPr>
          <p:cNvPr id="6" name="Content Placeholder 5">
            <a:extLst>
              <a:ext uri="{FF2B5EF4-FFF2-40B4-BE49-F238E27FC236}">
                <a16:creationId xmlns:a16="http://schemas.microsoft.com/office/drawing/2014/main" id="{30CE049C-3262-0A80-C058-1B47A4F47A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114" y="1052735"/>
            <a:ext cx="9705826" cy="5192351"/>
          </a:xfrm>
          <a:prstGeom prst="rect">
            <a:avLst/>
          </a:prstGeom>
        </p:spPr>
      </p:pic>
      <p:sp>
        <p:nvSpPr>
          <p:cNvPr id="4" name="Text Placeholder 3">
            <a:extLst>
              <a:ext uri="{FF2B5EF4-FFF2-40B4-BE49-F238E27FC236}">
                <a16:creationId xmlns:a16="http://schemas.microsoft.com/office/drawing/2014/main" id="{74C1792E-986E-CECD-967A-52117DD0B586}"/>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2515207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A3FFD-6407-16D3-848D-9FD1C7BAD8CB}"/>
              </a:ext>
            </a:extLst>
          </p:cNvPr>
          <p:cNvSpPr>
            <a:spLocks noGrp="1"/>
          </p:cNvSpPr>
          <p:nvPr>
            <p:ph type="title"/>
          </p:nvPr>
        </p:nvSpPr>
        <p:spPr>
          <a:xfrm>
            <a:off x="837828" y="-531440"/>
            <a:ext cx="4392488" cy="1371600"/>
          </a:xfrm>
        </p:spPr>
        <p:txBody>
          <a:bodyPr/>
          <a:lstStyle/>
          <a:p>
            <a:r>
              <a:rPr lang="en-US" b="1" dirty="0"/>
              <a:t>Figure 5.7.16 topic notes</a:t>
            </a:r>
            <a:endParaRPr lang="en-IN" dirty="0"/>
          </a:p>
        </p:txBody>
      </p:sp>
      <p:pic>
        <p:nvPicPr>
          <p:cNvPr id="6" name="Content Placeholder 5">
            <a:extLst>
              <a:ext uri="{FF2B5EF4-FFF2-40B4-BE49-F238E27FC236}">
                <a16:creationId xmlns:a16="http://schemas.microsoft.com/office/drawing/2014/main" id="{E057A459-B2B2-FF5B-985F-E0057C5BAD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1844" y="1196752"/>
            <a:ext cx="10065867" cy="5277513"/>
          </a:xfrm>
          <a:prstGeom prst="rect">
            <a:avLst/>
          </a:prstGeom>
        </p:spPr>
      </p:pic>
      <p:sp>
        <p:nvSpPr>
          <p:cNvPr id="4" name="Text Placeholder 3">
            <a:extLst>
              <a:ext uri="{FF2B5EF4-FFF2-40B4-BE49-F238E27FC236}">
                <a16:creationId xmlns:a16="http://schemas.microsoft.com/office/drawing/2014/main" id="{2A2679CA-387A-2869-D26A-03DBC72BED8B}"/>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379925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35B7C-08CE-CD46-E996-2C56DCC8962C}"/>
              </a:ext>
            </a:extLst>
          </p:cNvPr>
          <p:cNvSpPr>
            <a:spLocks noGrp="1"/>
          </p:cNvSpPr>
          <p:nvPr>
            <p:ph type="title"/>
          </p:nvPr>
        </p:nvSpPr>
        <p:spPr>
          <a:xfrm>
            <a:off x="1129679" y="-685800"/>
            <a:ext cx="3548197" cy="1371600"/>
          </a:xfrm>
        </p:spPr>
        <p:txBody>
          <a:bodyPr/>
          <a:lstStyle/>
          <a:p>
            <a:r>
              <a:rPr lang="en-US" b="1"/>
              <a:t>Figure 5.7.17 </a:t>
            </a:r>
            <a:r>
              <a:rPr lang="en-US" b="1" dirty="0"/>
              <a:t>Users</a:t>
            </a:r>
            <a:endParaRPr lang="en-IN" dirty="0"/>
          </a:p>
        </p:txBody>
      </p:sp>
      <p:pic>
        <p:nvPicPr>
          <p:cNvPr id="6" name="Content Placeholder 5">
            <a:extLst>
              <a:ext uri="{FF2B5EF4-FFF2-40B4-BE49-F238E27FC236}">
                <a16:creationId xmlns:a16="http://schemas.microsoft.com/office/drawing/2014/main" id="{292C5BF3-259E-A6F2-AA54-949C97589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114" y="1052736"/>
            <a:ext cx="10065866" cy="5325131"/>
          </a:xfrm>
          <a:prstGeom prst="rect">
            <a:avLst/>
          </a:prstGeom>
        </p:spPr>
      </p:pic>
      <p:sp>
        <p:nvSpPr>
          <p:cNvPr id="4" name="Text Placeholder 3">
            <a:extLst>
              <a:ext uri="{FF2B5EF4-FFF2-40B4-BE49-F238E27FC236}">
                <a16:creationId xmlns:a16="http://schemas.microsoft.com/office/drawing/2014/main" id="{9EA3E29D-19B1-3DA2-E87E-19978620809E}"/>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1770634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7E55-D303-60CA-BB69-B848EF8B410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50DEDD-48CB-A02F-D328-A808A4BFEE2B}"/>
              </a:ext>
            </a:extLst>
          </p:cNvPr>
          <p:cNvSpPr>
            <a:spLocks noGrp="1"/>
          </p:cNvSpPr>
          <p:nvPr>
            <p:ph type="body" sz="half" idx="2"/>
          </p:nvPr>
        </p:nvSpPr>
        <p:spPr>
          <a:xfrm>
            <a:off x="837828" y="404664"/>
            <a:ext cx="4032448" cy="936104"/>
          </a:xfrm>
        </p:spPr>
        <p:txBody>
          <a:bodyPr>
            <a:noAutofit/>
          </a:bodyPr>
          <a:lstStyle/>
          <a:p>
            <a:r>
              <a:rPr lang="en-US" b="1" dirty="0"/>
              <a:t>5.8 </a:t>
            </a:r>
            <a:r>
              <a:rPr lang="en-IN" b="1" dirty="0"/>
              <a:t>Menu-Screen Design:</a:t>
            </a:r>
            <a:endParaRPr lang="en-IN" dirty="0"/>
          </a:p>
          <a:p>
            <a:r>
              <a:rPr lang="en-US" b="1" dirty="0"/>
              <a:t>Figure 5.8.1 </a:t>
            </a:r>
            <a:r>
              <a:rPr lang="en-IN" b="1" dirty="0"/>
              <a:t>Registration </a:t>
            </a:r>
          </a:p>
          <a:p>
            <a:endParaRPr lang="en-IN" sz="1600" dirty="0"/>
          </a:p>
          <a:p>
            <a:endParaRPr lang="en-IN" sz="1600" dirty="0"/>
          </a:p>
        </p:txBody>
      </p:sp>
      <p:pic>
        <p:nvPicPr>
          <p:cNvPr id="7" name="Content Placeholder 6">
            <a:extLst>
              <a:ext uri="{FF2B5EF4-FFF2-40B4-BE49-F238E27FC236}">
                <a16:creationId xmlns:a16="http://schemas.microsoft.com/office/drawing/2014/main" id="{479C3060-85D1-9313-DB00-06BD179B8C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9836" y="1309538"/>
            <a:ext cx="10441161" cy="4738379"/>
          </a:xfrm>
          <a:prstGeom prst="rect">
            <a:avLst/>
          </a:prstGeom>
        </p:spPr>
      </p:pic>
    </p:spTree>
    <p:extLst>
      <p:ext uri="{BB962C8B-B14F-4D97-AF65-F5344CB8AC3E}">
        <p14:creationId xmlns:p14="http://schemas.microsoft.com/office/powerpoint/2010/main" val="3674090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14047-1DE3-B0E2-445F-DA865826B8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7E7C8C0-F2E4-DBFF-158B-CC5E5E3DDA82}"/>
              </a:ext>
            </a:extLst>
          </p:cNvPr>
          <p:cNvSpPr>
            <a:spLocks noGrp="1"/>
          </p:cNvSpPr>
          <p:nvPr>
            <p:ph type="body" sz="half" idx="2"/>
          </p:nvPr>
        </p:nvSpPr>
        <p:spPr>
          <a:xfrm>
            <a:off x="1197868" y="404664"/>
            <a:ext cx="3960440" cy="504056"/>
          </a:xfrm>
        </p:spPr>
        <p:txBody>
          <a:bodyPr>
            <a:noAutofit/>
          </a:bodyPr>
          <a:lstStyle/>
          <a:p>
            <a:r>
              <a:rPr lang="en-US" b="1" dirty="0"/>
              <a:t>Figure 5.8.2 Login Screen</a:t>
            </a:r>
            <a:endParaRPr lang="en-IN" b="1" dirty="0"/>
          </a:p>
        </p:txBody>
      </p:sp>
      <p:pic>
        <p:nvPicPr>
          <p:cNvPr id="7" name="Content Placeholder 6">
            <a:extLst>
              <a:ext uri="{FF2B5EF4-FFF2-40B4-BE49-F238E27FC236}">
                <a16:creationId xmlns:a16="http://schemas.microsoft.com/office/drawing/2014/main" id="{C60408A6-9198-51C6-CF51-88A741252E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2563" y="1268759"/>
            <a:ext cx="10240441" cy="4517045"/>
          </a:xfrm>
          <a:prstGeom prst="rect">
            <a:avLst/>
          </a:prstGeom>
        </p:spPr>
      </p:pic>
    </p:spTree>
    <p:extLst>
      <p:ext uri="{BB962C8B-B14F-4D97-AF65-F5344CB8AC3E}">
        <p14:creationId xmlns:p14="http://schemas.microsoft.com/office/powerpoint/2010/main" val="28674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161FA-B5D7-58A8-2805-B0F28386642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10F9BE-B3C1-105C-EA82-CEB0324BB7F3}"/>
              </a:ext>
            </a:extLst>
          </p:cNvPr>
          <p:cNvSpPr>
            <a:spLocks noGrp="1"/>
          </p:cNvSpPr>
          <p:nvPr>
            <p:ph type="body" sz="half" idx="2"/>
          </p:nvPr>
        </p:nvSpPr>
        <p:spPr>
          <a:xfrm>
            <a:off x="1197868" y="404664"/>
            <a:ext cx="3960440" cy="504056"/>
          </a:xfrm>
        </p:spPr>
        <p:txBody>
          <a:bodyPr>
            <a:noAutofit/>
          </a:bodyPr>
          <a:lstStyle/>
          <a:p>
            <a:r>
              <a:rPr lang="en-US" b="1" dirty="0"/>
              <a:t>Figure 3.8.3 Student Dashboard Screen</a:t>
            </a:r>
            <a:endParaRPr lang="en-IN" b="1" dirty="0"/>
          </a:p>
        </p:txBody>
      </p:sp>
      <p:pic>
        <p:nvPicPr>
          <p:cNvPr id="7" name="Content Placeholder 6">
            <a:extLst>
              <a:ext uri="{FF2B5EF4-FFF2-40B4-BE49-F238E27FC236}">
                <a16:creationId xmlns:a16="http://schemas.microsoft.com/office/drawing/2014/main" id="{6A79EA73-6705-B907-5B6E-D0C44A26C5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1824" y="980728"/>
            <a:ext cx="10585176" cy="4750915"/>
          </a:xfrm>
          <a:prstGeom prst="rect">
            <a:avLst/>
          </a:prstGeom>
        </p:spPr>
      </p:pic>
    </p:spTree>
    <p:extLst>
      <p:ext uri="{BB962C8B-B14F-4D97-AF65-F5344CB8AC3E}">
        <p14:creationId xmlns:p14="http://schemas.microsoft.com/office/powerpoint/2010/main" val="106482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6397-2356-ACD8-C84A-11139BC0EED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FD59358-3B0F-F7D8-3D6E-6C6ADBFE57EF}"/>
              </a:ext>
            </a:extLst>
          </p:cNvPr>
          <p:cNvSpPr>
            <a:spLocks noGrp="1"/>
          </p:cNvSpPr>
          <p:nvPr>
            <p:ph type="body" sz="half" idx="2"/>
          </p:nvPr>
        </p:nvSpPr>
        <p:spPr>
          <a:xfrm>
            <a:off x="1197868" y="404664"/>
            <a:ext cx="3960440" cy="504056"/>
          </a:xfrm>
        </p:spPr>
        <p:txBody>
          <a:bodyPr>
            <a:noAutofit/>
          </a:bodyPr>
          <a:lstStyle/>
          <a:p>
            <a:r>
              <a:rPr lang="en-US" b="1" dirty="0"/>
              <a:t>Figure 5.8.Aptitude</a:t>
            </a:r>
            <a:endParaRPr lang="en-IN" b="1" dirty="0"/>
          </a:p>
        </p:txBody>
      </p:sp>
      <p:pic>
        <p:nvPicPr>
          <p:cNvPr id="7" name="Content Placeholder 6">
            <a:extLst>
              <a:ext uri="{FF2B5EF4-FFF2-40B4-BE49-F238E27FC236}">
                <a16:creationId xmlns:a16="http://schemas.microsoft.com/office/drawing/2014/main" id="{61E1C0DC-2D76-A1D4-57D8-6F03013F81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7828" y="1340768"/>
            <a:ext cx="10225136" cy="4599102"/>
          </a:xfrm>
          <a:prstGeom prst="rect">
            <a:avLst/>
          </a:prstGeom>
        </p:spPr>
      </p:pic>
    </p:spTree>
    <p:extLst>
      <p:ext uri="{BB962C8B-B14F-4D97-AF65-F5344CB8AC3E}">
        <p14:creationId xmlns:p14="http://schemas.microsoft.com/office/powerpoint/2010/main" val="161677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65B6-C551-26EF-969B-BDCAEFDC09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24D8B09-E7EB-C92F-B74B-7C6B78F4B84C}"/>
              </a:ext>
            </a:extLst>
          </p:cNvPr>
          <p:cNvSpPr>
            <a:spLocks noGrp="1"/>
          </p:cNvSpPr>
          <p:nvPr>
            <p:ph type="body" sz="half" idx="2"/>
          </p:nvPr>
        </p:nvSpPr>
        <p:spPr>
          <a:xfrm>
            <a:off x="1197868" y="404664"/>
            <a:ext cx="3960440" cy="504056"/>
          </a:xfrm>
        </p:spPr>
        <p:txBody>
          <a:bodyPr>
            <a:noAutofit/>
          </a:bodyPr>
          <a:lstStyle/>
          <a:p>
            <a:r>
              <a:rPr lang="en-US" b="1" dirty="0"/>
              <a:t>Figure 5.8.5 Reasoning</a:t>
            </a:r>
            <a:endParaRPr lang="en-IN" b="1" dirty="0"/>
          </a:p>
        </p:txBody>
      </p:sp>
      <p:pic>
        <p:nvPicPr>
          <p:cNvPr id="7" name="Content Placeholder 6">
            <a:extLst>
              <a:ext uri="{FF2B5EF4-FFF2-40B4-BE49-F238E27FC236}">
                <a16:creationId xmlns:a16="http://schemas.microsoft.com/office/drawing/2014/main" id="{5EB97064-9532-10A7-7DBB-0AD9B065BB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9836" y="1340768"/>
            <a:ext cx="10637847" cy="4824536"/>
          </a:xfrm>
          <a:prstGeom prst="rect">
            <a:avLst/>
          </a:prstGeom>
        </p:spPr>
      </p:pic>
    </p:spTree>
    <p:extLst>
      <p:ext uri="{BB962C8B-B14F-4D97-AF65-F5344CB8AC3E}">
        <p14:creationId xmlns:p14="http://schemas.microsoft.com/office/powerpoint/2010/main" val="319082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89532-9672-DF16-075B-97B858905A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4BFD62E-8770-0169-87F3-8FB2A8EE63C3}"/>
              </a:ext>
            </a:extLst>
          </p:cNvPr>
          <p:cNvSpPr>
            <a:spLocks noGrp="1"/>
          </p:cNvSpPr>
          <p:nvPr>
            <p:ph type="body" sz="half" idx="2"/>
          </p:nvPr>
        </p:nvSpPr>
        <p:spPr>
          <a:xfrm>
            <a:off x="1197868" y="404664"/>
            <a:ext cx="3960440" cy="504056"/>
          </a:xfrm>
        </p:spPr>
        <p:txBody>
          <a:bodyPr>
            <a:noAutofit/>
          </a:bodyPr>
          <a:lstStyle/>
          <a:p>
            <a:r>
              <a:rPr lang="en-US" b="1" dirty="0"/>
              <a:t>Figure 5.8.6 </a:t>
            </a:r>
            <a:r>
              <a:rPr lang="en-IN" b="1" dirty="0"/>
              <a:t>English </a:t>
            </a:r>
          </a:p>
        </p:txBody>
      </p:sp>
      <p:pic>
        <p:nvPicPr>
          <p:cNvPr id="7" name="Content Placeholder 6">
            <a:extLst>
              <a:ext uri="{FF2B5EF4-FFF2-40B4-BE49-F238E27FC236}">
                <a16:creationId xmlns:a16="http://schemas.microsoft.com/office/drawing/2014/main" id="{97E1F824-83A0-29DF-1A00-EA80B091E6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9836" y="1340768"/>
            <a:ext cx="10173939" cy="4523556"/>
          </a:xfrm>
          <a:prstGeom prst="rect">
            <a:avLst/>
          </a:prstGeom>
        </p:spPr>
      </p:pic>
    </p:spTree>
    <p:extLst>
      <p:ext uri="{BB962C8B-B14F-4D97-AF65-F5344CB8AC3E}">
        <p14:creationId xmlns:p14="http://schemas.microsoft.com/office/powerpoint/2010/main" val="91648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0B09-BD45-787F-E395-CA511289044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9E1533C-8AF3-BEDF-EF9B-92476736281D}"/>
              </a:ext>
            </a:extLst>
          </p:cNvPr>
          <p:cNvSpPr>
            <a:spLocks noGrp="1"/>
          </p:cNvSpPr>
          <p:nvPr>
            <p:ph type="body" sz="half" idx="2"/>
          </p:nvPr>
        </p:nvSpPr>
        <p:spPr>
          <a:xfrm>
            <a:off x="1197868" y="404664"/>
            <a:ext cx="3960440" cy="504056"/>
          </a:xfrm>
        </p:spPr>
        <p:txBody>
          <a:bodyPr>
            <a:noAutofit/>
          </a:bodyPr>
          <a:lstStyle/>
          <a:p>
            <a:r>
              <a:rPr lang="en-US" b="1" dirty="0"/>
              <a:t>Figure 5.8.7 </a:t>
            </a:r>
            <a:r>
              <a:rPr lang="en-IN" b="1" dirty="0"/>
              <a:t>Coding Practise </a:t>
            </a:r>
          </a:p>
        </p:txBody>
      </p:sp>
      <p:pic>
        <p:nvPicPr>
          <p:cNvPr id="7" name="Content Placeholder 6">
            <a:extLst>
              <a:ext uri="{FF2B5EF4-FFF2-40B4-BE49-F238E27FC236}">
                <a16:creationId xmlns:a16="http://schemas.microsoft.com/office/drawing/2014/main" id="{C5C68924-3EFF-4174-26EB-4220B3CCC4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1268760"/>
            <a:ext cx="9865096" cy="4517314"/>
          </a:xfrm>
          <a:prstGeom prst="rect">
            <a:avLst/>
          </a:prstGeom>
        </p:spPr>
      </p:pic>
    </p:spTree>
    <p:extLst>
      <p:ext uri="{BB962C8B-B14F-4D97-AF65-F5344CB8AC3E}">
        <p14:creationId xmlns:p14="http://schemas.microsoft.com/office/powerpoint/2010/main" val="212567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0E68-0EEC-7494-D841-7E577954F03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AC81B14-2E43-5950-C934-396C63180461}"/>
              </a:ext>
            </a:extLst>
          </p:cNvPr>
          <p:cNvSpPr>
            <a:spLocks noGrp="1"/>
          </p:cNvSpPr>
          <p:nvPr>
            <p:ph type="body" sz="half" idx="2"/>
          </p:nvPr>
        </p:nvSpPr>
        <p:spPr>
          <a:xfrm>
            <a:off x="1197868" y="404664"/>
            <a:ext cx="3960440" cy="504056"/>
          </a:xfrm>
        </p:spPr>
        <p:txBody>
          <a:bodyPr>
            <a:noAutofit/>
          </a:bodyPr>
          <a:lstStyle/>
          <a:p>
            <a:r>
              <a:rPr lang="en-US" b="1" dirty="0"/>
              <a:t>Figure 5.8.8 Mock Test</a:t>
            </a:r>
            <a:endParaRPr lang="en-IN" b="1" dirty="0"/>
          </a:p>
        </p:txBody>
      </p:sp>
      <p:pic>
        <p:nvPicPr>
          <p:cNvPr id="7" name="Content Placeholder 6">
            <a:extLst>
              <a:ext uri="{FF2B5EF4-FFF2-40B4-BE49-F238E27FC236}">
                <a16:creationId xmlns:a16="http://schemas.microsoft.com/office/drawing/2014/main" id="{1C591E5D-4EC1-3F18-B64C-395ACB21F4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1124744"/>
            <a:ext cx="10427735" cy="4608512"/>
          </a:xfrm>
          <a:prstGeom prst="rect">
            <a:avLst/>
          </a:prstGeom>
        </p:spPr>
      </p:pic>
    </p:spTree>
    <p:extLst>
      <p:ext uri="{BB962C8B-B14F-4D97-AF65-F5344CB8AC3E}">
        <p14:creationId xmlns:p14="http://schemas.microsoft.com/office/powerpoint/2010/main" val="26105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5168-D15C-04D7-DA06-456CC6D6AEA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C034BA0-3205-35A1-4553-143FCBA64B5C}"/>
              </a:ext>
            </a:extLst>
          </p:cNvPr>
          <p:cNvSpPr>
            <a:spLocks noGrp="1"/>
          </p:cNvSpPr>
          <p:nvPr>
            <p:ph type="body" sz="half" idx="2"/>
          </p:nvPr>
        </p:nvSpPr>
        <p:spPr>
          <a:xfrm>
            <a:off x="1197868" y="404664"/>
            <a:ext cx="3960440" cy="504056"/>
          </a:xfrm>
        </p:spPr>
        <p:txBody>
          <a:bodyPr>
            <a:noAutofit/>
          </a:bodyPr>
          <a:lstStyle/>
          <a:p>
            <a:r>
              <a:rPr lang="en-US" b="1" dirty="0"/>
              <a:t>Figure 5.8.9 </a:t>
            </a:r>
            <a:r>
              <a:rPr lang="en-IN" b="1" dirty="0"/>
              <a:t>Resume Scanning </a:t>
            </a:r>
          </a:p>
        </p:txBody>
      </p:sp>
      <p:pic>
        <p:nvPicPr>
          <p:cNvPr id="7" name="Content Placeholder 6">
            <a:extLst>
              <a:ext uri="{FF2B5EF4-FFF2-40B4-BE49-F238E27FC236}">
                <a16:creationId xmlns:a16="http://schemas.microsoft.com/office/drawing/2014/main" id="{24B474D9-A044-C949-6925-33CEAC179A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9590" y="1340768"/>
            <a:ext cx="10006448" cy="4464496"/>
          </a:xfrm>
          <a:prstGeom prst="rect">
            <a:avLst/>
          </a:prstGeom>
        </p:spPr>
      </p:pic>
    </p:spTree>
    <p:extLst>
      <p:ext uri="{BB962C8B-B14F-4D97-AF65-F5344CB8AC3E}">
        <p14:creationId xmlns:p14="http://schemas.microsoft.com/office/powerpoint/2010/main" val="14733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75A5-047A-40FD-AA96-DCE56ADC3CE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D56654E-A1A0-13FA-4959-9741D0719BED}"/>
              </a:ext>
            </a:extLst>
          </p:cNvPr>
          <p:cNvSpPr>
            <a:spLocks noGrp="1"/>
          </p:cNvSpPr>
          <p:nvPr>
            <p:ph type="body" sz="half" idx="2"/>
          </p:nvPr>
        </p:nvSpPr>
        <p:spPr>
          <a:xfrm>
            <a:off x="1197868" y="404664"/>
            <a:ext cx="3960440" cy="504056"/>
          </a:xfrm>
        </p:spPr>
        <p:txBody>
          <a:bodyPr>
            <a:noAutofit/>
          </a:bodyPr>
          <a:lstStyle/>
          <a:p>
            <a:r>
              <a:rPr lang="en-US" b="1" dirty="0"/>
              <a:t>Figure 5.8.10 </a:t>
            </a:r>
            <a:r>
              <a:rPr lang="en-IN" b="1" dirty="0"/>
              <a:t>Company </a:t>
            </a:r>
          </a:p>
        </p:txBody>
      </p:sp>
      <p:pic>
        <p:nvPicPr>
          <p:cNvPr id="7" name="Content Placeholder 6">
            <a:extLst>
              <a:ext uri="{FF2B5EF4-FFF2-40B4-BE49-F238E27FC236}">
                <a16:creationId xmlns:a16="http://schemas.microsoft.com/office/drawing/2014/main" id="{FF22A70D-F2A3-98F8-F524-B3A0FE1154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7828" y="1412776"/>
            <a:ext cx="10441160" cy="4636754"/>
          </a:xfrm>
          <a:prstGeom prst="rect">
            <a:avLst/>
          </a:prstGeom>
        </p:spPr>
      </p:pic>
    </p:spTree>
    <p:extLst>
      <p:ext uri="{BB962C8B-B14F-4D97-AF65-F5344CB8AC3E}">
        <p14:creationId xmlns:p14="http://schemas.microsoft.com/office/powerpoint/2010/main" val="11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2446-720B-3DFE-F8BE-2B4B492DE5E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5BD7E04-28C9-234E-5806-5D253615CC81}"/>
              </a:ext>
            </a:extLst>
          </p:cNvPr>
          <p:cNvSpPr>
            <a:spLocks noGrp="1"/>
          </p:cNvSpPr>
          <p:nvPr>
            <p:ph type="body" sz="half" idx="2"/>
          </p:nvPr>
        </p:nvSpPr>
        <p:spPr>
          <a:xfrm>
            <a:off x="1197868" y="404664"/>
            <a:ext cx="3960440" cy="504056"/>
          </a:xfrm>
        </p:spPr>
        <p:txBody>
          <a:bodyPr>
            <a:noAutofit/>
          </a:bodyPr>
          <a:lstStyle/>
          <a:p>
            <a:r>
              <a:rPr lang="en-US" b="1" dirty="0"/>
              <a:t>Figure 5.8.11 </a:t>
            </a:r>
            <a:r>
              <a:rPr lang="en-IN" b="1" dirty="0"/>
              <a:t>Analytics </a:t>
            </a:r>
          </a:p>
        </p:txBody>
      </p:sp>
      <p:pic>
        <p:nvPicPr>
          <p:cNvPr id="7" name="Content Placeholder 6">
            <a:extLst>
              <a:ext uri="{FF2B5EF4-FFF2-40B4-BE49-F238E27FC236}">
                <a16:creationId xmlns:a16="http://schemas.microsoft.com/office/drawing/2014/main" id="{0051537F-4420-F1FB-AFB8-ABAB73A372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1268760"/>
            <a:ext cx="10081120" cy="4585232"/>
          </a:xfrm>
          <a:prstGeom prst="rect">
            <a:avLst/>
          </a:prstGeom>
        </p:spPr>
      </p:pic>
    </p:spTree>
    <p:extLst>
      <p:ext uri="{BB962C8B-B14F-4D97-AF65-F5344CB8AC3E}">
        <p14:creationId xmlns:p14="http://schemas.microsoft.com/office/powerpoint/2010/main" val="193410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51CF-981B-B9D3-790C-6034B7065E9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0E3A50B-3223-C314-211F-FC797EB524A1}"/>
              </a:ext>
            </a:extLst>
          </p:cNvPr>
          <p:cNvSpPr>
            <a:spLocks noGrp="1"/>
          </p:cNvSpPr>
          <p:nvPr>
            <p:ph type="body" sz="half" idx="2"/>
          </p:nvPr>
        </p:nvSpPr>
        <p:spPr>
          <a:xfrm>
            <a:off x="1197868" y="404664"/>
            <a:ext cx="3960440" cy="504056"/>
          </a:xfrm>
        </p:spPr>
        <p:txBody>
          <a:bodyPr>
            <a:noAutofit/>
          </a:bodyPr>
          <a:lstStyle/>
          <a:p>
            <a:r>
              <a:rPr lang="en-US" b="1" dirty="0"/>
              <a:t>Figure 5.8.12 </a:t>
            </a:r>
            <a:r>
              <a:rPr lang="en-IN" b="1" dirty="0"/>
              <a:t>profile </a:t>
            </a:r>
          </a:p>
        </p:txBody>
      </p:sp>
      <p:pic>
        <p:nvPicPr>
          <p:cNvPr id="7" name="Content Placeholder 6">
            <a:extLst>
              <a:ext uri="{FF2B5EF4-FFF2-40B4-BE49-F238E27FC236}">
                <a16:creationId xmlns:a16="http://schemas.microsoft.com/office/drawing/2014/main" id="{EE5D36F9-AFD0-A92A-E3CC-45823422DE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8739" y="1340768"/>
            <a:ext cx="10611346" cy="4752528"/>
          </a:xfrm>
          <a:prstGeom prst="rect">
            <a:avLst/>
          </a:prstGeom>
        </p:spPr>
      </p:pic>
    </p:spTree>
    <p:extLst>
      <p:ext uri="{BB962C8B-B14F-4D97-AF65-F5344CB8AC3E}">
        <p14:creationId xmlns:p14="http://schemas.microsoft.com/office/powerpoint/2010/main" val="164530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0F85-4953-FF87-F503-5CE2D3EA15F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11136AD-D6FD-E43C-A139-2A91405010FB}"/>
              </a:ext>
            </a:extLst>
          </p:cNvPr>
          <p:cNvSpPr>
            <a:spLocks noGrp="1"/>
          </p:cNvSpPr>
          <p:nvPr>
            <p:ph type="body" sz="half" idx="2"/>
          </p:nvPr>
        </p:nvSpPr>
        <p:spPr>
          <a:xfrm>
            <a:off x="1197868" y="404664"/>
            <a:ext cx="3960440" cy="504056"/>
          </a:xfrm>
        </p:spPr>
        <p:txBody>
          <a:bodyPr>
            <a:noAutofit/>
          </a:bodyPr>
          <a:lstStyle/>
          <a:p>
            <a:r>
              <a:rPr lang="en-US" b="1" dirty="0"/>
              <a:t>Figure 5.8.13 Admin Login</a:t>
            </a:r>
            <a:endParaRPr lang="en-IN" b="1" dirty="0"/>
          </a:p>
        </p:txBody>
      </p:sp>
      <p:pic>
        <p:nvPicPr>
          <p:cNvPr id="7" name="Content Placeholder 6">
            <a:extLst>
              <a:ext uri="{FF2B5EF4-FFF2-40B4-BE49-F238E27FC236}">
                <a16:creationId xmlns:a16="http://schemas.microsoft.com/office/drawing/2014/main" id="{5ABD85C9-A7C6-CED6-D2E9-F94EAEC86C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8088" y="980728"/>
            <a:ext cx="5326080" cy="5181600"/>
          </a:xfrm>
          <a:prstGeom prst="rect">
            <a:avLst/>
          </a:prstGeom>
        </p:spPr>
      </p:pic>
    </p:spTree>
    <p:extLst>
      <p:ext uri="{BB962C8B-B14F-4D97-AF65-F5344CB8AC3E}">
        <p14:creationId xmlns:p14="http://schemas.microsoft.com/office/powerpoint/2010/main" val="364590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A6AA-D87A-A3DE-3B4B-DAD1F07F9D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F5ECD2B-A931-02F7-8B29-D4EF074EB07C}"/>
              </a:ext>
            </a:extLst>
          </p:cNvPr>
          <p:cNvSpPr>
            <a:spLocks noGrp="1"/>
          </p:cNvSpPr>
          <p:nvPr>
            <p:ph type="body" sz="half" idx="2"/>
          </p:nvPr>
        </p:nvSpPr>
        <p:spPr>
          <a:xfrm>
            <a:off x="1197868" y="404664"/>
            <a:ext cx="3960440" cy="504056"/>
          </a:xfrm>
        </p:spPr>
        <p:txBody>
          <a:bodyPr>
            <a:noAutofit/>
          </a:bodyPr>
          <a:lstStyle/>
          <a:p>
            <a:r>
              <a:rPr lang="en-US" b="1" dirty="0"/>
              <a:t>Figure 5.8.14 Admin </a:t>
            </a:r>
            <a:r>
              <a:rPr lang="en-IN" b="1" dirty="0"/>
              <a:t>Dashboard </a:t>
            </a:r>
          </a:p>
        </p:txBody>
      </p:sp>
      <p:pic>
        <p:nvPicPr>
          <p:cNvPr id="7" name="Content Placeholder 6">
            <a:extLst>
              <a:ext uri="{FF2B5EF4-FFF2-40B4-BE49-F238E27FC236}">
                <a16:creationId xmlns:a16="http://schemas.microsoft.com/office/drawing/2014/main" id="{94E5C90F-D0C1-865C-3DDD-8C08F2A151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842" y="1196752"/>
            <a:ext cx="9803050" cy="4464496"/>
          </a:xfrm>
          <a:prstGeom prst="rect">
            <a:avLst/>
          </a:prstGeom>
        </p:spPr>
      </p:pic>
    </p:spTree>
    <p:extLst>
      <p:ext uri="{BB962C8B-B14F-4D97-AF65-F5344CB8AC3E}">
        <p14:creationId xmlns:p14="http://schemas.microsoft.com/office/powerpoint/2010/main" val="258321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12A4-65F6-3537-AE06-37359345DA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3E471E4-E736-4DD7-F002-37ACAA708148}"/>
              </a:ext>
            </a:extLst>
          </p:cNvPr>
          <p:cNvSpPr>
            <a:spLocks noGrp="1"/>
          </p:cNvSpPr>
          <p:nvPr>
            <p:ph type="body" sz="half" idx="2"/>
          </p:nvPr>
        </p:nvSpPr>
        <p:spPr>
          <a:xfrm>
            <a:off x="1197868" y="404664"/>
            <a:ext cx="3960440" cy="504056"/>
          </a:xfrm>
        </p:spPr>
        <p:txBody>
          <a:bodyPr>
            <a:noAutofit/>
          </a:bodyPr>
          <a:lstStyle/>
          <a:p>
            <a:r>
              <a:rPr lang="en-US" b="1" dirty="0"/>
              <a:t>Figure 5.8.15 </a:t>
            </a:r>
            <a:r>
              <a:rPr lang="en-IN" b="1" dirty="0"/>
              <a:t>announcement </a:t>
            </a:r>
          </a:p>
        </p:txBody>
      </p:sp>
      <p:pic>
        <p:nvPicPr>
          <p:cNvPr id="7" name="Content Placeholder 6">
            <a:extLst>
              <a:ext uri="{FF2B5EF4-FFF2-40B4-BE49-F238E27FC236}">
                <a16:creationId xmlns:a16="http://schemas.microsoft.com/office/drawing/2014/main" id="{F57E776A-7A3A-1B40-1F18-E2E2FE8C56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868" y="1124744"/>
            <a:ext cx="10289276" cy="4608512"/>
          </a:xfrm>
          <a:prstGeom prst="rect">
            <a:avLst/>
          </a:prstGeom>
        </p:spPr>
      </p:pic>
    </p:spTree>
    <p:extLst>
      <p:ext uri="{BB962C8B-B14F-4D97-AF65-F5344CB8AC3E}">
        <p14:creationId xmlns:p14="http://schemas.microsoft.com/office/powerpoint/2010/main" val="72754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26C28-AE25-0569-A101-0C7D4FF9E0B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4ECBF6-ACAE-29E6-945D-128E652234D6}"/>
              </a:ext>
            </a:extLst>
          </p:cNvPr>
          <p:cNvSpPr>
            <a:spLocks noGrp="1"/>
          </p:cNvSpPr>
          <p:nvPr>
            <p:ph type="body" sz="half" idx="2"/>
          </p:nvPr>
        </p:nvSpPr>
        <p:spPr>
          <a:xfrm>
            <a:off x="1197868" y="404664"/>
            <a:ext cx="3960440" cy="504056"/>
          </a:xfrm>
        </p:spPr>
        <p:txBody>
          <a:bodyPr>
            <a:noAutofit/>
          </a:bodyPr>
          <a:lstStyle/>
          <a:p>
            <a:r>
              <a:rPr lang="en-US" b="1" dirty="0"/>
              <a:t>Figure 5.8.16 student </a:t>
            </a:r>
            <a:r>
              <a:rPr lang="en-IN" b="1" dirty="0"/>
              <a:t>management </a:t>
            </a:r>
          </a:p>
        </p:txBody>
      </p:sp>
      <p:pic>
        <p:nvPicPr>
          <p:cNvPr id="7" name="Content Placeholder 6">
            <a:extLst>
              <a:ext uri="{FF2B5EF4-FFF2-40B4-BE49-F238E27FC236}">
                <a16:creationId xmlns:a16="http://schemas.microsoft.com/office/drawing/2014/main" id="{DEFE7542-0901-7C0B-6D4A-DB03B56EC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1196752"/>
            <a:ext cx="10262930" cy="4608512"/>
          </a:xfrm>
          <a:prstGeom prst="rect">
            <a:avLst/>
          </a:prstGeom>
        </p:spPr>
      </p:pic>
    </p:spTree>
    <p:extLst>
      <p:ext uri="{BB962C8B-B14F-4D97-AF65-F5344CB8AC3E}">
        <p14:creationId xmlns:p14="http://schemas.microsoft.com/office/powerpoint/2010/main" val="235936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7C629-183A-4031-982E-82E12320A5B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D1B347C-A0AA-6F4B-2CD5-A72ED2DE831D}"/>
              </a:ext>
            </a:extLst>
          </p:cNvPr>
          <p:cNvSpPr>
            <a:spLocks noGrp="1"/>
          </p:cNvSpPr>
          <p:nvPr>
            <p:ph type="body" sz="half" idx="2"/>
          </p:nvPr>
        </p:nvSpPr>
        <p:spPr>
          <a:xfrm>
            <a:off x="1197868" y="404664"/>
            <a:ext cx="3960440" cy="504056"/>
          </a:xfrm>
        </p:spPr>
        <p:txBody>
          <a:bodyPr>
            <a:noAutofit/>
          </a:bodyPr>
          <a:lstStyle/>
          <a:p>
            <a:r>
              <a:rPr lang="en-US" b="1" dirty="0"/>
              <a:t>Figure 5.8.17 </a:t>
            </a:r>
            <a:r>
              <a:rPr lang="en-IN" b="1" dirty="0"/>
              <a:t>Manage Components </a:t>
            </a:r>
          </a:p>
        </p:txBody>
      </p:sp>
      <p:pic>
        <p:nvPicPr>
          <p:cNvPr id="23" name="Picture 22">
            <a:extLst>
              <a:ext uri="{FF2B5EF4-FFF2-40B4-BE49-F238E27FC236}">
                <a16:creationId xmlns:a16="http://schemas.microsoft.com/office/drawing/2014/main" id="{3AF00C6B-8B09-DAC6-00C4-601A1FA545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27193" y="3645024"/>
            <a:ext cx="5427506" cy="2457358"/>
          </a:xfrm>
          <a:prstGeom prst="rect">
            <a:avLst/>
          </a:prstGeom>
        </p:spPr>
      </p:pic>
      <p:pic>
        <p:nvPicPr>
          <p:cNvPr id="25" name="Picture 24">
            <a:extLst>
              <a:ext uri="{FF2B5EF4-FFF2-40B4-BE49-F238E27FC236}">
                <a16:creationId xmlns:a16="http://schemas.microsoft.com/office/drawing/2014/main" id="{731347D2-F566-4BCE-2BBD-9B63371CB8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003" y="963180"/>
            <a:ext cx="5314346" cy="2411008"/>
          </a:xfrm>
          <a:prstGeom prst="rect">
            <a:avLst/>
          </a:prstGeom>
        </p:spPr>
      </p:pic>
      <p:pic>
        <p:nvPicPr>
          <p:cNvPr id="27" name="Picture 26">
            <a:extLst>
              <a:ext uri="{FF2B5EF4-FFF2-40B4-BE49-F238E27FC236}">
                <a16:creationId xmlns:a16="http://schemas.microsoft.com/office/drawing/2014/main" id="{FB9B0AF3-A8DE-72AD-7ED6-FD85D96119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27193" y="972516"/>
            <a:ext cx="5398740" cy="2457358"/>
          </a:xfrm>
          <a:prstGeom prst="rect">
            <a:avLst/>
          </a:prstGeom>
        </p:spPr>
      </p:pic>
      <p:pic>
        <p:nvPicPr>
          <p:cNvPr id="29" name="Picture 28">
            <a:extLst>
              <a:ext uri="{FF2B5EF4-FFF2-40B4-BE49-F238E27FC236}">
                <a16:creationId xmlns:a16="http://schemas.microsoft.com/office/drawing/2014/main" id="{54B8ED2A-D255-9B89-30C1-7C2BD3C396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3056" y="3585961"/>
            <a:ext cx="5327959" cy="2457358"/>
          </a:xfrm>
          <a:prstGeom prst="rect">
            <a:avLst/>
          </a:prstGeom>
        </p:spPr>
      </p:pic>
      <p:sp>
        <p:nvSpPr>
          <p:cNvPr id="31" name="Content Placeholder 30">
            <a:extLst>
              <a:ext uri="{FF2B5EF4-FFF2-40B4-BE49-F238E27FC236}">
                <a16:creationId xmlns:a16="http://schemas.microsoft.com/office/drawing/2014/main" id="{D0F78C5E-3E6A-5A79-FB84-20A3D02B7C63}"/>
              </a:ext>
            </a:extLst>
          </p:cNvPr>
          <p:cNvSpPr>
            <a:spLocks noGrp="1"/>
          </p:cNvSpPr>
          <p:nvPr>
            <p:ph idx="1"/>
          </p:nvPr>
        </p:nvSpPr>
        <p:spPr>
          <a:xfrm>
            <a:off x="4366220" y="548680"/>
            <a:ext cx="5942053" cy="5181600"/>
          </a:xfrm>
        </p:spPr>
        <p:txBody>
          <a:bodyPr/>
          <a:lstStyle/>
          <a:p>
            <a:r>
              <a:rPr lang="en-IN" dirty="0"/>
              <a:t>.</a:t>
            </a:r>
          </a:p>
        </p:txBody>
      </p:sp>
    </p:spTree>
    <p:extLst>
      <p:ext uri="{BB962C8B-B14F-4D97-AF65-F5344CB8AC3E}">
        <p14:creationId xmlns:p14="http://schemas.microsoft.com/office/powerpoint/2010/main" val="181543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DD12-F931-C48E-4D02-311CF528C5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F5796F0-A28A-DCB9-32F9-4919020C5643}"/>
              </a:ext>
            </a:extLst>
          </p:cNvPr>
          <p:cNvSpPr>
            <a:spLocks noGrp="1"/>
          </p:cNvSpPr>
          <p:nvPr>
            <p:ph type="body" sz="half" idx="2"/>
          </p:nvPr>
        </p:nvSpPr>
        <p:spPr>
          <a:xfrm>
            <a:off x="1197868" y="404664"/>
            <a:ext cx="3960440" cy="504056"/>
          </a:xfrm>
        </p:spPr>
        <p:txBody>
          <a:bodyPr>
            <a:noAutofit/>
          </a:bodyPr>
          <a:lstStyle/>
          <a:p>
            <a:r>
              <a:rPr lang="en-US" b="1" dirty="0"/>
              <a:t>Figure 5.8.18 </a:t>
            </a:r>
            <a:r>
              <a:rPr lang="en-IN" b="1" dirty="0"/>
              <a:t>Manage Component</a:t>
            </a:r>
          </a:p>
        </p:txBody>
      </p:sp>
      <p:pic>
        <p:nvPicPr>
          <p:cNvPr id="7" name="Content Placeholder 6">
            <a:extLst>
              <a:ext uri="{FF2B5EF4-FFF2-40B4-BE49-F238E27FC236}">
                <a16:creationId xmlns:a16="http://schemas.microsoft.com/office/drawing/2014/main" id="{C70A9005-CC85-DF06-DC79-B9E8D7242BA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49796" y="3700531"/>
            <a:ext cx="5000026" cy="2215469"/>
          </a:xfrm>
          <a:prstGeom prst="rect">
            <a:avLst/>
          </a:prstGeom>
        </p:spPr>
      </p:pic>
      <p:pic>
        <p:nvPicPr>
          <p:cNvPr id="9" name="Picture 8">
            <a:extLst>
              <a:ext uri="{FF2B5EF4-FFF2-40B4-BE49-F238E27FC236}">
                <a16:creationId xmlns:a16="http://schemas.microsoft.com/office/drawing/2014/main" id="{6687EBB6-CD2E-47F0-22F2-B7E87C65D6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74492" y="962410"/>
            <a:ext cx="5129745" cy="2302928"/>
          </a:xfrm>
          <a:prstGeom prst="rect">
            <a:avLst/>
          </a:prstGeom>
        </p:spPr>
      </p:pic>
      <p:pic>
        <p:nvPicPr>
          <p:cNvPr id="11" name="Picture 10">
            <a:extLst>
              <a:ext uri="{FF2B5EF4-FFF2-40B4-BE49-F238E27FC236}">
                <a16:creationId xmlns:a16="http://schemas.microsoft.com/office/drawing/2014/main" id="{11CCA201-48AC-C45E-C9A9-2C0918155F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74492" y="3564063"/>
            <a:ext cx="5129745" cy="2313038"/>
          </a:xfrm>
          <a:prstGeom prst="rect">
            <a:avLst/>
          </a:prstGeom>
        </p:spPr>
      </p:pic>
      <p:pic>
        <p:nvPicPr>
          <p:cNvPr id="13" name="Picture 12">
            <a:extLst>
              <a:ext uri="{FF2B5EF4-FFF2-40B4-BE49-F238E27FC236}">
                <a16:creationId xmlns:a16="http://schemas.microsoft.com/office/drawing/2014/main" id="{1F703539-2802-7764-E72A-C057B5648D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9796" y="969628"/>
            <a:ext cx="5000027" cy="2302928"/>
          </a:xfrm>
          <a:prstGeom prst="rect">
            <a:avLst/>
          </a:prstGeom>
        </p:spPr>
      </p:pic>
    </p:spTree>
    <p:extLst>
      <p:ext uri="{BB962C8B-B14F-4D97-AF65-F5344CB8AC3E}">
        <p14:creationId xmlns:p14="http://schemas.microsoft.com/office/powerpoint/2010/main" val="14713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076E-E2E1-524F-B26E-A6F0BB8F2718}"/>
              </a:ext>
            </a:extLst>
          </p:cNvPr>
          <p:cNvSpPr>
            <a:spLocks noGrp="1"/>
          </p:cNvSpPr>
          <p:nvPr>
            <p:ph type="title"/>
          </p:nvPr>
        </p:nvSpPr>
        <p:spPr>
          <a:xfrm>
            <a:off x="981844" y="-603448"/>
            <a:ext cx="4809282" cy="1371600"/>
          </a:xfrm>
        </p:spPr>
        <p:txBody>
          <a:bodyPr/>
          <a:lstStyle/>
          <a:p>
            <a:r>
              <a:rPr lang="en-US" b="1" dirty="0"/>
              <a:t>Figure 5.8.19 </a:t>
            </a:r>
            <a:r>
              <a:rPr lang="en-IN" b="1" dirty="0"/>
              <a:t>Notification </a:t>
            </a:r>
            <a:endParaRPr lang="en-IN" dirty="0"/>
          </a:p>
        </p:txBody>
      </p:sp>
      <p:pic>
        <p:nvPicPr>
          <p:cNvPr id="6" name="Content Placeholder 5">
            <a:extLst>
              <a:ext uri="{FF2B5EF4-FFF2-40B4-BE49-F238E27FC236}">
                <a16:creationId xmlns:a16="http://schemas.microsoft.com/office/drawing/2014/main" id="{6766AB00-C09F-4CB5-F482-E2E3178F8A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52" y="1238301"/>
            <a:ext cx="10410075" cy="4638971"/>
          </a:xfrm>
          <a:prstGeom prst="rect">
            <a:avLst/>
          </a:prstGeom>
        </p:spPr>
      </p:pic>
      <p:sp>
        <p:nvSpPr>
          <p:cNvPr id="4" name="Text Placeholder 3">
            <a:extLst>
              <a:ext uri="{FF2B5EF4-FFF2-40B4-BE49-F238E27FC236}">
                <a16:creationId xmlns:a16="http://schemas.microsoft.com/office/drawing/2014/main" id="{09F0FD0D-B5B2-B728-DBAC-731C78B6FDDC}"/>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33379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E83A0-A033-07D4-EEE0-8507D5350105}"/>
              </a:ext>
            </a:extLst>
          </p:cNvPr>
          <p:cNvSpPr>
            <a:spLocks noGrp="1"/>
          </p:cNvSpPr>
          <p:nvPr>
            <p:ph type="title"/>
          </p:nvPr>
        </p:nvSpPr>
        <p:spPr>
          <a:xfrm>
            <a:off x="1053852" y="-459432"/>
            <a:ext cx="3548197" cy="1371600"/>
          </a:xfrm>
        </p:spPr>
        <p:txBody>
          <a:bodyPr/>
          <a:lstStyle/>
          <a:p>
            <a:r>
              <a:rPr lang="en-US" b="1" dirty="0"/>
              <a:t>Figure 5.8.20 </a:t>
            </a:r>
            <a:r>
              <a:rPr lang="en-IN" dirty="0"/>
              <a:t>REPORT </a:t>
            </a:r>
          </a:p>
        </p:txBody>
      </p:sp>
      <p:pic>
        <p:nvPicPr>
          <p:cNvPr id="6" name="Content Placeholder 5">
            <a:extLst>
              <a:ext uri="{FF2B5EF4-FFF2-40B4-BE49-F238E27FC236}">
                <a16:creationId xmlns:a16="http://schemas.microsoft.com/office/drawing/2014/main" id="{6B865976-7693-592A-7A28-CB30368CC4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114" y="1412776"/>
            <a:ext cx="9937278" cy="4392488"/>
          </a:xfrm>
          <a:prstGeom prst="rect">
            <a:avLst/>
          </a:prstGeom>
        </p:spPr>
      </p:pic>
      <p:sp>
        <p:nvSpPr>
          <p:cNvPr id="4" name="Text Placeholder 3">
            <a:extLst>
              <a:ext uri="{FF2B5EF4-FFF2-40B4-BE49-F238E27FC236}">
                <a16:creationId xmlns:a16="http://schemas.microsoft.com/office/drawing/2014/main" id="{B3372884-EF58-C3FF-466B-EC3D4AB9BA93}"/>
              </a:ext>
            </a:extLst>
          </p:cNvPr>
          <p:cNvSpPr>
            <a:spLocks noGrp="1"/>
          </p:cNvSpPr>
          <p:nvPr>
            <p:ph type="body" sz="half" idx="2"/>
          </p:nvPr>
        </p:nvSpPr>
        <p:spPr/>
        <p:txBody>
          <a:bodyPr/>
          <a:lstStyle/>
          <a:p>
            <a:r>
              <a:rPr lang="en-IN" dirty="0"/>
              <a:t>.</a:t>
            </a:r>
          </a:p>
        </p:txBody>
      </p:sp>
    </p:spTree>
    <p:extLst>
      <p:ext uri="{BB962C8B-B14F-4D97-AF65-F5344CB8AC3E}">
        <p14:creationId xmlns:p14="http://schemas.microsoft.com/office/powerpoint/2010/main" val="3849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0E98-5649-66EB-AA0A-5822932F0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51C4E-0E92-774B-16E3-30683F3E0C5D}"/>
              </a:ext>
            </a:extLst>
          </p:cNvPr>
          <p:cNvSpPr>
            <a:spLocks noGrp="1"/>
          </p:cNvSpPr>
          <p:nvPr>
            <p:ph type="title"/>
          </p:nvPr>
        </p:nvSpPr>
        <p:spPr>
          <a:xfrm>
            <a:off x="1218882" y="332656"/>
            <a:ext cx="9988098" cy="686052"/>
          </a:xfrm>
        </p:spPr>
        <p:txBody>
          <a:bodyPr>
            <a:normAutofit/>
          </a:bodyPr>
          <a:lstStyle/>
          <a:p>
            <a:pPr algn="ctr"/>
            <a:r>
              <a:rPr lang="en-IN" sz="3600" b="1" dirty="0">
                <a:solidFill>
                  <a:schemeClr val="tx1"/>
                </a:solidFill>
              </a:rPr>
              <a:t>6. </a:t>
            </a:r>
            <a:r>
              <a:rPr lang="en-US" sz="3600" b="1" dirty="0">
                <a:solidFill>
                  <a:schemeClr val="tx1"/>
                </a:solidFill>
              </a:rPr>
              <a:t>SYSTEM TESTING</a:t>
            </a:r>
            <a:endParaRPr lang="en-IN" sz="3600" dirty="0">
              <a:solidFill>
                <a:schemeClr val="tx1"/>
              </a:solidFill>
            </a:endParaRPr>
          </a:p>
        </p:txBody>
      </p:sp>
      <p:sp>
        <p:nvSpPr>
          <p:cNvPr id="3" name="Text Placeholder 2">
            <a:extLst>
              <a:ext uri="{FF2B5EF4-FFF2-40B4-BE49-F238E27FC236}">
                <a16:creationId xmlns:a16="http://schemas.microsoft.com/office/drawing/2014/main" id="{A367070C-EC15-1751-3D2C-EF66ED1FEF75}"/>
              </a:ext>
            </a:extLst>
          </p:cNvPr>
          <p:cNvSpPr>
            <a:spLocks noGrp="1"/>
          </p:cNvSpPr>
          <p:nvPr>
            <p:ph type="body" sz="half" idx="2"/>
          </p:nvPr>
        </p:nvSpPr>
        <p:spPr>
          <a:xfrm>
            <a:off x="1156344" y="1067499"/>
            <a:ext cx="4794052" cy="686052"/>
          </a:xfrm>
        </p:spPr>
        <p:txBody>
          <a:bodyPr>
            <a:normAutofit fontScale="92500"/>
          </a:bodyPr>
          <a:lstStyle/>
          <a:p>
            <a:r>
              <a:rPr lang="en-IN" sz="2200" b="1" dirty="0"/>
              <a:t>Module 1: Student Registration Testing</a:t>
            </a:r>
            <a:endParaRPr lang="en-IN" sz="2200" dirty="0"/>
          </a:p>
          <a:p>
            <a:endParaRPr lang="en-IN" dirty="0"/>
          </a:p>
        </p:txBody>
      </p:sp>
      <p:graphicFrame>
        <p:nvGraphicFramePr>
          <p:cNvPr id="6" name="Content Placeholder 5">
            <a:extLst>
              <a:ext uri="{FF2B5EF4-FFF2-40B4-BE49-F238E27FC236}">
                <a16:creationId xmlns:a16="http://schemas.microsoft.com/office/drawing/2014/main" id="{13F7BFA3-A4D0-4C82-19C8-468191CF9AD3}"/>
              </a:ext>
            </a:extLst>
          </p:cNvPr>
          <p:cNvGraphicFramePr>
            <a:graphicFrameLocks noGrp="1"/>
          </p:cNvGraphicFramePr>
          <p:nvPr>
            <p:ph idx="1"/>
            <p:extLst>
              <p:ext uri="{D42A27DB-BD31-4B8C-83A1-F6EECF244321}">
                <p14:modId xmlns:p14="http://schemas.microsoft.com/office/powerpoint/2010/main" val="1073178257"/>
              </p:ext>
            </p:extLst>
          </p:nvPr>
        </p:nvGraphicFramePr>
        <p:xfrm>
          <a:off x="1326893" y="1556792"/>
          <a:ext cx="9772075" cy="5052821"/>
        </p:xfrm>
        <a:graphic>
          <a:graphicData uri="http://schemas.openxmlformats.org/drawingml/2006/table">
            <a:tbl>
              <a:tblPr firstRow="1" firstCol="1" bandRow="1">
                <a:tableStyleId>{5C22544A-7EE6-4342-B048-85BDC9FD1C3A}</a:tableStyleId>
              </a:tblPr>
              <a:tblGrid>
                <a:gridCol w="1954415">
                  <a:extLst>
                    <a:ext uri="{9D8B030D-6E8A-4147-A177-3AD203B41FA5}">
                      <a16:colId xmlns:a16="http://schemas.microsoft.com/office/drawing/2014/main" val="1866123238"/>
                    </a:ext>
                  </a:extLst>
                </a:gridCol>
                <a:gridCol w="1954415">
                  <a:extLst>
                    <a:ext uri="{9D8B030D-6E8A-4147-A177-3AD203B41FA5}">
                      <a16:colId xmlns:a16="http://schemas.microsoft.com/office/drawing/2014/main" val="3504496016"/>
                    </a:ext>
                  </a:extLst>
                </a:gridCol>
                <a:gridCol w="1954415">
                  <a:extLst>
                    <a:ext uri="{9D8B030D-6E8A-4147-A177-3AD203B41FA5}">
                      <a16:colId xmlns:a16="http://schemas.microsoft.com/office/drawing/2014/main" val="1358577989"/>
                    </a:ext>
                  </a:extLst>
                </a:gridCol>
                <a:gridCol w="1954415">
                  <a:extLst>
                    <a:ext uri="{9D8B030D-6E8A-4147-A177-3AD203B41FA5}">
                      <a16:colId xmlns:a16="http://schemas.microsoft.com/office/drawing/2014/main" val="4250554371"/>
                    </a:ext>
                  </a:extLst>
                </a:gridCol>
                <a:gridCol w="1954415">
                  <a:extLst>
                    <a:ext uri="{9D8B030D-6E8A-4147-A177-3AD203B41FA5}">
                      <a16:colId xmlns:a16="http://schemas.microsoft.com/office/drawing/2014/main" val="2932401358"/>
                    </a:ext>
                  </a:extLst>
                </a:gridCol>
              </a:tblGrid>
              <a:tr h="394068">
                <a:tc>
                  <a:txBody>
                    <a:bodyPr/>
                    <a:lstStyle/>
                    <a:p>
                      <a:pPr algn="ctr">
                        <a:buNone/>
                      </a:pPr>
                      <a:r>
                        <a:rPr lang="en-IN" sz="1200" dirty="0">
                          <a:effectLst/>
                        </a:rPr>
                        <a:t>Test Case ID</a:t>
                      </a:r>
                      <a:endParaRPr lang="en-IN" sz="1200" b="1" dirty="0">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Test Scenario</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Test Input</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Expected Result</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dirty="0">
                          <a:effectLst/>
                        </a:rPr>
                        <a:t>Status</a:t>
                      </a:r>
                      <a:endParaRPr lang="en-IN" sz="1200" b="1" dirty="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448267146"/>
                  </a:ext>
                </a:extLst>
              </a:tr>
              <a:tr h="402957">
                <a:tc>
                  <a:txBody>
                    <a:bodyPr/>
                    <a:lstStyle/>
                    <a:p>
                      <a:pPr algn="ctr">
                        <a:buNone/>
                      </a:pPr>
                      <a:r>
                        <a:rPr lang="en-IN" sz="1200">
                          <a:effectLst/>
                        </a:rPr>
                        <a:t>REG-01</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Register with valid details</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Valid name, email, password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Account should be created successfully</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422419348"/>
                  </a:ext>
                </a:extLst>
              </a:tr>
              <a:tr h="402957">
                <a:tc>
                  <a:txBody>
                    <a:bodyPr/>
                    <a:lstStyle/>
                    <a:p>
                      <a:pPr algn="ctr">
                        <a:buNone/>
                      </a:pPr>
                      <a:r>
                        <a:rPr lang="en-IN" sz="1200">
                          <a:effectLst/>
                        </a:rPr>
                        <a:t>REG-02</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Empty name field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Name left blank</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Validation message should be displayed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205115187"/>
                  </a:ext>
                </a:extLst>
              </a:tr>
              <a:tr h="402957">
                <a:tc>
                  <a:txBody>
                    <a:bodyPr/>
                    <a:lstStyle/>
                    <a:p>
                      <a:pPr algn="ctr">
                        <a:buNone/>
                      </a:pPr>
                      <a:r>
                        <a:rPr lang="en-IN" sz="1200">
                          <a:effectLst/>
                        </a:rPr>
                        <a:t>REG-03</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Empty email field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Email left blank</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Validation message should be displayed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561424542"/>
                  </a:ext>
                </a:extLst>
              </a:tr>
              <a:tr h="402957">
                <a:tc>
                  <a:txBody>
                    <a:bodyPr/>
                    <a:lstStyle/>
                    <a:p>
                      <a:pPr algn="ctr">
                        <a:buNone/>
                      </a:pPr>
                      <a:r>
                        <a:rPr lang="en-IN" sz="1200">
                          <a:effectLst/>
                        </a:rPr>
                        <a:t>REG-04</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Invalid email format</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dirty="0">
                          <a:effectLst/>
                        </a:rPr>
                        <a:t>student@</a:t>
                      </a:r>
                      <a:endParaRPr lang="en-IN" sz="1200" b="1" dirty="0">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Invalid email message should be displayed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416834391"/>
                  </a:ext>
                </a:extLst>
              </a:tr>
              <a:tr h="402934">
                <a:tc>
                  <a:txBody>
                    <a:bodyPr/>
                    <a:lstStyle/>
                    <a:p>
                      <a:pPr algn="ctr">
                        <a:buNone/>
                      </a:pPr>
                      <a:r>
                        <a:rPr lang="en-IN" sz="1200">
                          <a:effectLst/>
                        </a:rPr>
                        <a:t>REG-05</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Empty password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Password left blank</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Password validation message should appear</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747610995"/>
                  </a:ext>
                </a:extLst>
              </a:tr>
              <a:tr h="402934">
                <a:tc>
                  <a:txBody>
                    <a:bodyPr/>
                    <a:lstStyle/>
                    <a:p>
                      <a:pPr algn="ctr">
                        <a:buNone/>
                      </a:pPr>
                      <a:r>
                        <a:rPr lang="en-IN" sz="1200">
                          <a:effectLst/>
                        </a:rPr>
                        <a:t>REG-06</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Weak password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Short/weak password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System should reject the password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798516901"/>
                  </a:ext>
                </a:extLst>
              </a:tr>
              <a:tr h="402957">
                <a:tc>
                  <a:txBody>
                    <a:bodyPr/>
                    <a:lstStyle/>
                    <a:p>
                      <a:pPr algn="ctr">
                        <a:buNone/>
                      </a:pPr>
                      <a:r>
                        <a:rPr lang="en-IN" sz="1200">
                          <a:effectLst/>
                        </a:rPr>
                        <a:t>REG-07</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Password mismatch</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Different password and confirmation password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Mismatch error should be displayed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079495070"/>
                  </a:ext>
                </a:extLst>
              </a:tr>
              <a:tr h="402957">
                <a:tc>
                  <a:txBody>
                    <a:bodyPr/>
                    <a:lstStyle/>
                    <a:p>
                      <a:pPr algn="ctr">
                        <a:buNone/>
                      </a:pPr>
                      <a:r>
                        <a:rPr lang="en-IN" sz="1200">
                          <a:effectLst/>
                        </a:rPr>
                        <a:t>REG-08</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Existing email</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Already registered email</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System should prevent duplicate registration</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553215665"/>
                  </a:ext>
                </a:extLst>
              </a:tr>
              <a:tr h="402957">
                <a:tc>
                  <a:txBody>
                    <a:bodyPr/>
                    <a:lstStyle/>
                    <a:p>
                      <a:pPr algn="ctr">
                        <a:buNone/>
                      </a:pPr>
                      <a:r>
                        <a:rPr lang="en-IN" sz="1200">
                          <a:effectLst/>
                        </a:rPr>
                        <a:t>REG-09</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Valid registration with optional fields</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Valid required and optional information</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Account should be created successfully</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885957162"/>
                  </a:ext>
                </a:extLst>
              </a:tr>
              <a:tr h="402957">
                <a:tc>
                  <a:txBody>
                    <a:bodyPr/>
                    <a:lstStyle/>
                    <a:p>
                      <a:pPr algn="ctr">
                        <a:buNone/>
                      </a:pPr>
                      <a:r>
                        <a:rPr lang="en-IN" sz="1200">
                          <a:effectLst/>
                        </a:rPr>
                        <a:t>REG-10</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Database connection failure</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Registration request when database unavailable</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Appropriate error message should be displayed</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PASS</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2507806669"/>
                  </a:ext>
                </a:extLst>
              </a:tr>
              <a:tr h="241773">
                <a:tc>
                  <a:txBody>
                    <a:bodyPr/>
                    <a:lstStyle/>
                    <a:p>
                      <a:pPr algn="ctr">
                        <a:buNone/>
                      </a:pPr>
                      <a:r>
                        <a:rPr lang="en-IN" sz="1200">
                          <a:effectLst/>
                        </a:rPr>
                        <a:t> </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689032304"/>
                  </a:ext>
                </a:extLst>
              </a:tr>
              <a:tr h="241773">
                <a:tc>
                  <a:txBody>
                    <a:bodyPr/>
                    <a:lstStyle/>
                    <a:p>
                      <a:pPr algn="ctr">
                        <a:buNone/>
                      </a:pPr>
                      <a:r>
                        <a:rPr lang="en-IN" sz="1200">
                          <a:effectLst/>
                        </a:rPr>
                        <a:t> </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a:effectLst/>
                        </a:rPr>
                        <a:t> </a:t>
                      </a:r>
                      <a:endParaRPr lang="en-IN" sz="1200" b="1">
                        <a:effectLst/>
                        <a:latin typeface="Nimbus Roman No9 L"/>
                        <a:ea typeface="Bitstream Vera Sans"/>
                        <a:cs typeface="Times New Roman" panose="02020603050405020304" pitchFamily="18" charset="0"/>
                      </a:endParaRPr>
                    </a:p>
                  </a:txBody>
                  <a:tcPr marL="41150" marR="41150" marT="0" marB="0"/>
                </a:tc>
                <a:tc>
                  <a:txBody>
                    <a:bodyPr/>
                    <a:lstStyle/>
                    <a:p>
                      <a:pPr algn="ctr">
                        <a:buNone/>
                      </a:pPr>
                      <a:r>
                        <a:rPr lang="en-IN" sz="1200" dirty="0">
                          <a:effectLst/>
                        </a:rPr>
                        <a:t> </a:t>
                      </a:r>
                      <a:endParaRPr lang="en-IN" sz="1200" b="1" dirty="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673458995"/>
                  </a:ext>
                </a:extLst>
              </a:tr>
            </a:tbl>
          </a:graphicData>
        </a:graphic>
      </p:graphicFrame>
    </p:spTree>
    <p:extLst>
      <p:ext uri="{BB962C8B-B14F-4D97-AF65-F5344CB8AC3E}">
        <p14:creationId xmlns:p14="http://schemas.microsoft.com/office/powerpoint/2010/main" val="419680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9A58-1049-1DDC-CA39-D8BD26C5964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89CA028-94AC-960A-7953-2C02ABDEA5BD}"/>
              </a:ext>
            </a:extLst>
          </p:cNvPr>
          <p:cNvSpPr>
            <a:spLocks noGrp="1"/>
          </p:cNvSpPr>
          <p:nvPr>
            <p:ph type="body" sz="half" idx="2"/>
          </p:nvPr>
        </p:nvSpPr>
        <p:spPr>
          <a:xfrm>
            <a:off x="981844" y="33189"/>
            <a:ext cx="5256584" cy="720080"/>
          </a:xfrm>
        </p:spPr>
        <p:txBody>
          <a:bodyPr>
            <a:noAutofit/>
          </a:bodyPr>
          <a:lstStyle/>
          <a:p>
            <a:r>
              <a:rPr lang="en-IN" b="1" dirty="0"/>
              <a:t>Module 2: Student Authentication &amp; Login Testing:</a:t>
            </a:r>
            <a:endParaRPr lang="en-IN" dirty="0"/>
          </a:p>
        </p:txBody>
      </p:sp>
      <p:graphicFrame>
        <p:nvGraphicFramePr>
          <p:cNvPr id="5" name="Content Placeholder 4">
            <a:extLst>
              <a:ext uri="{FF2B5EF4-FFF2-40B4-BE49-F238E27FC236}">
                <a16:creationId xmlns:a16="http://schemas.microsoft.com/office/drawing/2014/main" id="{46F15AE3-A27D-887B-A42D-6E641DDEB3E2}"/>
              </a:ext>
            </a:extLst>
          </p:cNvPr>
          <p:cNvGraphicFramePr>
            <a:graphicFrameLocks noGrp="1"/>
          </p:cNvGraphicFramePr>
          <p:nvPr>
            <p:ph idx="1"/>
            <p:extLst>
              <p:ext uri="{D42A27DB-BD31-4B8C-83A1-F6EECF244321}">
                <p14:modId xmlns:p14="http://schemas.microsoft.com/office/powerpoint/2010/main" val="2824819612"/>
              </p:ext>
            </p:extLst>
          </p:nvPr>
        </p:nvGraphicFramePr>
        <p:xfrm>
          <a:off x="117749" y="753269"/>
          <a:ext cx="11953325" cy="5798244"/>
        </p:xfrm>
        <a:graphic>
          <a:graphicData uri="http://schemas.openxmlformats.org/drawingml/2006/table">
            <a:tbl>
              <a:tblPr firstRow="1" firstCol="1" bandRow="1">
                <a:tableStyleId>{5C22544A-7EE6-4342-B048-85BDC9FD1C3A}</a:tableStyleId>
              </a:tblPr>
              <a:tblGrid>
                <a:gridCol w="2390665">
                  <a:extLst>
                    <a:ext uri="{9D8B030D-6E8A-4147-A177-3AD203B41FA5}">
                      <a16:colId xmlns:a16="http://schemas.microsoft.com/office/drawing/2014/main" val="1352450640"/>
                    </a:ext>
                  </a:extLst>
                </a:gridCol>
                <a:gridCol w="2390665">
                  <a:extLst>
                    <a:ext uri="{9D8B030D-6E8A-4147-A177-3AD203B41FA5}">
                      <a16:colId xmlns:a16="http://schemas.microsoft.com/office/drawing/2014/main" val="582634998"/>
                    </a:ext>
                  </a:extLst>
                </a:gridCol>
                <a:gridCol w="2390665">
                  <a:extLst>
                    <a:ext uri="{9D8B030D-6E8A-4147-A177-3AD203B41FA5}">
                      <a16:colId xmlns:a16="http://schemas.microsoft.com/office/drawing/2014/main" val="2978292323"/>
                    </a:ext>
                  </a:extLst>
                </a:gridCol>
                <a:gridCol w="3773221">
                  <a:extLst>
                    <a:ext uri="{9D8B030D-6E8A-4147-A177-3AD203B41FA5}">
                      <a16:colId xmlns:a16="http://schemas.microsoft.com/office/drawing/2014/main" val="5528189"/>
                    </a:ext>
                  </a:extLst>
                </a:gridCol>
                <a:gridCol w="1008109">
                  <a:extLst>
                    <a:ext uri="{9D8B030D-6E8A-4147-A177-3AD203B41FA5}">
                      <a16:colId xmlns:a16="http://schemas.microsoft.com/office/drawing/2014/main" val="1877022106"/>
                    </a:ext>
                  </a:extLst>
                </a:gridCol>
              </a:tblGrid>
              <a:tr h="143608">
                <a:tc>
                  <a:txBody>
                    <a:bodyPr/>
                    <a:lstStyle/>
                    <a:p>
                      <a:pPr>
                        <a:buNone/>
                      </a:pPr>
                      <a:r>
                        <a:rPr lang="en-IN" sz="1200">
                          <a:effectLst/>
                        </a:rPr>
                        <a:t>Test Case ID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Test Scenario</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Test Input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Expected Result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Status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904566667"/>
                  </a:ext>
                </a:extLst>
              </a:tr>
              <a:tr h="430825">
                <a:tc>
                  <a:txBody>
                    <a:bodyPr/>
                    <a:lstStyle/>
                    <a:p>
                      <a:pPr>
                        <a:buNone/>
                      </a:pPr>
                      <a:r>
                        <a:rPr lang="en-IN" sz="1200">
                          <a:effectLst/>
                        </a:rPr>
                        <a:t>AUTH-01</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Login with valid student credentials</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Registered email and correct password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Student should be successfully logged in and redirected to Student Dashboard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626174156"/>
                  </a:ext>
                </a:extLst>
              </a:tr>
              <a:tr h="430825">
                <a:tc>
                  <a:txBody>
                    <a:bodyPr/>
                    <a:lstStyle/>
                    <a:p>
                      <a:pPr>
                        <a:buNone/>
                      </a:pPr>
                      <a:r>
                        <a:rPr lang="en-IN" sz="1200">
                          <a:effectLst/>
                        </a:rPr>
                        <a:t>AUTH-02</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Login with valid admin credentials</a:t>
                      </a:r>
                      <a:endParaRPr lang="en-IN" sz="1200" dirty="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Admin email and correct password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Admin should be successfully logged in and redirected to Admin Dashboard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6243535"/>
                  </a:ext>
                </a:extLst>
              </a:tr>
              <a:tr h="288501">
                <a:tc>
                  <a:txBody>
                    <a:bodyPr/>
                    <a:lstStyle/>
                    <a:p>
                      <a:pPr>
                        <a:buNone/>
                      </a:pPr>
                      <a:r>
                        <a:rPr lang="en-IN" sz="1200">
                          <a:effectLst/>
                        </a:rPr>
                        <a:t>AUTH-03</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Incorrect password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Registered email with wrong password</a:t>
                      </a:r>
                      <a:endParaRPr lang="en-IN" sz="1200" dirty="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Login should be rejected with an appropriate error message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565445302"/>
                  </a:ext>
                </a:extLst>
              </a:tr>
              <a:tr h="287216">
                <a:tc>
                  <a:txBody>
                    <a:bodyPr/>
                    <a:lstStyle/>
                    <a:p>
                      <a:pPr>
                        <a:buNone/>
                      </a:pPr>
                      <a:r>
                        <a:rPr lang="en-IN" sz="1200">
                          <a:effectLst/>
                        </a:rPr>
                        <a:t>AUTH-04</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Unregistered email</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Email not present in database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System should display invalid credentials error</a:t>
                      </a:r>
                      <a:endParaRPr lang="en-IN" sz="1200" dirty="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87525107"/>
                  </a:ext>
                </a:extLst>
              </a:tr>
              <a:tr h="287216">
                <a:tc>
                  <a:txBody>
                    <a:bodyPr/>
                    <a:lstStyle/>
                    <a:p>
                      <a:pPr>
                        <a:buNone/>
                      </a:pPr>
                      <a:r>
                        <a:rPr lang="en-IN" sz="1200">
                          <a:effectLst/>
                        </a:rPr>
                        <a:t>AUTH-05</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Empty email field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Email left blank</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Email validation message should be displayed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746007727"/>
                  </a:ext>
                </a:extLst>
              </a:tr>
              <a:tr h="288501">
                <a:tc>
                  <a:txBody>
                    <a:bodyPr/>
                    <a:lstStyle/>
                    <a:p>
                      <a:pPr>
                        <a:buNone/>
                      </a:pPr>
                      <a:r>
                        <a:rPr lang="en-IN" sz="1200">
                          <a:effectLst/>
                        </a:rPr>
                        <a:t>AUTH-06</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Empty password field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Password left blank</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Password validation message should be displayed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PASS</a:t>
                      </a:r>
                      <a:endParaRPr lang="en-IN" sz="1200" dirty="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49581286"/>
                  </a:ext>
                </a:extLst>
              </a:tr>
              <a:tr h="287216">
                <a:tc>
                  <a:txBody>
                    <a:bodyPr/>
                    <a:lstStyle/>
                    <a:p>
                      <a:pPr>
                        <a:buNone/>
                      </a:pPr>
                      <a:r>
                        <a:rPr lang="en-IN" sz="1200">
                          <a:effectLst/>
                        </a:rPr>
                        <a:t>AUTH-07</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Invalid email format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Incorrect email format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System should display email validation error</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2258963304"/>
                  </a:ext>
                </a:extLst>
              </a:tr>
              <a:tr h="288501">
                <a:tc>
                  <a:txBody>
                    <a:bodyPr/>
                    <a:lstStyle/>
                    <a:p>
                      <a:pPr>
                        <a:buNone/>
                      </a:pPr>
                      <a:r>
                        <a:rPr lang="en-IN" sz="1200">
                          <a:effectLst/>
                        </a:rPr>
                        <a:t>AUTH-08</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Empty login form</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Both fields left blank</a:t>
                      </a:r>
                      <a:endParaRPr lang="en-IN" sz="1200" dirty="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Required field validation messages should be displayed</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314970962"/>
                  </a:ext>
                </a:extLst>
              </a:tr>
              <a:tr h="288501">
                <a:tc>
                  <a:txBody>
                    <a:bodyPr/>
                    <a:lstStyle/>
                    <a:p>
                      <a:pPr>
                        <a:buNone/>
                      </a:pPr>
                      <a:r>
                        <a:rPr lang="en-IN" sz="1200">
                          <a:effectLst/>
                        </a:rPr>
                        <a:t>AUTH-09</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Student accessing Admin Panel</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Student token attempts admin route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Access should be denied due to role-based authorization</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298003419"/>
                  </a:ext>
                </a:extLst>
              </a:tr>
              <a:tr h="296760">
                <a:tc>
                  <a:txBody>
                    <a:bodyPr/>
                    <a:lstStyle/>
                    <a:p>
                      <a:pPr>
                        <a:buNone/>
                      </a:pPr>
                      <a:r>
                        <a:rPr lang="en-IN" sz="1200">
                          <a:effectLst/>
                        </a:rPr>
                        <a:t>AUTH-10</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Admin accessing Student features</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Admin token attempts restricted student route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Unauthorized access should be prevented where applicable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199983391"/>
                  </a:ext>
                </a:extLst>
              </a:tr>
              <a:tr h="430825">
                <a:tc>
                  <a:txBody>
                    <a:bodyPr/>
                    <a:lstStyle/>
                    <a:p>
                      <a:pPr>
                        <a:buNone/>
                      </a:pPr>
                      <a:r>
                        <a:rPr lang="en-IN" sz="1200">
                          <a:effectLst/>
                        </a:rPr>
                        <a:t>AUTH-11</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Logout testing</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Click Logout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User session/token should be cleared and user redirected to Login page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902982806"/>
                  </a:ext>
                </a:extLst>
              </a:tr>
              <a:tr h="287216">
                <a:tc>
                  <a:txBody>
                    <a:bodyPr/>
                    <a:lstStyle/>
                    <a:p>
                      <a:pPr>
                        <a:buNone/>
                      </a:pPr>
                      <a:r>
                        <a:rPr lang="en-IN" sz="1200">
                          <a:effectLst/>
                        </a:rPr>
                        <a:t>AUTH-12</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Access protected page without login</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Directly open protected URL</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User should be redirected to Login page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42192757"/>
                  </a:ext>
                </a:extLst>
              </a:tr>
              <a:tr h="430825">
                <a:tc>
                  <a:txBody>
                    <a:bodyPr/>
                    <a:lstStyle/>
                    <a:p>
                      <a:pPr>
                        <a:buNone/>
                      </a:pPr>
                      <a:r>
                        <a:rPr lang="en-IN" sz="1200">
                          <a:effectLst/>
                        </a:rPr>
                        <a:t>AUTH-13</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Invalid/expired JWT token</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Expired or invalid authentication token</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Request should be rejected and user should be asked to authenticate again</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3000120146"/>
                  </a:ext>
                </a:extLst>
              </a:tr>
              <a:tr h="287216">
                <a:tc>
                  <a:txBody>
                    <a:bodyPr/>
                    <a:lstStyle/>
                    <a:p>
                      <a:pPr>
                        <a:buNone/>
                      </a:pPr>
                      <a:r>
                        <a:rPr lang="en-IN" sz="1200">
                          <a:effectLst/>
                        </a:rPr>
                        <a:t>AUTH-14</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Login after logout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Valid credentials after logout</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User should be able to log in successfully again</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PASS</a:t>
                      </a:r>
                      <a:endParaRPr lang="en-IN" sz="1200" dirty="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836811440"/>
                  </a:ext>
                </a:extLst>
              </a:tr>
              <a:tr h="430825">
                <a:tc>
                  <a:txBody>
                    <a:bodyPr/>
                    <a:lstStyle/>
                    <a:p>
                      <a:pPr>
                        <a:buNone/>
                      </a:pPr>
                      <a:r>
                        <a:rPr lang="en-IN" sz="1200">
                          <a:effectLst/>
                        </a:rPr>
                        <a:t>AUTH-15</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Database/server unavailable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Login request when backend/database is unavailable</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a:effectLst/>
                        </a:rPr>
                        <a:t>System should display an appropriate error instead of crashing</a:t>
                      </a:r>
                      <a:endParaRPr lang="en-IN" sz="1200">
                        <a:effectLst/>
                        <a:latin typeface="Nimbus Roman No9 L"/>
                        <a:ea typeface="Bitstream Vera Sans"/>
                        <a:cs typeface="Times New Roman" panose="02020603050405020304" pitchFamily="18" charset="0"/>
                      </a:endParaRPr>
                    </a:p>
                  </a:txBody>
                  <a:tcPr marL="41150" marR="41150" marT="0" marB="0"/>
                </a:tc>
                <a:tc>
                  <a:txBody>
                    <a:bodyPr/>
                    <a:lstStyle/>
                    <a:p>
                      <a:pPr>
                        <a:buNone/>
                      </a:pPr>
                      <a:r>
                        <a:rPr lang="en-IN" sz="1200" dirty="0">
                          <a:effectLst/>
                        </a:rPr>
                        <a:t>PASS</a:t>
                      </a:r>
                      <a:endParaRPr lang="en-IN" sz="1200" dirty="0">
                        <a:effectLst/>
                        <a:latin typeface="Nimbus Roman No9 L"/>
                        <a:ea typeface="Bitstream Vera Sans"/>
                        <a:cs typeface="Times New Roman" panose="02020603050405020304" pitchFamily="18" charset="0"/>
                      </a:endParaRPr>
                    </a:p>
                  </a:txBody>
                  <a:tcPr marL="41150" marR="41150" marT="0" marB="0"/>
                </a:tc>
                <a:extLst>
                  <a:ext uri="{0D108BD9-81ED-4DB2-BD59-A6C34878D82A}">
                    <a16:rowId xmlns:a16="http://schemas.microsoft.com/office/drawing/2014/main" val="1691124619"/>
                  </a:ext>
                </a:extLst>
              </a:tr>
            </a:tbl>
          </a:graphicData>
        </a:graphic>
      </p:graphicFrame>
    </p:spTree>
    <p:extLst>
      <p:ext uri="{BB962C8B-B14F-4D97-AF65-F5344CB8AC3E}">
        <p14:creationId xmlns:p14="http://schemas.microsoft.com/office/powerpoint/2010/main" val="68297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7856E4-86AC-2DAB-B708-6E0181873C33}"/>
              </a:ext>
            </a:extLst>
          </p:cNvPr>
          <p:cNvSpPr>
            <a:spLocks noGrp="1"/>
          </p:cNvSpPr>
          <p:nvPr>
            <p:ph type="body" sz="half" idx="2"/>
          </p:nvPr>
        </p:nvSpPr>
        <p:spPr>
          <a:xfrm>
            <a:off x="1197868" y="-315416"/>
            <a:ext cx="6984776" cy="1152128"/>
          </a:xfrm>
        </p:spPr>
        <p:txBody>
          <a:bodyPr/>
          <a:lstStyle/>
          <a:p>
            <a:br>
              <a:rPr lang="en-IN" dirty="0"/>
            </a:br>
            <a:endParaRPr lang="en-IN" dirty="0"/>
          </a:p>
          <a:p>
            <a:r>
              <a:rPr lang="en-IN" b="1" dirty="0"/>
              <a:t>Module 3: </a:t>
            </a:r>
            <a:r>
              <a:rPr lang="en-US" b="1" dirty="0">
                <a:effectLst/>
              </a:rPr>
              <a:t>Placement Content &amp; Question Bank Management Testing</a:t>
            </a:r>
            <a:endParaRPr lang="en-IN" dirty="0"/>
          </a:p>
        </p:txBody>
      </p:sp>
      <p:graphicFrame>
        <p:nvGraphicFramePr>
          <p:cNvPr id="6" name="Content Placeholder 5">
            <a:extLst>
              <a:ext uri="{FF2B5EF4-FFF2-40B4-BE49-F238E27FC236}">
                <a16:creationId xmlns:a16="http://schemas.microsoft.com/office/drawing/2014/main" id="{5578B162-6CCC-8852-B363-EBCE44F13A71}"/>
              </a:ext>
            </a:extLst>
          </p:cNvPr>
          <p:cNvGraphicFramePr>
            <a:graphicFrameLocks noGrp="1"/>
          </p:cNvGraphicFramePr>
          <p:nvPr>
            <p:ph idx="1"/>
            <p:extLst>
              <p:ext uri="{D42A27DB-BD31-4B8C-83A1-F6EECF244321}">
                <p14:modId xmlns:p14="http://schemas.microsoft.com/office/powerpoint/2010/main" val="1717182405"/>
              </p:ext>
            </p:extLst>
          </p:nvPr>
        </p:nvGraphicFramePr>
        <p:xfrm>
          <a:off x="1269876" y="836712"/>
          <a:ext cx="10225135" cy="5892368"/>
        </p:xfrm>
        <a:graphic>
          <a:graphicData uri="http://schemas.openxmlformats.org/drawingml/2006/table">
            <a:tbl>
              <a:tblPr firstRow="1" firstCol="1" bandRow="1">
                <a:tableStyleId>{5C22544A-7EE6-4342-B048-85BDC9FD1C3A}</a:tableStyleId>
              </a:tblPr>
              <a:tblGrid>
                <a:gridCol w="2045027">
                  <a:extLst>
                    <a:ext uri="{9D8B030D-6E8A-4147-A177-3AD203B41FA5}">
                      <a16:colId xmlns:a16="http://schemas.microsoft.com/office/drawing/2014/main" val="3112002645"/>
                    </a:ext>
                  </a:extLst>
                </a:gridCol>
                <a:gridCol w="2045027">
                  <a:extLst>
                    <a:ext uri="{9D8B030D-6E8A-4147-A177-3AD203B41FA5}">
                      <a16:colId xmlns:a16="http://schemas.microsoft.com/office/drawing/2014/main" val="431948662"/>
                    </a:ext>
                  </a:extLst>
                </a:gridCol>
                <a:gridCol w="2045027">
                  <a:extLst>
                    <a:ext uri="{9D8B030D-6E8A-4147-A177-3AD203B41FA5}">
                      <a16:colId xmlns:a16="http://schemas.microsoft.com/office/drawing/2014/main" val="3541973662"/>
                    </a:ext>
                  </a:extLst>
                </a:gridCol>
                <a:gridCol w="2986624">
                  <a:extLst>
                    <a:ext uri="{9D8B030D-6E8A-4147-A177-3AD203B41FA5}">
                      <a16:colId xmlns:a16="http://schemas.microsoft.com/office/drawing/2014/main" val="703463854"/>
                    </a:ext>
                  </a:extLst>
                </a:gridCol>
                <a:gridCol w="1103430">
                  <a:extLst>
                    <a:ext uri="{9D8B030D-6E8A-4147-A177-3AD203B41FA5}">
                      <a16:colId xmlns:a16="http://schemas.microsoft.com/office/drawing/2014/main" val="94534186"/>
                    </a:ext>
                  </a:extLst>
                </a:gridCol>
              </a:tblGrid>
              <a:tr h="242543">
                <a:tc>
                  <a:txBody>
                    <a:bodyPr/>
                    <a:lstStyle/>
                    <a:p>
                      <a:pPr>
                        <a:buNone/>
                      </a:pPr>
                      <a:r>
                        <a:rPr lang="en-IN" sz="1200">
                          <a:effectLst/>
                        </a:rPr>
                        <a:t>Test Case ID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Test Scenario</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Test Input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Expected Result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Status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630922180"/>
                  </a:ext>
                </a:extLst>
              </a:tr>
              <a:tr h="264592">
                <a:tc>
                  <a:txBody>
                    <a:bodyPr/>
                    <a:lstStyle/>
                    <a:p>
                      <a:pPr>
                        <a:buNone/>
                      </a:pPr>
                      <a:r>
                        <a:rPr lang="en-IN" sz="1200">
                          <a:effectLst/>
                        </a:rPr>
                        <a:t>CNT-01</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Add new preparation note</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Valid title, subject, topic, and content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Note should be successfully added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364460423"/>
                  </a:ext>
                </a:extLst>
              </a:tr>
              <a:tr h="264592">
                <a:tc>
                  <a:txBody>
                    <a:bodyPr/>
                    <a:lstStyle/>
                    <a:p>
                      <a:pPr>
                        <a:buNone/>
                      </a:pPr>
                      <a:r>
                        <a:rPr lang="en-IN" sz="1200">
                          <a:effectLst/>
                        </a:rPr>
                        <a:t>CNT-02</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Add question with valid details</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Question, options, answer, explanation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Question should be stored successfully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941892357"/>
                  </a:ext>
                </a:extLst>
              </a:tr>
              <a:tr h="352790">
                <a:tc>
                  <a:txBody>
                    <a:bodyPr/>
                    <a:lstStyle/>
                    <a:p>
                      <a:pPr>
                        <a:buNone/>
                      </a:pPr>
                      <a:r>
                        <a:rPr lang="en-IN" sz="1200">
                          <a:effectLst/>
                        </a:rPr>
                        <a:t>CNT-03</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Add coding problem</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Valid problem statement and difficulty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Coding problem should be created successfully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4243949663"/>
                  </a:ext>
                </a:extLst>
              </a:tr>
              <a:tr h="264592">
                <a:tc>
                  <a:txBody>
                    <a:bodyPr/>
                    <a:lstStyle/>
                    <a:p>
                      <a:pPr>
                        <a:buNone/>
                      </a:pPr>
                      <a:r>
                        <a:rPr lang="en-IN" sz="1200">
                          <a:effectLst/>
                        </a:rPr>
                        <a:t>CNT-04</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View content list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Open Notes/Questions section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All available records should be displayed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1331918439"/>
                  </a:ext>
                </a:extLst>
              </a:tr>
              <a:tr h="352790">
                <a:tc>
                  <a:txBody>
                    <a:bodyPr/>
                    <a:lstStyle/>
                    <a:p>
                      <a:pPr>
                        <a:buNone/>
                      </a:pPr>
                      <a:r>
                        <a:rPr lang="en-IN" sz="1200">
                          <a:effectLst/>
                        </a:rPr>
                        <a:t>CNT-05</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Edit existing content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Modify title/content/question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Updated information should be saved successfully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2240176571"/>
                  </a:ext>
                </a:extLst>
              </a:tr>
              <a:tr h="264592">
                <a:tc>
                  <a:txBody>
                    <a:bodyPr/>
                    <a:lstStyle/>
                    <a:p>
                      <a:pPr>
                        <a:buNone/>
                      </a:pPr>
                      <a:r>
                        <a:rPr lang="en-IN" sz="1200">
                          <a:effectLst/>
                        </a:rPr>
                        <a:t>CNT-06</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Delete content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dirty="0">
                          <a:effectLst/>
                        </a:rPr>
                        <a:t>Select an existing record and delete</a:t>
                      </a:r>
                      <a:endParaRPr lang="en-IN" sz="1200" dirty="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Selected record should be removed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4281080833"/>
                  </a:ext>
                </a:extLst>
              </a:tr>
              <a:tr h="352790">
                <a:tc>
                  <a:txBody>
                    <a:bodyPr/>
                    <a:lstStyle/>
                    <a:p>
                      <a:pPr>
                        <a:buNone/>
                      </a:pPr>
                      <a:r>
                        <a:rPr lang="en-IN" sz="1200" dirty="0">
                          <a:effectLst/>
                        </a:rPr>
                        <a:t>CNT-07</a:t>
                      </a:r>
                      <a:endParaRPr lang="en-IN" sz="1200" dirty="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Required field validation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Submit form with required fields empty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dirty="0">
                          <a:effectLst/>
                        </a:rPr>
                        <a:t>Validation messages should be displayed</a:t>
                      </a:r>
                      <a:endParaRPr lang="en-IN" sz="1200" dirty="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3054455703"/>
                  </a:ext>
                </a:extLst>
              </a:tr>
              <a:tr h="264592">
                <a:tc>
                  <a:txBody>
                    <a:bodyPr/>
                    <a:lstStyle/>
                    <a:p>
                      <a:pPr>
                        <a:buNone/>
                      </a:pPr>
                      <a:r>
                        <a:rPr lang="en-IN" sz="1200">
                          <a:effectLst/>
                        </a:rPr>
                        <a:t>CNT-08</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Invalid question data</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dirty="0">
                          <a:effectLst/>
                        </a:rPr>
                        <a:t>Missing options or correct answer</a:t>
                      </a:r>
                      <a:endParaRPr lang="en-IN" sz="1200" dirty="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System should reject invalid question data</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107317672"/>
                  </a:ext>
                </a:extLst>
              </a:tr>
              <a:tr h="352790">
                <a:tc>
                  <a:txBody>
                    <a:bodyPr/>
                    <a:lstStyle/>
                    <a:p>
                      <a:pPr>
                        <a:buNone/>
                      </a:pPr>
                      <a:r>
                        <a:rPr lang="en-IN" sz="1200">
                          <a:effectLst/>
                        </a:rPr>
                        <a:t>CNT-09</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Difficulty validation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dirty="0">
                          <a:effectLst/>
                        </a:rPr>
                        <a:t>Select Easy/Medium/Hard</a:t>
                      </a:r>
                      <a:endParaRPr lang="en-IN" sz="1200" dirty="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Selected difficulty should be stored correctly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1930072188"/>
                  </a:ext>
                </a:extLst>
              </a:tr>
              <a:tr h="352790">
                <a:tc>
                  <a:txBody>
                    <a:bodyPr/>
                    <a:lstStyle/>
                    <a:p>
                      <a:pPr>
                        <a:buNone/>
                      </a:pPr>
                      <a:r>
                        <a:rPr lang="en-IN" sz="1200">
                          <a:effectLst/>
                        </a:rPr>
                        <a:t>CNT-10</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Search content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Enter valid keyword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Matching notes/questions should be displayed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2229954043"/>
                  </a:ext>
                </a:extLst>
              </a:tr>
              <a:tr h="264592">
                <a:tc>
                  <a:txBody>
                    <a:bodyPr/>
                    <a:lstStyle/>
                    <a:p>
                      <a:pPr>
                        <a:buNone/>
                      </a:pPr>
                      <a:r>
                        <a:rPr lang="en-IN" sz="1200">
                          <a:effectLst/>
                        </a:rPr>
                        <a:t>CNT-11</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Filter content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Select subject/topic/difficulty</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Relevant records should be displayed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61263078"/>
                  </a:ext>
                </a:extLst>
              </a:tr>
              <a:tr h="352790">
                <a:tc>
                  <a:txBody>
                    <a:bodyPr/>
                    <a:lstStyle/>
                    <a:p>
                      <a:pPr>
                        <a:buNone/>
                      </a:pPr>
                      <a:r>
                        <a:rPr lang="en-IN" sz="1200">
                          <a:effectLst/>
                        </a:rPr>
                        <a:t>CNT-12</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Student content access</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Student opens preparation module</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Admin-created content should be displayed to the student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1854811396"/>
                  </a:ext>
                </a:extLst>
              </a:tr>
              <a:tr h="352790">
                <a:tc>
                  <a:txBody>
                    <a:bodyPr/>
                    <a:lstStyle/>
                    <a:p>
                      <a:pPr>
                        <a:buNone/>
                      </a:pPr>
                      <a:r>
                        <a:rPr lang="en-IN" sz="1200">
                          <a:effectLst/>
                        </a:rPr>
                        <a:t>CNT-13</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Updated content synchronization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Admin edits existing content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Updated content should be reflected in Student Panel</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4149582245"/>
                  </a:ext>
                </a:extLst>
              </a:tr>
              <a:tr h="352790">
                <a:tc>
                  <a:txBody>
                    <a:bodyPr/>
                    <a:lstStyle/>
                    <a:p>
                      <a:pPr>
                        <a:buNone/>
                      </a:pPr>
                      <a:r>
                        <a:rPr lang="en-IN" sz="1200">
                          <a:effectLst/>
                        </a:rPr>
                        <a:t>CNT-14</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Unauthorized content management</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Student attempts Admin CRUD operation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Access should be denied</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1248169660"/>
                  </a:ext>
                </a:extLst>
              </a:tr>
              <a:tr h="529185">
                <a:tc>
                  <a:txBody>
                    <a:bodyPr/>
                    <a:lstStyle/>
                    <a:p>
                      <a:pPr>
                        <a:buNone/>
                      </a:pPr>
                      <a:r>
                        <a:rPr lang="en-IN" sz="1200">
                          <a:effectLst/>
                        </a:rPr>
                        <a:t>CNT-15</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Database/server error</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Database unavailable during operation</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a:effectLst/>
                        </a:rPr>
                        <a:t>Appropriate error message should be displayed without crashing</a:t>
                      </a:r>
                      <a:endParaRPr lang="en-IN" sz="1200">
                        <a:effectLst/>
                        <a:latin typeface="Nimbus Roman No9 L"/>
                        <a:ea typeface="Bitstream Vera Sans"/>
                        <a:cs typeface="Times New Roman" panose="02020603050405020304" pitchFamily="18" charset="0"/>
                      </a:endParaRPr>
                    </a:p>
                  </a:txBody>
                  <a:tcPr marL="33074" marR="33074" marT="0" marB="0"/>
                </a:tc>
                <a:tc>
                  <a:txBody>
                    <a:bodyPr/>
                    <a:lstStyle/>
                    <a:p>
                      <a:pPr>
                        <a:buNone/>
                      </a:pPr>
                      <a:r>
                        <a:rPr lang="en-IN" sz="1200" dirty="0">
                          <a:effectLst/>
                        </a:rPr>
                        <a:t>PASS</a:t>
                      </a:r>
                      <a:endParaRPr lang="en-IN" sz="1200" dirty="0">
                        <a:effectLst/>
                        <a:latin typeface="Nimbus Roman No9 L"/>
                        <a:ea typeface="Bitstream Vera Sans"/>
                        <a:cs typeface="Times New Roman" panose="02020603050405020304" pitchFamily="18" charset="0"/>
                      </a:endParaRPr>
                    </a:p>
                  </a:txBody>
                  <a:tcPr marL="33074" marR="33074" marT="0" marB="0"/>
                </a:tc>
                <a:extLst>
                  <a:ext uri="{0D108BD9-81ED-4DB2-BD59-A6C34878D82A}">
                    <a16:rowId xmlns:a16="http://schemas.microsoft.com/office/drawing/2014/main" val="3714261811"/>
                  </a:ext>
                </a:extLst>
              </a:tr>
            </a:tbl>
          </a:graphicData>
        </a:graphic>
      </p:graphicFrame>
    </p:spTree>
    <p:extLst>
      <p:ext uri="{BB962C8B-B14F-4D97-AF65-F5344CB8AC3E}">
        <p14:creationId xmlns:p14="http://schemas.microsoft.com/office/powerpoint/2010/main" val="165426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DB745-8802-0D4F-1BF2-232A7BEA7A3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BF45D7A-3EA4-F73E-96D4-4B31D4175213}"/>
              </a:ext>
            </a:extLst>
          </p:cNvPr>
          <p:cNvSpPr>
            <a:spLocks noGrp="1"/>
          </p:cNvSpPr>
          <p:nvPr>
            <p:ph type="body" sz="half" idx="2"/>
          </p:nvPr>
        </p:nvSpPr>
        <p:spPr>
          <a:xfrm>
            <a:off x="909836" y="33189"/>
            <a:ext cx="4608512" cy="792088"/>
          </a:xfrm>
        </p:spPr>
        <p:txBody>
          <a:bodyPr>
            <a:noAutofit/>
          </a:bodyPr>
          <a:lstStyle/>
          <a:p>
            <a:r>
              <a:rPr lang="en-IN" b="1" dirty="0"/>
              <a:t>Module 4: </a:t>
            </a:r>
            <a:r>
              <a:rPr lang="en-US" b="1" dirty="0">
                <a:effectLst/>
              </a:rPr>
              <a:t>Mock Test &amp; Assessment Testing</a:t>
            </a:r>
            <a:endParaRPr lang="en-IN" dirty="0"/>
          </a:p>
        </p:txBody>
      </p:sp>
      <p:graphicFrame>
        <p:nvGraphicFramePr>
          <p:cNvPr id="17" name="Content Placeholder 16">
            <a:extLst>
              <a:ext uri="{FF2B5EF4-FFF2-40B4-BE49-F238E27FC236}">
                <a16:creationId xmlns:a16="http://schemas.microsoft.com/office/drawing/2014/main" id="{C498E0CA-928D-0B8D-08C8-65C17F8D920C}"/>
              </a:ext>
            </a:extLst>
          </p:cNvPr>
          <p:cNvGraphicFramePr>
            <a:graphicFrameLocks noGrp="1"/>
          </p:cNvGraphicFramePr>
          <p:nvPr>
            <p:ph idx="1"/>
            <p:extLst>
              <p:ext uri="{D42A27DB-BD31-4B8C-83A1-F6EECF244321}">
                <p14:modId xmlns:p14="http://schemas.microsoft.com/office/powerpoint/2010/main" val="3652598467"/>
              </p:ext>
            </p:extLst>
          </p:nvPr>
        </p:nvGraphicFramePr>
        <p:xfrm>
          <a:off x="549796" y="606891"/>
          <a:ext cx="11089232" cy="6174218"/>
        </p:xfrm>
        <a:graphic>
          <a:graphicData uri="http://schemas.openxmlformats.org/drawingml/2006/table">
            <a:tbl>
              <a:tblPr firstRow="1" firstCol="1" bandRow="1">
                <a:tableStyleId>{5C22544A-7EE6-4342-B048-85BDC9FD1C3A}</a:tableStyleId>
              </a:tblPr>
              <a:tblGrid>
                <a:gridCol w="849633">
                  <a:extLst>
                    <a:ext uri="{9D8B030D-6E8A-4147-A177-3AD203B41FA5}">
                      <a16:colId xmlns:a16="http://schemas.microsoft.com/office/drawing/2014/main" val="2989686268"/>
                    </a:ext>
                  </a:extLst>
                </a:gridCol>
                <a:gridCol w="2225631">
                  <a:extLst>
                    <a:ext uri="{9D8B030D-6E8A-4147-A177-3AD203B41FA5}">
                      <a16:colId xmlns:a16="http://schemas.microsoft.com/office/drawing/2014/main" val="1835750585"/>
                    </a:ext>
                  </a:extLst>
                </a:gridCol>
                <a:gridCol w="2470158">
                  <a:extLst>
                    <a:ext uri="{9D8B030D-6E8A-4147-A177-3AD203B41FA5}">
                      <a16:colId xmlns:a16="http://schemas.microsoft.com/office/drawing/2014/main" val="2898611875"/>
                    </a:ext>
                  </a:extLst>
                </a:gridCol>
                <a:gridCol w="4714004">
                  <a:extLst>
                    <a:ext uri="{9D8B030D-6E8A-4147-A177-3AD203B41FA5}">
                      <a16:colId xmlns:a16="http://schemas.microsoft.com/office/drawing/2014/main" val="3105460712"/>
                    </a:ext>
                  </a:extLst>
                </a:gridCol>
                <a:gridCol w="829806">
                  <a:extLst>
                    <a:ext uri="{9D8B030D-6E8A-4147-A177-3AD203B41FA5}">
                      <a16:colId xmlns:a16="http://schemas.microsoft.com/office/drawing/2014/main" val="3028218653"/>
                    </a:ext>
                  </a:extLst>
                </a:gridCol>
              </a:tblGrid>
              <a:tr h="343909">
                <a:tc>
                  <a:txBody>
                    <a:bodyPr/>
                    <a:lstStyle/>
                    <a:p>
                      <a:pPr>
                        <a:buNone/>
                      </a:pPr>
                      <a:r>
                        <a:rPr lang="en-IN" sz="1200" dirty="0">
                          <a:effectLst/>
                        </a:rPr>
                        <a:t>Test Case ID</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Test Scenario</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Test Input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Expected Result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Status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970532460"/>
                  </a:ext>
                </a:extLst>
              </a:tr>
              <a:tr h="171954">
                <a:tc>
                  <a:txBody>
                    <a:bodyPr/>
                    <a:lstStyle/>
                    <a:p>
                      <a:pPr>
                        <a:buNone/>
                      </a:pPr>
                      <a:r>
                        <a:rPr lang="en-IN" sz="1200" dirty="0">
                          <a:effectLst/>
                        </a:rPr>
                        <a:t>TEST-01</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Open available mock tests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Student selects Mock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Available tests should be displayed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660994101"/>
                  </a:ext>
                </a:extLst>
              </a:tr>
              <a:tr h="171954">
                <a:tc>
                  <a:txBody>
                    <a:bodyPr/>
                    <a:lstStyle/>
                    <a:p>
                      <a:pPr>
                        <a:buNone/>
                      </a:pPr>
                      <a:r>
                        <a:rPr lang="en-IN" sz="1200" dirty="0">
                          <a:effectLst/>
                        </a:rPr>
                        <a:t>TEST-02</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aptitude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Aptitude Mock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Test should start successfully</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1738334370"/>
                  </a:ext>
                </a:extLst>
              </a:tr>
              <a:tr h="171954">
                <a:tc>
                  <a:txBody>
                    <a:bodyPr/>
                    <a:lstStyle/>
                    <a:p>
                      <a:pPr>
                        <a:buNone/>
                      </a:pPr>
                      <a:r>
                        <a:rPr lang="en-IN" sz="1200" dirty="0">
                          <a:effectLst/>
                        </a:rPr>
                        <a:t>TEST-03</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reasoning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Reasoning Mock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Test should start successfully</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923053229"/>
                  </a:ext>
                </a:extLst>
              </a:tr>
              <a:tr h="171954">
                <a:tc>
                  <a:txBody>
                    <a:bodyPr/>
                    <a:lstStyle/>
                    <a:p>
                      <a:pPr>
                        <a:buNone/>
                      </a:pPr>
                      <a:r>
                        <a:rPr lang="en-IN" sz="1200" dirty="0">
                          <a:effectLst/>
                        </a:rPr>
                        <a:t>TEST-04</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English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English Mock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Test should start successfully</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998484785"/>
                  </a:ext>
                </a:extLst>
              </a:tr>
              <a:tr h="171954">
                <a:tc>
                  <a:txBody>
                    <a:bodyPr/>
                    <a:lstStyle/>
                    <a:p>
                      <a:pPr>
                        <a:buNone/>
                      </a:pPr>
                      <a:r>
                        <a:rPr lang="en-IN" sz="1200" dirty="0">
                          <a:effectLst/>
                        </a:rPr>
                        <a:t>TEST-05</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coding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Coding Mock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Coding test should start successfully</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547611082"/>
                  </a:ext>
                </a:extLst>
              </a:tr>
              <a:tr h="171954">
                <a:tc>
                  <a:txBody>
                    <a:bodyPr/>
                    <a:lstStyle/>
                    <a:p>
                      <a:pPr>
                        <a:buNone/>
                      </a:pPr>
                      <a:r>
                        <a:rPr lang="en-IN" sz="1200" dirty="0">
                          <a:effectLst/>
                        </a:rPr>
                        <a:t>TEST-06</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mixed placement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Mixed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Mixed test should load correctly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639912635"/>
                  </a:ext>
                </a:extLst>
              </a:tr>
              <a:tr h="343909">
                <a:tc>
                  <a:txBody>
                    <a:bodyPr/>
                    <a:lstStyle/>
                    <a:p>
                      <a:pPr>
                        <a:buNone/>
                      </a:pPr>
                      <a:r>
                        <a:rPr lang="en-IN" sz="1200" dirty="0">
                          <a:effectLst/>
                        </a:rPr>
                        <a:t>TEST-07</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Verify 30 questions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configured 30-question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Exactly 30 questions should be displayed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229026921"/>
                  </a:ext>
                </a:extLst>
              </a:tr>
              <a:tr h="171954">
                <a:tc>
                  <a:txBody>
                    <a:bodyPr/>
                    <a:lstStyle/>
                    <a:p>
                      <a:pPr>
                        <a:buNone/>
                      </a:pPr>
                      <a:r>
                        <a:rPr lang="en-IN" sz="1200" dirty="0">
                          <a:effectLst/>
                        </a:rPr>
                        <a:t>TEST-08</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Question navigation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Move between questions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Previous/Next navigation should work correctly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1052809491"/>
                  </a:ext>
                </a:extLst>
              </a:tr>
              <a:tr h="171954">
                <a:tc>
                  <a:txBody>
                    <a:bodyPr/>
                    <a:lstStyle/>
                    <a:p>
                      <a:pPr>
                        <a:buNone/>
                      </a:pPr>
                      <a:r>
                        <a:rPr lang="en-IN" sz="1200" dirty="0">
                          <a:effectLst/>
                        </a:rPr>
                        <a:t>TEST-09</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answer</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an option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Selected answer should be saved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253912942"/>
                  </a:ext>
                </a:extLst>
              </a:tr>
              <a:tr h="171954">
                <a:tc>
                  <a:txBody>
                    <a:bodyPr/>
                    <a:lstStyle/>
                    <a:p>
                      <a:pPr>
                        <a:buNone/>
                      </a:pPr>
                      <a:r>
                        <a:rPr lang="en-IN" sz="1200" dirty="0">
                          <a:effectLst/>
                        </a:rPr>
                        <a:t>TEST-10</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Change answer</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Select another option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Previous answer should be replaced correctly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234727822"/>
                  </a:ext>
                </a:extLst>
              </a:tr>
              <a:tr h="343909">
                <a:tc>
                  <a:txBody>
                    <a:bodyPr/>
                    <a:lstStyle/>
                    <a:p>
                      <a:pPr>
                        <a:buNone/>
                      </a:pPr>
                      <a:r>
                        <a:rPr lang="en-IN" sz="1200" dirty="0">
                          <a:effectLst/>
                        </a:rPr>
                        <a:t>TEST-11</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Skip question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Move without selecting answer</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Question should remain unanswered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975351515"/>
                  </a:ext>
                </a:extLst>
              </a:tr>
              <a:tr h="171954">
                <a:tc>
                  <a:txBody>
                    <a:bodyPr/>
                    <a:lstStyle/>
                    <a:p>
                      <a:pPr>
                        <a:buNone/>
                      </a:pPr>
                      <a:r>
                        <a:rPr lang="en-IN" sz="1200" dirty="0">
                          <a:effectLst/>
                        </a:rPr>
                        <a:t>TEST-12</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Timer functionality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Start timed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Countdown timer should start correctly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267134959"/>
                  </a:ext>
                </a:extLst>
              </a:tr>
              <a:tr h="171954">
                <a:tc>
                  <a:txBody>
                    <a:bodyPr/>
                    <a:lstStyle/>
                    <a:p>
                      <a:pPr>
                        <a:buNone/>
                      </a:pPr>
                      <a:r>
                        <a:rPr lang="en-IN" sz="1200" dirty="0">
                          <a:effectLst/>
                        </a:rPr>
                        <a:t>TEST-13</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Timer expiration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Allow timer to reach zero</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Test should be automatically submitted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985969035"/>
                  </a:ext>
                </a:extLst>
              </a:tr>
              <a:tr h="171954">
                <a:tc>
                  <a:txBody>
                    <a:bodyPr/>
                    <a:lstStyle/>
                    <a:p>
                      <a:pPr>
                        <a:buNone/>
                      </a:pPr>
                      <a:r>
                        <a:rPr lang="en-IN" sz="1200" dirty="0">
                          <a:effectLst/>
                        </a:rPr>
                        <a:t>TEST-14</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Manual submission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Click Submit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Test should be submitted successfully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592431372"/>
                  </a:ext>
                </a:extLst>
              </a:tr>
              <a:tr h="171954">
                <a:tc>
                  <a:txBody>
                    <a:bodyPr/>
                    <a:lstStyle/>
                    <a:p>
                      <a:pPr>
                        <a:buNone/>
                      </a:pPr>
                      <a:r>
                        <a:rPr lang="en-IN" sz="1200" dirty="0">
                          <a:effectLst/>
                        </a:rPr>
                        <a:t>TEST-15</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Correct answer scoring</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Submit correct answers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Correct answers should receive marks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521960093"/>
                  </a:ext>
                </a:extLst>
              </a:tr>
              <a:tr h="171954">
                <a:tc>
                  <a:txBody>
                    <a:bodyPr/>
                    <a:lstStyle/>
                    <a:p>
                      <a:pPr>
                        <a:buNone/>
                      </a:pPr>
                      <a:r>
                        <a:rPr lang="en-IN" sz="1200" dirty="0">
                          <a:effectLst/>
                        </a:rPr>
                        <a:t>TEST-16</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Incorrect answer scoring</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Submit incorrect answers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Incorrect answers should be evaluated correctly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633055222"/>
                  </a:ext>
                </a:extLst>
              </a:tr>
              <a:tr h="343909">
                <a:tc>
                  <a:txBody>
                    <a:bodyPr/>
                    <a:lstStyle/>
                    <a:p>
                      <a:pPr>
                        <a:buNone/>
                      </a:pPr>
                      <a:r>
                        <a:rPr lang="en-IN" sz="1200" dirty="0">
                          <a:effectLst/>
                        </a:rPr>
                        <a:t>TEST-17</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Negative marking</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Submit incorrect answer in negative-marking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Applicable negative marks should be deducted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917270497"/>
                  </a:ext>
                </a:extLst>
              </a:tr>
              <a:tr h="343909">
                <a:tc>
                  <a:txBody>
                    <a:bodyPr/>
                    <a:lstStyle/>
                    <a:p>
                      <a:pPr>
                        <a:buNone/>
                      </a:pPr>
                      <a:r>
                        <a:rPr lang="en-IN" sz="1200" dirty="0">
                          <a:effectLst/>
                        </a:rPr>
                        <a:t>TEST-18</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Result generation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Complete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Score, correct, incorrect, and skipped answers should be displayed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26709984"/>
                  </a:ext>
                </a:extLst>
              </a:tr>
              <a:tr h="171954">
                <a:tc>
                  <a:txBody>
                    <a:bodyPr/>
                    <a:lstStyle/>
                    <a:p>
                      <a:pPr>
                        <a:buNone/>
                      </a:pPr>
                      <a:r>
                        <a:rPr lang="en-IN" sz="1200" dirty="0">
                          <a:effectLst/>
                        </a:rPr>
                        <a:t>TEST-19</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Result persistence</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Complete and submit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Result should be saved in MongoDB</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822684963"/>
                  </a:ext>
                </a:extLst>
              </a:tr>
              <a:tr h="343909">
                <a:tc>
                  <a:txBody>
                    <a:bodyPr/>
                    <a:lstStyle/>
                    <a:p>
                      <a:pPr>
                        <a:buNone/>
                      </a:pPr>
                      <a:r>
                        <a:rPr lang="en-IN" sz="1200" dirty="0">
                          <a:effectLst/>
                        </a:rPr>
                        <a:t>TEST-20</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Performance analysis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View completed test result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Accuracy, percentage, and performance analysis should be displayed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4203808645"/>
                  </a:ext>
                </a:extLst>
              </a:tr>
              <a:tr h="171954">
                <a:tc>
                  <a:txBody>
                    <a:bodyPr/>
                    <a:lstStyle/>
                    <a:p>
                      <a:pPr>
                        <a:buNone/>
                      </a:pPr>
                      <a:r>
                        <a:rPr lang="en-IN" sz="1200" dirty="0">
                          <a:effectLst/>
                        </a:rPr>
                        <a:t>TEST-21</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Test history</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Open previous test attempts</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Previous test results should be displayed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87461337"/>
                  </a:ext>
                </a:extLst>
              </a:tr>
              <a:tr h="343909">
                <a:tc>
                  <a:txBody>
                    <a:bodyPr/>
                    <a:lstStyle/>
                    <a:p>
                      <a:pPr>
                        <a:buNone/>
                      </a:pPr>
                      <a:r>
                        <a:rPr lang="en-IN" sz="1200" dirty="0">
                          <a:effectLst/>
                        </a:rPr>
                        <a:t>TEST-22</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Unauthorized test submission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Invalid/expired authentication token</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Submission should be rejected</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2401845711"/>
                  </a:ext>
                </a:extLst>
              </a:tr>
              <a:tr h="343909">
                <a:tc>
                  <a:txBody>
                    <a:bodyPr/>
                    <a:lstStyle/>
                    <a:p>
                      <a:pPr>
                        <a:buNone/>
                      </a:pPr>
                      <a:r>
                        <a:rPr lang="en-IN" sz="1200" dirty="0">
                          <a:effectLst/>
                        </a:rPr>
                        <a:t>TEST-23</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Refresh during test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Refresh test page</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System should handle the session appropriately without corrupting the test result</a:t>
                      </a:r>
                      <a:endParaRPr lang="en-IN" sz="120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a:effectLst/>
                        </a:rPr>
                        <a:t>PASS</a:t>
                      </a:r>
                      <a:endParaRPr lang="en-IN" sz="120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319094967"/>
                  </a:ext>
                </a:extLst>
              </a:tr>
              <a:tr h="343909">
                <a:tc>
                  <a:txBody>
                    <a:bodyPr/>
                    <a:lstStyle/>
                    <a:p>
                      <a:pPr>
                        <a:buNone/>
                      </a:pPr>
                      <a:r>
                        <a:rPr lang="en-IN" sz="1200" dirty="0">
                          <a:effectLst/>
                        </a:rPr>
                        <a:t>TEST-24</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Server/database failure</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Submit test when server/database unavailable</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Appropriate error should be displayed</a:t>
                      </a:r>
                      <a:endParaRPr lang="en-IN" sz="1200" dirty="0">
                        <a:effectLst/>
                        <a:latin typeface="Nimbus Roman No9 L"/>
                        <a:ea typeface="Bitstream Vera Sans"/>
                        <a:cs typeface="Times New Roman" panose="02020603050405020304" pitchFamily="18" charset="0"/>
                      </a:endParaRPr>
                    </a:p>
                  </a:txBody>
                  <a:tcPr marL="39521" marR="39521" marT="0" marB="0"/>
                </a:tc>
                <a:tc>
                  <a:txBody>
                    <a:bodyPr/>
                    <a:lstStyle/>
                    <a:p>
                      <a:pPr>
                        <a:buNone/>
                      </a:pPr>
                      <a:r>
                        <a:rPr lang="en-IN" sz="1200" dirty="0">
                          <a:effectLst/>
                        </a:rPr>
                        <a:t>PASS</a:t>
                      </a:r>
                      <a:endParaRPr lang="en-IN" sz="1200" dirty="0">
                        <a:effectLst/>
                        <a:latin typeface="Nimbus Roman No9 L"/>
                        <a:ea typeface="Bitstream Vera Sans"/>
                        <a:cs typeface="Times New Roman" panose="02020603050405020304" pitchFamily="18" charset="0"/>
                      </a:endParaRPr>
                    </a:p>
                  </a:txBody>
                  <a:tcPr marL="39521" marR="39521" marT="0" marB="0"/>
                </a:tc>
                <a:extLst>
                  <a:ext uri="{0D108BD9-81ED-4DB2-BD59-A6C34878D82A}">
                    <a16:rowId xmlns:a16="http://schemas.microsoft.com/office/drawing/2014/main" val="1353137920"/>
                  </a:ext>
                </a:extLst>
              </a:tr>
            </a:tbl>
          </a:graphicData>
        </a:graphic>
      </p:graphicFrame>
    </p:spTree>
    <p:extLst>
      <p:ext uri="{BB962C8B-B14F-4D97-AF65-F5344CB8AC3E}">
        <p14:creationId xmlns:p14="http://schemas.microsoft.com/office/powerpoint/2010/main" val="96987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3811-670C-BEFF-0549-641ED6610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A0922-01D4-3CB5-51A2-97798F6FF7BF}"/>
              </a:ext>
            </a:extLst>
          </p:cNvPr>
          <p:cNvSpPr>
            <a:spLocks noGrp="1"/>
          </p:cNvSpPr>
          <p:nvPr>
            <p:ph type="title"/>
          </p:nvPr>
        </p:nvSpPr>
        <p:spPr>
          <a:xfrm>
            <a:off x="1218883" y="274637"/>
            <a:ext cx="10360501" cy="706091"/>
          </a:xfrm>
        </p:spPr>
        <p:txBody>
          <a:bodyPr/>
          <a:lstStyle/>
          <a:p>
            <a:pPr algn="ctr"/>
            <a:r>
              <a:rPr lang="en-US" b="1" dirty="0"/>
              <a:t>7. CONCLUSION</a:t>
            </a:r>
            <a:endParaRPr lang="en-IN" dirty="0"/>
          </a:p>
        </p:txBody>
      </p:sp>
      <p:sp>
        <p:nvSpPr>
          <p:cNvPr id="3" name="Content Placeholder 2">
            <a:extLst>
              <a:ext uri="{FF2B5EF4-FFF2-40B4-BE49-F238E27FC236}">
                <a16:creationId xmlns:a16="http://schemas.microsoft.com/office/drawing/2014/main" id="{9AEFB18B-3AF5-8C46-DA2F-79A4DFB46290}"/>
              </a:ext>
            </a:extLst>
          </p:cNvPr>
          <p:cNvSpPr>
            <a:spLocks noGrp="1"/>
          </p:cNvSpPr>
          <p:nvPr>
            <p:ph idx="1"/>
          </p:nvPr>
        </p:nvSpPr>
        <p:spPr>
          <a:xfrm>
            <a:off x="1218883" y="1052736"/>
            <a:ext cx="10360501" cy="5530627"/>
          </a:xfrm>
        </p:spPr>
        <p:txBody>
          <a:bodyPr>
            <a:noAutofit/>
          </a:bodyPr>
          <a:lstStyle/>
          <a:p>
            <a:r>
              <a:rPr lang="en-IN" dirty="0">
                <a:effectLst/>
              </a:rPr>
              <a:t>The </a:t>
            </a:r>
            <a:r>
              <a:rPr lang="en-IN" b="1" dirty="0">
                <a:effectLst/>
              </a:rPr>
              <a:t>Placement Preparation Portal</a:t>
            </a:r>
            <a:r>
              <a:rPr lang="en-IN" dirty="0">
                <a:effectLst/>
              </a:rPr>
              <a:t> was developed as a comprehensive web-based platform to help students prepare effectively for campus placements through a single centralized system. The project integrates multiple placement preparation activities, including </a:t>
            </a:r>
            <a:r>
              <a:rPr lang="en-IN" b="1" dirty="0">
                <a:effectLst/>
              </a:rPr>
              <a:t>Aptitude, Reasoning, English, Programming Languages, Coding Practice, Mock Tests, Company Preparation, Resume Scanner, AI-assisted Interview Preparation, and Performance Analytics</a:t>
            </a:r>
            <a:r>
              <a:rPr lang="en-IN" dirty="0">
                <a:effectLst/>
              </a:rPr>
              <a:t>.</a:t>
            </a:r>
          </a:p>
          <a:p>
            <a:r>
              <a:rPr lang="en-IN" dirty="0">
                <a:effectLst/>
              </a:rPr>
              <a:t> </a:t>
            </a:r>
          </a:p>
          <a:p>
            <a:r>
              <a:rPr lang="en-IN" dirty="0">
                <a:effectLst/>
              </a:rPr>
              <a:t>The system provides students with topic-wise study material, practice questions, quizzes, coding challenges, and timed mock tests. Students can view their test results, track their preparation progress, identify weak areas, and improve their overall placement readiness. The Resume Scanner further helps students review their resumes and receive suggestions for improvement.</a:t>
            </a:r>
          </a:p>
          <a:p>
            <a:r>
              <a:rPr lang="en-IN" dirty="0">
                <a:effectLst/>
              </a:rPr>
              <a:t> </a:t>
            </a:r>
          </a:p>
          <a:p>
            <a:r>
              <a:rPr lang="en-IN" dirty="0">
                <a:effectLst/>
              </a:rPr>
              <a:t>The </a:t>
            </a:r>
            <a:r>
              <a:rPr lang="en-IN" b="1" dirty="0">
                <a:effectLst/>
              </a:rPr>
              <a:t>Admin Panel</a:t>
            </a:r>
            <a:r>
              <a:rPr lang="en-IN" dirty="0">
                <a:effectLst/>
              </a:rPr>
              <a:t> provides centralized and dynamic management of students, notes, questions, coding problems, companies, mock tests, and results. This allows preparation content to be updated without modifying the application manually.</a:t>
            </a:r>
          </a:p>
        </p:txBody>
      </p:sp>
    </p:spTree>
    <p:extLst>
      <p:ext uri="{BB962C8B-B14F-4D97-AF65-F5344CB8AC3E}">
        <p14:creationId xmlns:p14="http://schemas.microsoft.com/office/powerpoint/2010/main" val="394492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94F37-AA81-FC3A-B7DA-CB72FF6FC82C}"/>
              </a:ext>
            </a:extLst>
          </p:cNvPr>
          <p:cNvSpPr>
            <a:spLocks noGrp="1"/>
          </p:cNvSpPr>
          <p:nvPr>
            <p:ph type="title"/>
          </p:nvPr>
        </p:nvSpPr>
        <p:spPr>
          <a:xfrm>
            <a:off x="837828" y="-638472"/>
            <a:ext cx="9903418" cy="1905000"/>
          </a:xfrm>
        </p:spPr>
        <p:txBody>
          <a:bodyPr>
            <a:normAutofit fontScale="90000"/>
          </a:bodyPr>
          <a:lstStyle/>
          <a:p>
            <a:pPr algn="ctr"/>
            <a:br>
              <a:rPr lang="en-US" dirty="0"/>
            </a:br>
            <a:br>
              <a:rPr lang="en-IN" dirty="0"/>
            </a:br>
            <a:r>
              <a:rPr lang="en-US" b="1" dirty="0"/>
              <a:t>8. LEARNING DURING PROJECT WORK</a:t>
            </a:r>
            <a:br>
              <a:rPr lang="en-IN" dirty="0"/>
            </a:br>
            <a:endParaRPr lang="en-IN" dirty="0"/>
          </a:p>
        </p:txBody>
      </p:sp>
      <p:sp>
        <p:nvSpPr>
          <p:cNvPr id="3" name="Content Placeholder 2">
            <a:extLst>
              <a:ext uri="{FF2B5EF4-FFF2-40B4-BE49-F238E27FC236}">
                <a16:creationId xmlns:a16="http://schemas.microsoft.com/office/drawing/2014/main" id="{96B5F1AC-F0A7-AE7A-0849-89CCE87A07A4}"/>
              </a:ext>
            </a:extLst>
          </p:cNvPr>
          <p:cNvSpPr>
            <a:spLocks noGrp="1"/>
          </p:cNvSpPr>
          <p:nvPr>
            <p:ph idx="1"/>
          </p:nvPr>
        </p:nvSpPr>
        <p:spPr>
          <a:xfrm>
            <a:off x="914161" y="1266528"/>
            <a:ext cx="10360501" cy="5400600"/>
          </a:xfrm>
        </p:spPr>
        <p:txBody>
          <a:bodyPr>
            <a:noAutofit/>
          </a:bodyPr>
          <a:lstStyle/>
          <a:p>
            <a:r>
              <a:rPr lang="en-IN" sz="1600" dirty="0">
                <a:effectLst/>
              </a:rPr>
              <a:t>During the development of the </a:t>
            </a:r>
            <a:r>
              <a:rPr lang="en-IN" sz="1600" b="1" dirty="0">
                <a:effectLst/>
              </a:rPr>
              <a:t>Placement Preparation Portal</a:t>
            </a:r>
            <a:r>
              <a:rPr lang="en-IN" sz="1600" dirty="0">
                <a:effectLst/>
              </a:rPr>
              <a:t>, several technical and practical skills were gained through the design, development, testing, and integration of the system.</a:t>
            </a:r>
          </a:p>
          <a:p>
            <a:pPr lvl="0"/>
            <a:r>
              <a:rPr lang="en-IN" sz="1600" b="1" dirty="0">
                <a:effectLst/>
              </a:rPr>
              <a:t>MERN Stack Development</a:t>
            </a:r>
          </a:p>
          <a:p>
            <a:pPr lvl="0"/>
            <a:r>
              <a:rPr lang="en-IN" sz="1600" b="1" dirty="0">
                <a:effectLst/>
              </a:rPr>
              <a:t>Frontend Development</a:t>
            </a:r>
          </a:p>
          <a:p>
            <a:pPr lvl="0"/>
            <a:r>
              <a:rPr lang="en-IN" sz="1600" b="1" dirty="0">
                <a:effectLst/>
              </a:rPr>
              <a:t>Backend Development</a:t>
            </a:r>
            <a:endParaRPr lang="en-IN" sz="1600" dirty="0">
              <a:effectLst/>
            </a:endParaRPr>
          </a:p>
          <a:p>
            <a:pPr lvl="0"/>
            <a:r>
              <a:rPr lang="en-IN" sz="1600" b="1" dirty="0">
                <a:effectLst/>
              </a:rPr>
              <a:t>Database Management</a:t>
            </a:r>
          </a:p>
          <a:p>
            <a:pPr lvl="0"/>
            <a:r>
              <a:rPr lang="en-IN" sz="1600" b="1" dirty="0">
                <a:effectLst/>
              </a:rPr>
              <a:t>Authentication and Authorization</a:t>
            </a:r>
          </a:p>
          <a:p>
            <a:pPr lvl="0"/>
            <a:r>
              <a:rPr lang="en-IN" sz="1600" b="1" dirty="0">
                <a:effectLst/>
              </a:rPr>
              <a:t>API Integration</a:t>
            </a:r>
          </a:p>
          <a:p>
            <a:pPr lvl="0"/>
            <a:r>
              <a:rPr lang="en-IN" sz="1600" b="1" dirty="0">
                <a:effectLst/>
              </a:rPr>
              <a:t>Dynamic Content Management</a:t>
            </a:r>
            <a:endParaRPr lang="en-IN" sz="1600" dirty="0">
              <a:effectLst/>
            </a:endParaRPr>
          </a:p>
          <a:p>
            <a:pPr lvl="0"/>
            <a:r>
              <a:rPr lang="en-IN" sz="1600" b="1" dirty="0">
                <a:effectLst/>
              </a:rPr>
              <a:t>Testing and Debugging</a:t>
            </a:r>
            <a:endParaRPr lang="en-IN" sz="1600" dirty="0">
              <a:effectLst/>
            </a:endParaRPr>
          </a:p>
          <a:p>
            <a:pPr lvl="0"/>
            <a:r>
              <a:rPr lang="en-IN" sz="1600" b="1" dirty="0">
                <a:effectLst/>
              </a:rPr>
              <a:t>Mock Test and Result Processing</a:t>
            </a:r>
            <a:endParaRPr lang="en-IN" sz="1600" dirty="0">
              <a:effectLst/>
            </a:endParaRPr>
          </a:p>
          <a:p>
            <a:pPr lvl="0"/>
            <a:r>
              <a:rPr lang="en-IN" sz="1600" b="1" dirty="0">
                <a:effectLst/>
              </a:rPr>
              <a:t>Project Architecture</a:t>
            </a:r>
          </a:p>
          <a:p>
            <a:pPr lvl="0"/>
            <a:r>
              <a:rPr lang="en-IN" sz="1600" b="1" dirty="0">
                <a:effectLst/>
              </a:rPr>
              <a:t>Problem-Solving Skills</a:t>
            </a:r>
            <a:r>
              <a:rPr lang="en-IN" sz="1600" dirty="0">
                <a:effectLst/>
              </a:rPr>
              <a:t> </a:t>
            </a:r>
          </a:p>
          <a:p>
            <a:pPr lvl="0"/>
            <a:r>
              <a:rPr lang="en-IN" sz="1600" b="1" dirty="0">
                <a:effectLst/>
              </a:rPr>
              <a:t>Project Management</a:t>
            </a:r>
          </a:p>
          <a:p>
            <a:pPr lvl="0"/>
            <a:r>
              <a:rPr lang="en-IN" sz="1600" b="1" dirty="0">
                <a:effectLst/>
              </a:rPr>
              <a:t>Documentation Skills</a:t>
            </a:r>
          </a:p>
          <a:p>
            <a:pPr lvl="0"/>
            <a:r>
              <a:rPr lang="en-IN" sz="1600" b="1" dirty="0">
                <a:effectLst/>
              </a:rPr>
              <a:t>Deployment and Production Concepts</a:t>
            </a:r>
            <a:br>
              <a:rPr lang="en-IN" sz="1200" dirty="0">
                <a:effectLst/>
              </a:rPr>
            </a:br>
            <a:r>
              <a:rPr lang="en-US" sz="1200" b="1" dirty="0">
                <a:effectLst/>
              </a:rPr>
              <a:t> </a:t>
            </a:r>
            <a:endParaRPr lang="en-IN" sz="1200" dirty="0">
              <a:effectLst/>
            </a:endParaRPr>
          </a:p>
          <a:p>
            <a:pPr marL="0" indent="0">
              <a:buNone/>
            </a:pPr>
            <a:endParaRPr lang="en-IN" sz="1200" dirty="0"/>
          </a:p>
        </p:txBody>
      </p:sp>
    </p:spTree>
    <p:extLst>
      <p:ext uri="{BB962C8B-B14F-4D97-AF65-F5344CB8AC3E}">
        <p14:creationId xmlns:p14="http://schemas.microsoft.com/office/powerpoint/2010/main" val="233318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80DA4-FC51-4DC7-2D8F-292335B7A005}"/>
              </a:ext>
            </a:extLst>
          </p:cNvPr>
          <p:cNvSpPr>
            <a:spLocks noGrp="1"/>
          </p:cNvSpPr>
          <p:nvPr>
            <p:ph idx="1"/>
          </p:nvPr>
        </p:nvSpPr>
        <p:spPr>
          <a:xfrm>
            <a:off x="1218883" y="476672"/>
            <a:ext cx="10360501" cy="5687397"/>
          </a:xfrm>
        </p:spPr>
        <p:txBody>
          <a:bodyPr>
            <a:normAutofit lnSpcReduction="10000"/>
          </a:bodyPr>
          <a:lstStyle/>
          <a:p>
            <a:pPr>
              <a:buFont typeface="Wingdings" panose="05000000000000000000" pitchFamily="2" charset="2"/>
              <a:buChar char="v"/>
            </a:pPr>
            <a:r>
              <a:rPr lang="en-US" sz="2500" b="1" dirty="0"/>
              <a:t> 8.1 Future Enhancement:</a:t>
            </a:r>
            <a:endParaRPr lang="en-IN" sz="2500" dirty="0"/>
          </a:p>
          <a:p>
            <a:pPr marL="0" indent="0">
              <a:buNone/>
            </a:pPr>
            <a:endParaRPr lang="en-IN" dirty="0"/>
          </a:p>
          <a:p>
            <a:pPr marL="514350" lvl="0" indent="-514350">
              <a:buFont typeface="+mj-lt"/>
              <a:buAutoNum type="arabicPeriod"/>
            </a:pPr>
            <a:r>
              <a:rPr lang="en-IN" sz="2000" b="1" dirty="0"/>
              <a:t>Native </a:t>
            </a:r>
            <a:r>
              <a:rPr lang="en-IN" sz="2000" b="1" dirty="0" err="1"/>
              <a:t>WebHID</a:t>
            </a:r>
            <a:r>
              <a:rPr lang="en-IN" sz="2000" b="1" dirty="0"/>
              <a:t> Barcode Scanner Integration</a:t>
            </a:r>
            <a:r>
              <a:rPr lang="en-IN" sz="2000" dirty="0"/>
              <a:t>: Implementing browser-level </a:t>
            </a:r>
            <a:r>
              <a:rPr lang="en-IN" sz="2000" dirty="0" err="1"/>
              <a:t>WebHID</a:t>
            </a:r>
            <a:r>
              <a:rPr lang="en-IN" sz="2000" dirty="0"/>
              <a:t> and </a:t>
            </a:r>
            <a:r>
              <a:rPr lang="en-IN" sz="2000" dirty="0" err="1"/>
              <a:t>WebUSB</a:t>
            </a:r>
            <a:r>
              <a:rPr lang="en-IN" sz="2000" dirty="0"/>
              <a:t> APIs for zero-latency direct device communication. </a:t>
            </a:r>
          </a:p>
          <a:p>
            <a:pPr marL="514350" lvl="0" indent="-514350">
              <a:buFont typeface="+mj-lt"/>
              <a:buAutoNum type="arabicPeriod"/>
            </a:pPr>
            <a:r>
              <a:rPr lang="en-IN" sz="2000" b="1" dirty="0"/>
              <a:t>Multi-Store Warehouse Synchronization:</a:t>
            </a:r>
            <a:r>
              <a:rPr lang="en-IN" sz="2000" dirty="0"/>
              <a:t> Extending schema architecture to support multi-branch supermarket chains with central warehouse tracking. </a:t>
            </a:r>
          </a:p>
          <a:p>
            <a:pPr marL="514350" lvl="0" indent="-514350">
              <a:buFont typeface="+mj-lt"/>
              <a:buAutoNum type="arabicPeriod"/>
            </a:pPr>
            <a:r>
              <a:rPr lang="en-IN" sz="2000" b="1" dirty="0"/>
              <a:t>AI-Driven Demand Forecasting:</a:t>
            </a:r>
            <a:r>
              <a:rPr lang="en-IN" sz="2000" dirty="0"/>
              <a:t> Machine Learning integration (ARIMA time-series models) for predicting product demand trends and automated supplier purchase order drafting. </a:t>
            </a:r>
          </a:p>
          <a:p>
            <a:pPr marL="514350" lvl="0" indent="-514350">
              <a:buFont typeface="+mj-lt"/>
              <a:buAutoNum type="arabicPeriod"/>
            </a:pPr>
            <a:r>
              <a:rPr lang="en-IN" sz="2000" b="1" dirty="0"/>
              <a:t>Customer Loyalty &amp; Rewards System:</a:t>
            </a:r>
            <a:r>
              <a:rPr lang="en-IN" sz="2000" dirty="0"/>
              <a:t> Points-based customer rewards module integrated into cashier POS checkout. </a:t>
            </a:r>
          </a:p>
          <a:p>
            <a:pPr marL="514350" lvl="0" indent="-514350">
              <a:buFont typeface="+mj-lt"/>
              <a:buAutoNum type="arabicPeriod"/>
            </a:pPr>
            <a:r>
              <a:rPr lang="en-IN" sz="2000" b="1" dirty="0"/>
              <a:t>Offline PWA Support:</a:t>
            </a:r>
            <a:r>
              <a:rPr lang="en-IN" sz="2000" dirty="0"/>
              <a:t> Service Worker and </a:t>
            </a:r>
            <a:r>
              <a:rPr lang="en-IN" sz="2000" dirty="0" err="1"/>
              <a:t>IndexedDB</a:t>
            </a:r>
            <a:r>
              <a:rPr lang="en-IN" sz="2000" dirty="0"/>
              <a:t> integration enabling offline POS billing during network outages.</a:t>
            </a:r>
          </a:p>
          <a:p>
            <a:pPr marL="514350" lvl="0" indent="-514350">
              <a:buFont typeface="+mj-lt"/>
              <a:buAutoNum type="arabicPeriod"/>
            </a:pPr>
            <a:r>
              <a:rPr lang="en-IN" sz="2000" b="1" dirty="0"/>
              <a:t>Integrated Dynamic Payment Gateway:</a:t>
            </a:r>
            <a:r>
              <a:rPr lang="en-IN" sz="2000" dirty="0"/>
              <a:t> Instant UPI QR code generation directly on POS billing screen.</a:t>
            </a:r>
          </a:p>
          <a:p>
            <a:endParaRPr lang="en-IN" dirty="0"/>
          </a:p>
        </p:txBody>
      </p:sp>
    </p:spTree>
    <p:extLst>
      <p:ext uri="{BB962C8B-B14F-4D97-AF65-F5344CB8AC3E}">
        <p14:creationId xmlns:p14="http://schemas.microsoft.com/office/powerpoint/2010/main" val="78779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00F4-8582-F956-747F-37B5B67155A7}"/>
              </a:ext>
            </a:extLst>
          </p:cNvPr>
          <p:cNvSpPr>
            <a:spLocks noGrp="1"/>
          </p:cNvSpPr>
          <p:nvPr>
            <p:ph type="title"/>
          </p:nvPr>
        </p:nvSpPr>
        <p:spPr>
          <a:xfrm>
            <a:off x="1125860" y="-171400"/>
            <a:ext cx="10360501" cy="994123"/>
          </a:xfrm>
        </p:spPr>
        <p:txBody>
          <a:bodyPr>
            <a:normAutofit fontScale="90000"/>
          </a:bodyPr>
          <a:lstStyle/>
          <a:p>
            <a:pPr algn="ctr"/>
            <a:br>
              <a:rPr lang="en-US" b="1" dirty="0"/>
            </a:br>
            <a:br>
              <a:rPr lang="en-IN" dirty="0"/>
            </a:br>
            <a:r>
              <a:rPr lang="en-US" b="1" dirty="0"/>
              <a:t>9. BIBLIOGRAPHY</a:t>
            </a:r>
            <a:br>
              <a:rPr lang="en-IN" dirty="0"/>
            </a:br>
            <a:endParaRPr lang="en-IN" dirty="0"/>
          </a:p>
        </p:txBody>
      </p:sp>
      <p:sp>
        <p:nvSpPr>
          <p:cNvPr id="3" name="Content Placeholder 2">
            <a:extLst>
              <a:ext uri="{FF2B5EF4-FFF2-40B4-BE49-F238E27FC236}">
                <a16:creationId xmlns:a16="http://schemas.microsoft.com/office/drawing/2014/main" id="{66CCAABA-97CF-E503-834B-92D1728FAB42}"/>
              </a:ext>
            </a:extLst>
          </p:cNvPr>
          <p:cNvSpPr>
            <a:spLocks noGrp="1"/>
          </p:cNvSpPr>
          <p:nvPr>
            <p:ph idx="1"/>
          </p:nvPr>
        </p:nvSpPr>
        <p:spPr>
          <a:xfrm>
            <a:off x="1218883" y="908720"/>
            <a:ext cx="10360501" cy="5760640"/>
          </a:xfrm>
        </p:spPr>
        <p:txBody>
          <a:bodyPr>
            <a:normAutofit fontScale="92500"/>
          </a:bodyPr>
          <a:lstStyle/>
          <a:p>
            <a:r>
              <a:rPr lang="en-US" sz="2600" b="1" dirty="0"/>
              <a:t>9.1 Online References: </a:t>
            </a:r>
            <a:endParaRPr lang="en-IN" sz="2600" dirty="0"/>
          </a:p>
          <a:p>
            <a:pPr lvl="0"/>
            <a:r>
              <a:rPr lang="en-IN" b="1" dirty="0">
                <a:effectLst/>
              </a:rPr>
              <a:t>React.js Documentation — </a:t>
            </a:r>
            <a:r>
              <a:rPr lang="en-IN" b="1" u="sng" dirty="0">
                <a:effectLst/>
                <a:hlinkClick r:id="rId2"/>
              </a:rPr>
              <a:t>https://react.dev/</a:t>
            </a:r>
            <a:r>
              <a:rPr lang="en-US" b="1" dirty="0">
                <a:effectLst/>
              </a:rPr>
              <a:t> </a:t>
            </a:r>
            <a:endParaRPr lang="en-IN" dirty="0">
              <a:effectLst/>
            </a:endParaRPr>
          </a:p>
          <a:p>
            <a:pPr lvl="0"/>
            <a:r>
              <a:rPr lang="en-IN" b="1" dirty="0">
                <a:effectLst/>
              </a:rPr>
              <a:t>Vite Documentation — </a:t>
            </a:r>
            <a:r>
              <a:rPr lang="en-IN" b="1" u="sng" dirty="0">
                <a:effectLst/>
                <a:hlinkClick r:id="rId3"/>
              </a:rPr>
              <a:t>https://vite.dev/</a:t>
            </a:r>
            <a:r>
              <a:rPr lang="en-US" b="1" dirty="0">
                <a:effectLst/>
              </a:rPr>
              <a:t> </a:t>
            </a:r>
            <a:endParaRPr lang="en-IN" dirty="0">
              <a:effectLst/>
            </a:endParaRPr>
          </a:p>
          <a:p>
            <a:pPr lvl="0"/>
            <a:r>
              <a:rPr lang="en-IN" b="1" dirty="0">
                <a:effectLst/>
              </a:rPr>
              <a:t>Node.js Documentation — </a:t>
            </a:r>
            <a:r>
              <a:rPr lang="en-IN" b="1" u="sng" dirty="0">
                <a:effectLst/>
                <a:hlinkClick r:id="rId4"/>
              </a:rPr>
              <a:t>https://nodejs.org/docs/</a:t>
            </a:r>
            <a:r>
              <a:rPr lang="en-US" b="1" dirty="0">
                <a:effectLst/>
              </a:rPr>
              <a:t> </a:t>
            </a:r>
            <a:endParaRPr lang="en-IN" dirty="0">
              <a:effectLst/>
            </a:endParaRPr>
          </a:p>
          <a:p>
            <a:pPr lvl="0"/>
            <a:r>
              <a:rPr lang="en-IN" b="1" dirty="0">
                <a:effectLst/>
              </a:rPr>
              <a:t>Express.js Documentation — </a:t>
            </a:r>
            <a:r>
              <a:rPr lang="en-IN" b="1" u="sng" dirty="0">
                <a:effectLst/>
                <a:hlinkClick r:id="rId5"/>
              </a:rPr>
              <a:t>https://expressjs.com/</a:t>
            </a:r>
            <a:r>
              <a:rPr lang="en-US" b="1" dirty="0">
                <a:effectLst/>
              </a:rPr>
              <a:t> </a:t>
            </a:r>
            <a:endParaRPr lang="en-IN" dirty="0">
              <a:effectLst/>
            </a:endParaRPr>
          </a:p>
          <a:p>
            <a:pPr lvl="0"/>
            <a:r>
              <a:rPr lang="en-IN" b="1" dirty="0">
                <a:effectLst/>
              </a:rPr>
              <a:t>MongoDB Documentation — </a:t>
            </a:r>
            <a:r>
              <a:rPr lang="en-IN" b="1" u="sng" dirty="0">
                <a:effectLst/>
                <a:hlinkClick r:id="rId6"/>
              </a:rPr>
              <a:t>https://www.mongodb.com/docs/</a:t>
            </a:r>
            <a:r>
              <a:rPr lang="en-US" b="1" dirty="0">
                <a:effectLst/>
              </a:rPr>
              <a:t> </a:t>
            </a:r>
            <a:endParaRPr lang="en-IN" dirty="0">
              <a:effectLst/>
            </a:endParaRPr>
          </a:p>
          <a:p>
            <a:pPr lvl="0"/>
            <a:r>
              <a:rPr lang="en-IN" b="1" dirty="0">
                <a:effectLst/>
              </a:rPr>
              <a:t>Mongoose Documentation — </a:t>
            </a:r>
            <a:r>
              <a:rPr lang="en-IN" b="1" u="sng" dirty="0">
                <a:effectLst/>
                <a:hlinkClick r:id="rId7"/>
              </a:rPr>
              <a:t>https://mongoosejs.com/docs/</a:t>
            </a:r>
            <a:r>
              <a:rPr lang="en-US" b="1" dirty="0">
                <a:effectLst/>
              </a:rPr>
              <a:t> </a:t>
            </a:r>
            <a:endParaRPr lang="en-IN" dirty="0">
              <a:effectLst/>
            </a:endParaRPr>
          </a:p>
          <a:p>
            <a:pPr lvl="0"/>
            <a:r>
              <a:rPr lang="en-IN" b="1" dirty="0">
                <a:effectLst/>
              </a:rPr>
              <a:t>JWT — </a:t>
            </a:r>
            <a:r>
              <a:rPr lang="en-IN" b="1" u="sng" dirty="0">
                <a:effectLst/>
                <a:hlinkClick r:id="rId8"/>
              </a:rPr>
              <a:t>https://jwt.io/</a:t>
            </a:r>
            <a:r>
              <a:rPr lang="en-US" b="1" dirty="0">
                <a:effectLst/>
              </a:rPr>
              <a:t> </a:t>
            </a:r>
            <a:endParaRPr lang="en-IN" dirty="0">
              <a:effectLst/>
            </a:endParaRPr>
          </a:p>
          <a:p>
            <a:pPr lvl="0"/>
            <a:r>
              <a:rPr lang="en-IN" b="1" dirty="0">
                <a:effectLst/>
              </a:rPr>
              <a:t>Axios Documentation — </a:t>
            </a:r>
            <a:r>
              <a:rPr lang="en-IN" b="1" u="sng" dirty="0">
                <a:effectLst/>
                <a:hlinkClick r:id="rId9"/>
              </a:rPr>
              <a:t>https://axios-http.com/docs/intro</a:t>
            </a:r>
            <a:r>
              <a:rPr lang="en-US" b="1" dirty="0">
                <a:effectLst/>
              </a:rPr>
              <a:t> </a:t>
            </a:r>
            <a:endParaRPr lang="en-IN" dirty="0">
              <a:effectLst/>
            </a:endParaRPr>
          </a:p>
          <a:p>
            <a:pPr lvl="0"/>
            <a:r>
              <a:rPr lang="en-IN" b="1" dirty="0">
                <a:effectLst/>
              </a:rPr>
              <a:t>Tailwind CSS Documentation — </a:t>
            </a:r>
            <a:r>
              <a:rPr lang="en-IN" b="1" u="sng" dirty="0">
                <a:effectLst/>
                <a:hlinkClick r:id="rId10"/>
              </a:rPr>
              <a:t>https://tailwindcss.com/docs</a:t>
            </a:r>
            <a:r>
              <a:rPr lang="en-US" b="1" dirty="0">
                <a:effectLst/>
              </a:rPr>
              <a:t> </a:t>
            </a:r>
            <a:endParaRPr lang="en-IN" dirty="0">
              <a:effectLst/>
            </a:endParaRPr>
          </a:p>
          <a:p>
            <a:pPr lvl="0"/>
            <a:r>
              <a:rPr lang="en-IN" b="1" dirty="0">
                <a:effectLst/>
              </a:rPr>
              <a:t>Mermaid Documentation — </a:t>
            </a:r>
            <a:r>
              <a:rPr lang="en-IN" b="1" u="sng" dirty="0">
                <a:effectLst/>
                <a:hlinkClick r:id="rId11"/>
              </a:rPr>
              <a:t>https://mermaid.js.org/</a:t>
            </a:r>
            <a:r>
              <a:rPr lang="en-US" b="1" dirty="0">
                <a:effectLst/>
              </a:rPr>
              <a:t> </a:t>
            </a:r>
            <a:endParaRPr lang="en-IN" dirty="0">
              <a:effectLst/>
            </a:endParaRPr>
          </a:p>
          <a:p>
            <a:pPr lvl="0"/>
            <a:r>
              <a:rPr lang="en-IN" b="1" dirty="0">
                <a:effectLst/>
              </a:rPr>
              <a:t>MDN Web Docs — </a:t>
            </a:r>
            <a:r>
              <a:rPr lang="en-IN" b="1" u="sng" dirty="0">
                <a:effectLst/>
                <a:hlinkClick r:id="rId12"/>
              </a:rPr>
              <a:t>https://developer.mozilla.org/</a:t>
            </a:r>
            <a:r>
              <a:rPr lang="en-US" b="1" dirty="0">
                <a:effectLst/>
              </a:rPr>
              <a:t> </a:t>
            </a:r>
            <a:endParaRPr lang="en-IN" dirty="0">
              <a:effectLst/>
            </a:endParaRPr>
          </a:p>
          <a:p>
            <a:pPr lvl="0"/>
            <a:r>
              <a:rPr lang="en-IN" b="1" dirty="0">
                <a:effectLst/>
              </a:rPr>
              <a:t>GitHub Documentation — </a:t>
            </a:r>
            <a:r>
              <a:rPr lang="en-IN" b="1" u="sng" dirty="0">
                <a:effectLst/>
                <a:hlinkClick r:id="rId13"/>
              </a:rPr>
              <a:t>https://docs.github.com/</a:t>
            </a:r>
            <a:r>
              <a:rPr lang="en-US" b="1" dirty="0">
                <a:effectLst/>
              </a:rPr>
              <a:t> </a:t>
            </a:r>
            <a:endParaRPr lang="en-IN" dirty="0">
              <a:effectLst/>
            </a:endParaRPr>
          </a:p>
          <a:p>
            <a:r>
              <a:rPr lang="en-IN" b="1" dirty="0">
                <a:effectLst/>
              </a:rPr>
              <a:t>OpenAI Documentation — </a:t>
            </a:r>
            <a:r>
              <a:rPr lang="en-IN" b="1" u="sng" dirty="0">
                <a:effectLst/>
                <a:hlinkClick r:id="rId14"/>
              </a:rPr>
              <a:t>https://platform.openai.com/docs/</a:t>
            </a:r>
            <a:endParaRPr lang="en-IN" sz="4500" dirty="0"/>
          </a:p>
        </p:txBody>
      </p:sp>
    </p:spTree>
    <p:extLst>
      <p:ext uri="{BB962C8B-B14F-4D97-AF65-F5344CB8AC3E}">
        <p14:creationId xmlns:p14="http://schemas.microsoft.com/office/powerpoint/2010/main" val="2924197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17785-4B10-2538-90AF-DA709E17B018}"/>
              </a:ext>
            </a:extLst>
          </p:cNvPr>
          <p:cNvSpPr>
            <a:spLocks noGrp="1"/>
          </p:cNvSpPr>
          <p:nvPr>
            <p:ph idx="1"/>
          </p:nvPr>
        </p:nvSpPr>
        <p:spPr>
          <a:xfrm>
            <a:off x="1197868" y="1340768"/>
            <a:ext cx="10360501" cy="4462272"/>
          </a:xfrm>
        </p:spPr>
        <p:txBody>
          <a:bodyPr>
            <a:normAutofit fontScale="77500" lnSpcReduction="20000"/>
          </a:bodyPr>
          <a:lstStyle/>
          <a:p>
            <a:r>
              <a:rPr lang="en-US" sz="2500" b="1" dirty="0"/>
              <a:t>9.2 Offline References:</a:t>
            </a:r>
            <a:endParaRPr lang="en-IN" sz="2500" dirty="0"/>
          </a:p>
          <a:p>
            <a:pPr marL="0" indent="0">
              <a:buNone/>
            </a:pPr>
            <a:endParaRPr lang="en-IN" dirty="0"/>
          </a:p>
          <a:p>
            <a:pPr lvl="0"/>
            <a:r>
              <a:rPr lang="en-IN" b="1" dirty="0">
                <a:effectLst/>
              </a:rPr>
              <a:t>Pressman, R. S.</a:t>
            </a:r>
            <a:r>
              <a:rPr lang="en-IN" dirty="0">
                <a:effectLst/>
              </a:rPr>
              <a:t> — </a:t>
            </a:r>
            <a:r>
              <a:rPr lang="en-IN" i="1" dirty="0">
                <a:effectLst/>
              </a:rPr>
              <a:t>Software Engineering: A Practitioner's Approach</a:t>
            </a:r>
            <a:r>
              <a:rPr lang="en-IN" dirty="0">
                <a:effectLst/>
              </a:rPr>
              <a:t>, McGraw-Hill Education. </a:t>
            </a:r>
          </a:p>
          <a:p>
            <a:pPr lvl="0"/>
            <a:r>
              <a:rPr lang="en-IN" b="1" dirty="0">
                <a:effectLst/>
              </a:rPr>
              <a:t>Sommerville, Ian</a:t>
            </a:r>
            <a:r>
              <a:rPr lang="en-IN" dirty="0">
                <a:effectLst/>
              </a:rPr>
              <a:t> — </a:t>
            </a:r>
            <a:r>
              <a:rPr lang="en-IN" i="1" dirty="0">
                <a:effectLst/>
              </a:rPr>
              <a:t>Software Engineering</a:t>
            </a:r>
            <a:r>
              <a:rPr lang="en-IN" dirty="0">
                <a:effectLst/>
              </a:rPr>
              <a:t>, Pearson Education. </a:t>
            </a:r>
          </a:p>
          <a:p>
            <a:pPr lvl="0"/>
            <a:r>
              <a:rPr lang="en-IN" b="1" dirty="0">
                <a:effectLst/>
              </a:rPr>
              <a:t>Silberschatz, Abraham, Henry F. Korth, and S. Sudarshan</a:t>
            </a:r>
            <a:r>
              <a:rPr lang="en-IN" dirty="0">
                <a:effectLst/>
              </a:rPr>
              <a:t> — </a:t>
            </a:r>
            <a:r>
              <a:rPr lang="en-IN" i="1" dirty="0">
                <a:effectLst/>
              </a:rPr>
              <a:t>Database System Concepts</a:t>
            </a:r>
            <a:r>
              <a:rPr lang="en-IN" dirty="0">
                <a:effectLst/>
              </a:rPr>
              <a:t>, McGraw-Hill. </a:t>
            </a:r>
          </a:p>
          <a:p>
            <a:pPr lvl="0"/>
            <a:r>
              <a:rPr lang="en-IN" b="1" dirty="0">
                <a:effectLst/>
              </a:rPr>
              <a:t>Eloquent JavaScript</a:t>
            </a:r>
            <a:r>
              <a:rPr lang="en-IN" dirty="0">
                <a:effectLst/>
              </a:rPr>
              <a:t> — Marijn </a:t>
            </a:r>
            <a:r>
              <a:rPr lang="en-IN" dirty="0" err="1">
                <a:effectLst/>
              </a:rPr>
              <a:t>Haverbeke</a:t>
            </a:r>
            <a:r>
              <a:rPr lang="en-IN" dirty="0">
                <a:effectLst/>
              </a:rPr>
              <a:t>, No Starch Press. </a:t>
            </a:r>
          </a:p>
          <a:p>
            <a:pPr lvl="0"/>
            <a:r>
              <a:rPr lang="en-IN" b="1" dirty="0">
                <a:effectLst/>
              </a:rPr>
              <a:t>JavaScript: The Definitive Guide</a:t>
            </a:r>
            <a:r>
              <a:rPr lang="en-IN" dirty="0">
                <a:effectLst/>
              </a:rPr>
              <a:t> — David Flanagan, O'Reilly Media. </a:t>
            </a:r>
          </a:p>
          <a:p>
            <a:pPr lvl="0"/>
            <a:r>
              <a:rPr lang="en-IN" b="1" dirty="0">
                <a:effectLst/>
              </a:rPr>
              <a:t>Learning Web Design</a:t>
            </a:r>
            <a:r>
              <a:rPr lang="en-IN" dirty="0">
                <a:effectLst/>
              </a:rPr>
              <a:t> — Jennifer </a:t>
            </a:r>
            <a:r>
              <a:rPr lang="en-IN" dirty="0" err="1">
                <a:effectLst/>
              </a:rPr>
              <a:t>Niederst</a:t>
            </a:r>
            <a:r>
              <a:rPr lang="en-IN" dirty="0">
                <a:effectLst/>
              </a:rPr>
              <a:t> Robbins, O'Reilly Media. </a:t>
            </a:r>
          </a:p>
          <a:p>
            <a:pPr lvl="0"/>
            <a:r>
              <a:rPr lang="en-IN" b="1" dirty="0">
                <a:effectLst/>
              </a:rPr>
              <a:t>Node.js Design Patterns</a:t>
            </a:r>
            <a:r>
              <a:rPr lang="en-IN" dirty="0">
                <a:effectLst/>
              </a:rPr>
              <a:t> — Mario Casciaro and Luciano </a:t>
            </a:r>
            <a:r>
              <a:rPr lang="en-IN" dirty="0" err="1">
                <a:effectLst/>
              </a:rPr>
              <a:t>Mammino</a:t>
            </a:r>
            <a:r>
              <a:rPr lang="en-IN" dirty="0">
                <a:effectLst/>
              </a:rPr>
              <a:t>, </a:t>
            </a:r>
            <a:r>
              <a:rPr lang="en-IN" dirty="0" err="1">
                <a:effectLst/>
              </a:rPr>
              <a:t>Packt</a:t>
            </a:r>
            <a:r>
              <a:rPr lang="en-IN" dirty="0">
                <a:effectLst/>
              </a:rPr>
              <a:t> Publishing. </a:t>
            </a:r>
          </a:p>
          <a:p>
            <a:pPr lvl="0"/>
            <a:r>
              <a:rPr lang="en-IN" b="1" dirty="0">
                <a:effectLst/>
              </a:rPr>
              <a:t>MongoDB: The Definitive Guide</a:t>
            </a:r>
            <a:r>
              <a:rPr lang="en-IN" dirty="0">
                <a:effectLst/>
              </a:rPr>
              <a:t> — Shannon Bradshaw, Eoin Brazil, and Kristina Chodorow, O'Reilly Media. </a:t>
            </a:r>
          </a:p>
          <a:p>
            <a:pPr lvl="0"/>
            <a:r>
              <a:rPr lang="en-IN" b="1" dirty="0">
                <a:effectLst/>
              </a:rPr>
              <a:t>Clean Code</a:t>
            </a:r>
            <a:r>
              <a:rPr lang="en-IN" dirty="0">
                <a:effectLst/>
              </a:rPr>
              <a:t> — Robert C. Martin, Prentice Hall. </a:t>
            </a:r>
          </a:p>
          <a:p>
            <a:pPr lvl="0"/>
            <a:r>
              <a:rPr lang="en-IN" b="1" dirty="0">
                <a:effectLst/>
              </a:rPr>
              <a:t>System Analysis and Design</a:t>
            </a:r>
            <a:r>
              <a:rPr lang="en-IN" dirty="0">
                <a:effectLst/>
              </a:rPr>
              <a:t> — Kenneth E. Kendall and Julie E. Kendall, Pearson Education. </a:t>
            </a:r>
          </a:p>
          <a:p>
            <a:endParaRPr lang="en-IN" dirty="0"/>
          </a:p>
        </p:txBody>
      </p:sp>
    </p:spTree>
    <p:extLst>
      <p:ext uri="{BB962C8B-B14F-4D97-AF65-F5344CB8AC3E}">
        <p14:creationId xmlns:p14="http://schemas.microsoft.com/office/powerpoint/2010/main" val="136948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969D-7ACE-B623-C5AA-678D88C9E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B46AA-CEAA-8F01-D710-F678AF68DFCE}"/>
              </a:ext>
            </a:extLst>
          </p:cNvPr>
          <p:cNvSpPr>
            <a:spLocks noGrp="1"/>
          </p:cNvSpPr>
          <p:nvPr>
            <p:ph type="ctrTitle"/>
          </p:nvPr>
        </p:nvSpPr>
        <p:spPr>
          <a:xfrm>
            <a:off x="2638028" y="3429000"/>
            <a:ext cx="8735325" cy="1476648"/>
          </a:xfrm>
        </p:spPr>
        <p:txBody>
          <a:bodyPr/>
          <a:lstStyle/>
          <a:p>
            <a:pPr algn="r"/>
            <a:r>
              <a:rPr lang="en-US" b="1" dirty="0"/>
              <a:t>Thank You</a:t>
            </a:r>
            <a:endParaRPr lang="en-IN" dirty="0"/>
          </a:p>
        </p:txBody>
      </p:sp>
    </p:spTree>
    <p:extLst>
      <p:ext uri="{BB962C8B-B14F-4D97-AF65-F5344CB8AC3E}">
        <p14:creationId xmlns:p14="http://schemas.microsoft.com/office/powerpoint/2010/main" val="200682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Mesh</Template>
  <TotalTime>332</TotalTime>
  <Words>4769</Words>
  <Application>Microsoft Office PowerPoint</Application>
  <PresentationFormat>Custom</PresentationFormat>
  <Paragraphs>767</Paragraphs>
  <Slides>75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Century Gothic</vt:lpstr>
      <vt:lpstr>Nimbus Roman No9 L</vt:lpstr>
      <vt:lpstr>Wingdings</vt:lpstr>
      <vt:lpstr>Mesh</vt:lpstr>
      <vt:lpstr>Placement preparation portal </vt:lpstr>
      <vt:lpstr>1. Introduction to Project Definition </vt:lpstr>
      <vt:lpstr>PowerPoint Presentation</vt:lpstr>
      <vt:lpstr>2. PREAMBLE</vt:lpstr>
      <vt:lpstr>PowerPoint Presentation</vt:lpstr>
      <vt:lpstr>PowerPoint Presentation</vt:lpstr>
      <vt:lpstr>.</vt:lpstr>
      <vt:lpstr>PowerPoint Presentation</vt:lpstr>
      <vt:lpstr>PowerPoint Presentation</vt:lpstr>
      <vt:lpstr>.</vt:lpstr>
      <vt:lpstr>PowerPoint Presentation</vt:lpstr>
      <vt:lpstr>PowerPoint Presentation</vt:lpstr>
      <vt:lpstr>PowerPoint Presentation</vt:lpstr>
      <vt:lpstr>PowerPoint Presentation</vt:lpstr>
      <vt:lpstr>3. REVIEW OF LITERATURE</vt:lpstr>
      <vt:lpstr>PowerPoint Presentation</vt:lpstr>
      <vt:lpstr>PowerPoint Presentation</vt:lpstr>
      <vt:lpstr>.</vt:lpstr>
      <vt:lpstr>4. TECHNICAL DESCRIPTION </vt:lpstr>
      <vt:lpstr>PowerPoint Presentation</vt:lpstr>
      <vt:lpstr>PowerPoint Presentation</vt:lpstr>
      <vt:lpstr>5. SYSTEM DESIGN AND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Figure 5.7.11 Questions</vt:lpstr>
      <vt:lpstr>Figure 5.7.12 Question Report </vt:lpstr>
      <vt:lpstr>Figure 5.7.13 result</vt:lpstr>
      <vt:lpstr>Figure 5.7.14 resume scanning </vt:lpstr>
      <vt:lpstr>Figure 5.7.15 tests</vt:lpstr>
      <vt:lpstr>Figure 5.7.16 topic notes</vt:lpstr>
      <vt:lpstr>Figure 5.7.17 Users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Figure 5.8.19 Notification </vt:lpstr>
      <vt:lpstr>Figure 5.8.20 REPORT </vt:lpstr>
      <vt:lpstr>6. SYSTEM TESTING</vt:lpstr>
      <vt:lpstr>PowerPoint Presentation</vt:lpstr>
      <vt:lpstr>PowerPoint Presentation</vt:lpstr>
      <vt:lpstr>PowerPoint Presentation</vt:lpstr>
      <vt:lpstr>7. CONCLUSION</vt:lpstr>
      <vt:lpstr>  8. LEARNING DURING PROJECT WORK </vt:lpstr>
      <vt:lpstr>PowerPoint Presentation</vt:lpstr>
      <vt:lpstr>  9. BIBLIOGRAPHY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Nevil Aghera</dc:creator>
  <cp:lastModifiedBy>Shailesh H</cp:lastModifiedBy>
  <cp:revision>83</cp:revision>
  <dcterms:created xsi:type="dcterms:W3CDTF">2026-08-19T12:52:04Z</dcterms:created>
  <dcterms:modified xsi:type="dcterms:W3CDTF">2026-09-08T10:23:45Z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